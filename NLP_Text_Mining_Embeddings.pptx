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go end-to-end: from loading raw text files, through cleaning and linguistic analysis, to turning text into numbers, building classifiers, and finally dense embeddings that capture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modules. The first half turns messy text into clean tokens; the second half turns tokens into numbers and models. Each module ends with runnable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NLP sits at the intersection of linguistics and ML. Point out that most business data is text, which is why these skills matter. The 80% figure is a widely quoted industry estimate, not a precise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to interpret each example before revealing the explanation. Code-mixed text like Hinglish is especially relevant for Indian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era did not replace the previous one entirely. TF-IDF + Logistic Regression is still a very strong baseline and is used in production because it is fast, cheap and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 for the rest of the session: each block maps to one or more upcoming slides. Stress that the pipeline is a loop, not a straight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text data rarely arrives clean. Show a sample of a nested tweet JSON and how json_normalize flattens it. JSON Lines is preferred for big data because you can stream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regex. Emphasise that cleaning is task dependent: over-cleaning can destroy signal. Use r-strings for regex in Python. Test patterns on regex101.com.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are the atomic units every later step works with. Subword tokenisation solves the out-of-vocabulary problem by breaking rare words into frequent pieces. Note: the nltk resource name is punkt_tab in recent NLTK versions (older versions used punkt).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'not good' example is the key teaching moment. Stopword removal helps topic-style tasks like search and topic modelling, but can hurt sentiment and sequence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reduce word variants to a common form to shrink vocabulary. Stemming is a crude heuristic; lemmatisation is linguistically informed but needs the part of speech, which links to the next topic, POS tagging.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spaCy gives two tag sets: pos_ is the coarse Universal tag (NOUN, VERB) and tag_ is the fine-grained Penn Treebank tag (NN, VBZ). Modern taggers are statistical or neural and reach high accuracy on standard English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 is usually framed as sequence labelling with BIO tags (B-PER, I-PER, O). GPE means geo-political entity. Pre-trained models work well on news-style text; domain text such as medical or legal usually needs fine-tuning or custom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matrix live with the class. Real vocabularies have tens of thousands of columns and most cells are zero, which is why scikit-learn stores this as a sparse matrix. min_df drops rare terms, max_df drops overly common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 uses a smoothed version: idf = ln((1+N)/(1+df)) + 1, and L2-normalises each row, so exact values differ from the textbook formula but the intuition is identical. sublinear_tf replaces tf with 1 + log(tf), damping very repetitive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corpus-based methods (TF-IDF needs other documents to judge rarity) with single-document methods (RAKE, YAKE). KeyBERT is semantic: it can pick 'machine learning' even if a synonym phrase appears more often.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learns one weight per vocabulary term and passes the weighted sum through a sigmoid (or softmax for multiclass). Fitting the vectoriser inside the Pipeline ensures IDF is learned only from training data. Typical uses: spam detection, ticket routing, topic labelling.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look at the confusion matrix and read misclassified examples. Error analysis often reveals cleaning bugs, label noise, or missing n-grams.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together everything so far. A quick demo: VADER via nltk.sentiment.SentimentIntensityAnalyzer().polarity_scores(text) returns neg/neu/pos and a compound score from -1 to +1. Then compare with the TF-IDF + LR model trained on the same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2D projection; real embeddings have hundreds of dimensions and are visualised with PCA or t-SNE. The key idea: meaning becomes geometry, and similarity becomes cosine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Word2Vec (Mikolov et al., 2013). Negative sampling turns the huge softmax into a few binary classifications, making training on billions of words feasible. Input tokenized_docs is a list of token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ice/steam ratio example is from the original GloVe paper by Pennington, Socher and Manning. In practice, pre-trained GloVe vectors (Wikipedia + Gigaword, Common Crawl) are downloaded rather than trained. Contextual models like BERT solve the one-vector-per-word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example: the two sentences share almost no words, so TF-IDF similarity would be near zero, yet sentence embeddings place them close together. all-MiniLM-L6-v2 is small and runs on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for sentence embeddings depend on the model: all-MiniLM-L6-v2 outputs 384 dimensions; larger models output 768 or 1024. Always benchmark against the simple baseline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journey from raw files to meaning. Suggested next steps: contextual embeddings with transformers (BERT), fine-tuning, and retrieval-augmented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1887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646920" y="11887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E3458"/>
          </a:solidFill>
          <a:ln w="12700">
            <a:solidFill>
              <a:srgbClr val="2E34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469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0574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46920" y="20574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4692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292608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2E3458"/>
          </a:solidFill>
          <a:ln w="12700">
            <a:solidFill>
              <a:srgbClr val="2E34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46920" y="292608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469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517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Meaning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· Pre-processing · Linguistic analysis · Vectorisation · Classification · Embeddings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|  Course / Department  | 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0126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1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3794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465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NLP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why, and why it is hard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52344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609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pipeline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 and JSON ingestion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6674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5753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noisy text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581144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4897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Sentences, words, subwords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49554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4041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Stopwords, stemming, lemmatisation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6916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837944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7465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&amp; NER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roles and named entities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26060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75234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26609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matrix &amp; TF-IDF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keyword extraction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35204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666744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35753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44348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58114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995160" y="44897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534924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5495544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508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995160" y="54041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GloVe, sentence embeddings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Natural Language Processing?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field that enables computers to read, understand, and generate human language, combining linguistics, computer science, and machine learning.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data is commonly estimated to be unstructured: emails, reviews, tickets, documents, chats.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broad goals: </a:t>
            </a:r>
            <a:pPr indent="0" marL="0">
              <a:buNone/>
            </a:pPr>
            <a:r>
              <a:rPr lang="en-US" sz="14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(NLU) extracts meaning; Natural Language Generation (NLG) produces text.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9280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128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Translate, IndicTrans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189280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36608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assistants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2128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support, voice assistants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2461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49300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retrieval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understanding, ranking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0" y="32461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349300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36608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brand monitoring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4846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509320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0528" y="4983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54132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digests, meeting notes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961120" y="4846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509320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36608" y="4983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fraud filtering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54132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phishing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language hard for machines?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ambiguity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sat by the bank.”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bank or financial bank? The same word has many senses.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2024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ambiguity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86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saw the man with the telescope.”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114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the telescope? Structure changes meaning.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sarcasm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“Great, another Monday.”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14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words, negative intent. Meaning depends on context.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1920240"/>
            <a:ext cx="502920" cy="502920"/>
          </a:xfrm>
          <a:prstGeom prst="ellipse">
            <a:avLst/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variation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C6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“gr8 movie!!! #mustwatch lol”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4114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Slang, typos, hashtags, code-mixing (Hinglish).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ambiguous, contextual, and constantly evolving; every step of the NLP pipeline exists to tame one of these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NLP evolved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20240" y="2743200"/>
            <a:ext cx="8321040" cy="0"/>
          </a:xfrm>
          <a:prstGeom prst="line">
            <a:avLst/>
          </a:prstGeom>
          <a:noFill/>
          <a:ln w="38100">
            <a:solidFill>
              <a:srgbClr val="C5CA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4688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1950s–1980s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grammars and dictionaries. Precise but brittle; ELIZA, early translation systems.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4688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1655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1990s–2000s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data: n-gram models, HMMs, Naive Bayes, CRFs. Bag-of-words and TF-IDF dominate.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87184" y="246888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35624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&amp; embeddings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135624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and GloVe give dense word meaning; RNNs and LSTMs model sequences.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57816" y="2468880"/>
            <a:ext cx="548640" cy="548640"/>
          </a:xfrm>
          <a:prstGeom prst="ellipse">
            <a:avLst/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5781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51976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2018–now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06256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 &amp; LLMs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models (BERT, GPT) learn contextual representations at massive scale.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session: </a:t>
            </a:r>
            <a:pPr indent="0" marL="0">
              <a:buNone/>
            </a:pPr>
            <a:r>
              <a:rPr lang="en-US" sz="14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 2 and 3. The classical pipeline and embeddings are still the foundation (and often the fast, cheap baseline) for modern systems.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0030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TEXT MINING PIPELINE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text mining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8700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APIs, web, PDFs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84248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38044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804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57984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57984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39696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HTML, URLs, noise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93592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47388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738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67328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3C8F86"/>
          </a:solidFill>
          <a:ln w="12700">
            <a:solidFill>
              <a:srgbClr val="3C8F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67328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units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02936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6732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67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76672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76672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58384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stopwords, stem / lemma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66076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6607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86016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3C8F86"/>
          </a:solidFill>
          <a:ln w="12700">
            <a:solidFill>
              <a:srgbClr val="3C8F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86016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67728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TF-IDF, embeddings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21624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75420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754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95360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0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577072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cluster, extract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30968" y="2674620"/>
            <a:ext cx="155448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684764" y="169164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476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204704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04704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10186416" y="320040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error analysis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59028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2412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77724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accuracy gains come from better data and cleaning, not fancier models.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29768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26280" y="459028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7316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iterative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452628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on model output sends you back to cleaning and features.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04672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75320" y="459028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22208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= inference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827532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exactly the same pre-processing at prediction time; wrap it in a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0030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TEXT MINING PIPELINE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text: flat files and JSON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files: CSV / TSV / TXT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row or line; easy to load with pandas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encoding (UTF-8), delimiters inside text, and quoted newlines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pd.read_csv("reviews.csv", encoding="utf-8")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df.dropna(subset=["text"])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df.drop_duplicates(subset="text")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plain text: one document per line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open("corpus.txt", encoding="utf-8") as f: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 = [ln.strip() for ln in f if ln.strip()]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JSON Lines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116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key–value data from APIs (tweets, chats, logs)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nested fields; use JSONL for large, streamable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9260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063240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open("tweets.json", encoding="utf-8") as f: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json.load(f)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list of dicts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pd.json_normalize(data, sep="_")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user.name  -&gt;  column "user_name"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pd.read_json("reviews.jsonl", lines=True)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</a:t>
            </a:r>
            <a:pPr indent="0" marL="0">
              <a:buNone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→ read_csv(chunksize=10_000); bad bytes → encoding_errors="replace"; always inspect df.sample() before cleaning.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67612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467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CLEANING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 for cleaning text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&lt;.*?&gt;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tags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scraped markup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https?://\S+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links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\S+@\S+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/ mask PII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[@#]\w+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Mentions, hashtags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or replace with &lt;NUM&gt;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[^a-z\s]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Non-letters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punctuation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\s+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Whitespace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to one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645920"/>
            <a:ext cx="5623560" cy="2514600"/>
          </a:xfrm>
          <a:prstGeom prst="roundRect">
            <a:avLst>
              <a:gd name="adj" fmla="val 2909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783080"/>
            <a:ext cx="5257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clean(text):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text.lower()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re.sub(r"&lt;.*?&gt;", " ", 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re.sub(r"https?://\S+", " ", 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re.sub(r"\S+@\S+", " ", 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re.sub(r"[@#]\w+", " ", 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re.sub(r"[^a-z\s]", " ", 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re.sub(r"\s+", " ", text).strip()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&lt;p&gt;LOVED it!!! 😍 see https://t.co/xyz @amit #bestbuy&lt;/p&gt;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loved it see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remove URLs and emails before stripping punctuation. Clean to suit the task: sentiment may need "!!!" and emojis, NER needs capitalisation.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77850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TOKENISATION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Tokenisation: splitting text into units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9280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“Dr. Rao left. He'll return.” → 2 sentences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9280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58768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“isn't here” → is · n't · here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9280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(BPE / WordPiece)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“unhappiness” → un · happi · 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6459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92808"/>
            <a:ext cx="146304" cy="146304"/>
          </a:xfrm>
          <a:prstGeom prst="ellipse">
            <a:avLst/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28048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“cat” → c · a · 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5661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nltk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nltk.tokenize import sent_tokenize, word_tokenize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nltk.download("punkt_tab")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tokenizer models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"Dr. Rao isn't here. He'll return at 5 p.m."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sent_tokenize(text)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["Dr. Rao isn't here.", "He'll return at 5 p.m."]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word_tokenize(text)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['Dr.', 'Rao', 'is', "n't", 'here', '.', ...]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text.split()?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8862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sticks to words: “here.” ≠ “here”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like “Dr.” and “p.m.” are not sentence ends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 carry meaning: “n't” = not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tokenisers handle rare and unseen words; used by BERT and GPT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3395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33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PRE-PROCESSING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Stopword removal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are very frequent function words (the, is, at, of) that carry little topical meaning. Removing them shrinks vocabulary and lets content words stand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941832" cy="566928"/>
          </a:xfrm>
          <a:prstGeom prst="roundRect">
            <a:avLst>
              <a:gd name="adj" fmla="val 16129"/>
            </a:avLst>
          </a:prstGeom>
          <a:solidFill>
            <a:srgbClr val="D5D9E8"/>
          </a:solidFill>
          <a:ln w="12700">
            <a:solidFill>
              <a:srgbClr val="D5D9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27632" y="260604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27632" y="26060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999232" y="2606040"/>
            <a:ext cx="941832" cy="566928"/>
          </a:xfrm>
          <a:prstGeom prst="roundRect">
            <a:avLst>
              <a:gd name="adj" fmla="val 16129"/>
            </a:avLst>
          </a:prstGeom>
          <a:solidFill>
            <a:srgbClr val="D5D9E8"/>
          </a:solidFill>
          <a:ln w="12700">
            <a:solidFill>
              <a:srgbClr val="D5D9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260604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078224" y="2606040"/>
            <a:ext cx="941832" cy="566928"/>
          </a:xfrm>
          <a:prstGeom prst="roundRect">
            <a:avLst>
              <a:gd name="adj" fmla="val 1612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78224" y="260604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57216" y="2606040"/>
            <a:ext cx="1088136" cy="566928"/>
          </a:xfrm>
          <a:prstGeom prst="roundRect">
            <a:avLst>
              <a:gd name="adj" fmla="val 161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2606040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82512" y="2606040"/>
            <a:ext cx="795528" cy="566928"/>
          </a:xfrm>
          <a:prstGeom prst="roundRect">
            <a:avLst>
              <a:gd name="adj" fmla="val 16129"/>
            </a:avLst>
          </a:prstGeom>
          <a:solidFill>
            <a:srgbClr val="D5D9E8"/>
          </a:solidFill>
          <a:ln w="12700">
            <a:solidFill>
              <a:srgbClr val="D5D9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2512" y="2606040"/>
            <a:ext cx="79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0" y="2606040"/>
            <a:ext cx="941832" cy="566928"/>
          </a:xfrm>
          <a:prstGeom prst="roundRect">
            <a:avLst>
              <a:gd name="adj" fmla="val 16129"/>
            </a:avLst>
          </a:prstGeom>
          <a:solidFill>
            <a:srgbClr val="D5D9E8"/>
          </a:solidFill>
          <a:ln w="12700">
            <a:solidFill>
              <a:srgbClr val="D5D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60604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</a:t>
            </a:r>
            <a:pPr indent="0" marL="0">
              <a:buNone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removed as stopword.  </a:t>
            </a:r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pPr indent="0" marL="0">
              <a:buNone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“not” is in NLTK's default list, but removing it flips the sentiment!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943600" cy="2194560"/>
          </a:xfrm>
          <a:prstGeom prst="roundRect">
            <a:avLst>
              <a:gd name="adj" fmla="val 333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nltk.corpus import stopwords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nltk.download("stopwords")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= set(stopwords.words("english"))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-= {"not", "no", "nor"}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keep negations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[t for t in tokens if t not in stop]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393192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417880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42048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keep stopwords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498848"/>
            <a:ext cx="4434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negations matter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&amp; n-grams: “to be or not to be”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/ transformers: they need full context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TfidfVectorizer(max_df=0.9) down-weights them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3395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33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PRE-PROCESSING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Stemming vs lemmatisation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Porter 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 (with POS)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studies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studi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running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  (verb)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better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better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good  (adjective)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  (verb)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universities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545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univers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7A6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university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292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nltk.stem import PorterStemmer, WordNetLemmatizer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PorterStemmer().stem("studies")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'studi'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WordNetLemmatizer().lemmatize("was", "v")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'be'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169164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93852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04888" y="1828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Stemming: chop suffixes by rules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25856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 (Porter, Snowball)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may not be a real word (“studi”)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search engines and large corpora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29400" y="402336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0" y="427024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04888" y="4160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Lemmatisation: dictionary base form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59028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vocabulary + part of speech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valid word; handles “better → good”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best when readability and accuracy matter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2257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LINGUISTIC ANALYSIS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Part-of-Speech (POS) tagging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each token its grammatical role. The same word can take different tags depending on context.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78508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78508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78508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78508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08376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08376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08376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08376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38244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38244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8244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38244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68112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68112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68112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68112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VBZ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97980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7980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97980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7980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27848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27848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27848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27848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57716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57716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57716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57716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387584" y="2240280"/>
            <a:ext cx="1115568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87584" y="224028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387584" y="2852928"/>
            <a:ext cx="1115568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87584" y="28529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 / NNS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Noun, singular / plural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VB / VBZ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 base / 3rd-person present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JJ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DT, IN, PRP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Determiner, preposition, pronoun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029200" y="3611880"/>
            <a:ext cx="3017520" cy="2514600"/>
          </a:xfrm>
          <a:prstGeom prst="roundRect">
            <a:avLst>
              <a:gd name="adj" fmla="val 290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57800" y="385876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504688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57800" y="4178808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lemmatisation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a flight” (VB) vs “read a book” (NN)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phrases → keywords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for NER and parsing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321040" y="3611880"/>
            <a:ext cx="3291840" cy="2514600"/>
          </a:xfrm>
          <a:prstGeom prst="roundRect">
            <a:avLst>
              <a:gd name="adj" fmla="val 2909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503920" y="3749040"/>
            <a:ext cx="2926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spacy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= spacy.load(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"en_core_web_sm")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nlp("The quick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brown fox ...")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doc: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print(t.text,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t.pos_, t.tag_)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2257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LINGUISTIC ANALYSIS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 Recognition (NER)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and classifying real-world entities (people, organisations, places, dates, amounts) in text.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40434" cy="54864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640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6352"/>
            <a:ext cx="1640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80514" y="2240280"/>
            <a:ext cx="7059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77870" y="2240280"/>
            <a:ext cx="1128370" cy="54864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7870" y="2240280"/>
            <a:ext cx="11283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77870" y="2816352"/>
            <a:ext cx="1128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240280"/>
            <a:ext cx="29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85386" y="2240280"/>
            <a:ext cx="1333195" cy="548640"/>
          </a:xfrm>
          <a:prstGeom prst="roundRect">
            <a:avLst>
              <a:gd name="adj" fmla="val 16667"/>
            </a:avLst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5386" y="2240280"/>
            <a:ext cx="13331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85386" y="2816352"/>
            <a:ext cx="13331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10021" y="2240280"/>
            <a:ext cx="296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7726" y="2240280"/>
            <a:ext cx="1640434" cy="548640"/>
          </a:xfrm>
          <a:prstGeom prst="roundRect">
            <a:avLst>
              <a:gd name="adj" fmla="val 1666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7726" y="2240280"/>
            <a:ext cx="16404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 2024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7726" y="2816352"/>
            <a:ext cx="1640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240280"/>
            <a:ext cx="1730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salary of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1085" y="2240280"/>
            <a:ext cx="1128370" cy="548640"/>
          </a:xfrm>
          <a:prstGeom prst="roundRect">
            <a:avLst>
              <a:gd name="adj" fmla="val 16667"/>
            </a:avLst>
          </a:prstGeom>
          <a:solidFill>
            <a:srgbClr val="3C8F86"/>
          </a:solidFill>
          <a:ln w="12700">
            <a:solidFill>
              <a:srgbClr val="3C8F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1085" y="2240280"/>
            <a:ext cx="11283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1085" y="2816352"/>
            <a:ext cx="1128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566160"/>
            <a:ext cx="5303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spacy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= spacy.load("en_core_web_sm")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nlp("Priya Sharma joined Infosys in 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"Bengaluru on 5 March 2024.")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ent in doc.ents: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print(ent.text, "-&gt;", ent.label_)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spacy.displacy.render(doc, style="ent")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429000"/>
            <a:ext cx="2468880" cy="2697480"/>
          </a:xfrm>
          <a:prstGeom prst="roundRect">
            <a:avLst>
              <a:gd name="adj" fmla="val 296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67588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99592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gazetteers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(CRF)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(spaCy, BERT fine-tuned)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0" y="3429000"/>
            <a:ext cx="2468880" cy="2697480"/>
          </a:xfrm>
          <a:prstGeom prst="roundRect">
            <a:avLst>
              <a:gd name="adj" fmla="val 296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72600" y="367588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19488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399592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KYC parsing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financial analytics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facets, knowledge graphs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VECTORISATION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text to numbers: the count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love NLP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love deep learning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is deep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777240"/>
                <a:gridCol w="1005840"/>
                <a:gridCol w="868680"/>
                <a:gridCol w="868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9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documents, columns = vocabulary, cells = word counts (“I” is dropped by sklearn's default token pattern).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169164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828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sklearn.feature_extraction.text import CountVectorizer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CountVectorizer(ngram_range=(1, 2), min_df=2)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cv.fit_transform(docs)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sparse matrix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cv.get_feature_names_out()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35661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381304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0528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4133088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linear model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keep some order (“not good”)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15400" y="356616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0" y="381304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90888" y="3703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0" y="4133088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lost (bag of words)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Huge, sparse vectors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words dominate → TF-IDF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VECTORISATION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TF-IDF: weighting words by importance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tf-idf(t, d)  =  </a:t>
            </a:r>
            <a:pPr algn="ctr" indent="0" marL="0">
              <a:buNone/>
            </a:pPr>
            <a:r>
              <a:rPr lang="en-US" sz="3000" b="1" dirty="0">
                <a:solidFill>
                  <a:srgbClr val="7FD6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tf(t, d)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 N / df(t) 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12724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TF: term frequency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472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term appears in this document. High TF → relevant to this document.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12724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IDF: inverse doc frequency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472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total docs, df = docs containing t. Rare across corpus → high IDF.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312724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22208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distinctiveness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4472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only when a word is frequent here but rare elsewhere.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(N = 3 docs, natural log)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74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“is” in 1 doc → idf = ln(3/1) ≈ 1.10  (distinctive)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“love” in 2 docs → idf = ln(3/2) ≈ 0.41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in all 3 docs → idf = ln(1) = 0  (ignored)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4663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006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sklearn.feature_extraction.text import TfidfVectorizer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TfidfVectorizer(ngram_range=(1, 2), min_df=2,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max_df=0.9, sublinear_tf=True)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tfidf.fit_transform(docs)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VECTORISATION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extraction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surface the terms or phrases that best describe a document: for tagging, SEO, search facets and summaries.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48716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top-n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0720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 terms per document. Needs a corpus; simple and strong baseline.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48716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80720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text at stopwords into candidate phrases; scores by word co-occurrence. Single document.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48716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93408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YAKE / TextRank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0720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YAKE: position, casing and frequency features. TextRank: PageRank over a word graph.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2487168"/>
            <a:ext cx="146304" cy="146304"/>
          </a:xfrm>
          <a:prstGeom prst="ellipse">
            <a:avLst/>
          </a:prstGeom>
          <a:solidFill>
            <a:srgbClr val="6C63A6"/>
          </a:solidFill>
          <a:ln w="12700">
            <a:solidFill>
              <a:srgbClr val="6C63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8048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80720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document and candidate phrases; picks phrases most similar in meaning.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6400800" cy="1783080"/>
          </a:xfrm>
          <a:prstGeom prst="roundRect">
            <a:avLst>
              <a:gd name="adj" fmla="val 410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526280"/>
            <a:ext cx="6035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feats = tfidf.get_feature_names_out()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X[0].toarray().ravel()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doc 0 scores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top5 = feats[np.argsort(row)[::-1][:5]]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print(top5)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4389120"/>
            <a:ext cx="4389120" cy="1783080"/>
          </a:xfrm>
          <a:prstGeom prst="roundRect">
            <a:avLst>
              <a:gd name="adj" fmla="val 4103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463600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99248" y="4526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95604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noun phrases (POS filter)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bigrams / trigrams for phrases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Lemmatise to merge variants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2257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TEXT CLASSIFICATION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classification: TF-IDF + Logistic Regression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2034540"/>
            <a:ext cx="265176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6916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3C8F86"/>
          </a:solidFill>
          <a:ln w="12700">
            <a:solidFill>
              <a:srgbClr val="3C8F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691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tokenise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28032" y="2034540"/>
            <a:ext cx="265176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6916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691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14032" y="2034540"/>
            <a:ext cx="265176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6916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691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00032" y="2034540"/>
            <a:ext cx="265176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16916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1691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probability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3464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df.text, df.label, test_size=0.2,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stratify=df.label, random_state=42)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("tfidf", TfidfVectorizer(ngram_range=(1, 2), min_df=2)),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("lr", LogisticRegression(max_iter=1000,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class_weight="balanced")),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clf.fit(X_tr, y_tr)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 clf.predict(X_te)))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0" y="26974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294436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combo works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32644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strong baseline on sparse high-dimensional data; gives probabilities; coefficients show which words drive each class.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89520" y="4526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477316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5008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509320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= no data leakage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 and ngram_range with GridSearchCV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top coefficients per class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22576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TEXT CLASSIFICATION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text classifier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27432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31720"/>
            <a:ext cx="868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66160"/>
            <a:ext cx="868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7452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2044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3C9BD"/>
          </a:solidFill>
          <a:ln w="12700">
            <a:solidFill>
              <a:srgbClr val="F3C9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874520" y="35661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3C9BD"/>
          </a:solidFill>
          <a:ln w="12700">
            <a:solidFill>
              <a:srgbClr val="F3C9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7452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520440" y="35661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566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averages classes equally; weighted-F1 weights by class size. Report both on imbalanced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0" y="16459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892808"/>
            <a:ext cx="493776" cy="493776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1892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1691640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 </a:t>
            </a:r>
            <a:pPr indent="0" marL="0">
              <a:buNone/>
            </a:pPr>
            <a:r>
              <a:rPr lang="en-US" sz="1250" dirty="0">
                <a:solidFill>
                  <a:srgbClr val="B5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all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when classes are imbalanced (99% “not spam”).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0" y="27889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035808"/>
            <a:ext cx="493776" cy="49377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3035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834640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 </a:t>
            </a:r>
            <a:pPr indent="0" marL="0">
              <a:buNone/>
            </a:pPr>
            <a:r>
              <a:rPr lang="en-US" sz="1250" dirty="0">
                <a:solidFill>
                  <a:srgbClr val="B5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are right? Key when false alarms are costly.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0" y="39319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4178808"/>
            <a:ext cx="493776" cy="49377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0" y="4178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977640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 </a:t>
            </a:r>
            <a:pPr indent="0" marL="0">
              <a:buNone/>
            </a:pPr>
            <a:r>
              <a:rPr lang="en-US" sz="1250" dirty="0">
                <a:solidFill>
                  <a:srgbClr val="B5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did we catch? Key for fraud, safety.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0" y="50749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5321808"/>
            <a:ext cx="493776" cy="49377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52160" y="5321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5120640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 </a:t>
            </a:r>
            <a:pPr indent="0" marL="0">
              <a:buNone/>
            </a:pPr>
            <a:r>
              <a:rPr lang="en-US" sz="1250" dirty="0">
                <a:solidFill>
                  <a:srgbClr val="B5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2PR / (P + R)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recall; one balanced number.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244852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244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SENTIMENT ANALYSIS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sentiment analysis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tweets, surveys (CSV / JSON)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8568" y="2011680"/>
            <a:ext cx="14630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negations, “!!!”, emojis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3088" y="2011680"/>
            <a:ext cx="14630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Tokenise, lemmatise, handle slang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07608" y="2011680"/>
            <a:ext cx="14630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with 1–2 grams (“not good”)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82128" y="2011680"/>
            <a:ext cx="14630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pos / neg / neutral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56648" y="2011680"/>
            <a:ext cx="14630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169164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124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monitor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alerts, drift checks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3832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63016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 (VADER, TextBlob)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95020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needed; scores words from a sentiment dictionary. Good for quick social-media analysis; weak on domain words and sarcasm.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97680" y="33832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363016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73168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(TF-IDF + LR)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395020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domain vocabulary from labelled data; fast and interpretable. Needs a few thousand labelled examples.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46720" y="33832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63016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22208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(fine-tuned BERT)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95020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context and negation best; highest accuracy. Needs GPU and more engineering.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cases: </a:t>
            </a:r>
            <a:pPr indent="0" marL="0">
              <a:buNone/>
            </a:pPr>
            <a:r>
              <a:rPr lang="en-US" sz="13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sarcasm, negation scope, mixed reviews (“food great, service awful” → aspect-based sentiment), code-mixed text, domain shift.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62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EMBEDDINGS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embeddings: the intuition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shall know a word by the company it keeps.”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R. Firth, 1957 · the distributional hypothesis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5292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/ TF-IDF: sparse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729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E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[0, 0, 1, 0, … 0]   (vocab-sized)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equally distant: “cat” is no closer to “kitten” than to “car”.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68172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dense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0176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E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[0.21, -0.43, 0.77, …]   (~100–300 dims)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context. Similar words get nearby vectors; directions encode relationships.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059168" y="3017520"/>
            <a:ext cx="274320" cy="187452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8613648" y="3200400"/>
            <a:ext cx="274320" cy="187452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5047488"/>
            <a:ext cx="1234440" cy="182880"/>
          </a:xfrm>
          <a:prstGeom prst="line">
            <a:avLst/>
          </a:prstGeom>
          <a:noFill/>
          <a:ln w="25400">
            <a:solidFill>
              <a:srgbClr val="6C63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2852928"/>
            <a:ext cx="1234440" cy="182880"/>
          </a:xfrm>
          <a:prstGeom prst="line">
            <a:avLst/>
          </a:prstGeom>
          <a:noFill/>
          <a:ln w="25400">
            <a:solidFill>
              <a:srgbClr val="6C63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4937760"/>
            <a:ext cx="228600" cy="2286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5537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5120640"/>
            <a:ext cx="228600" cy="2286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47365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0" y="2743200"/>
            <a:ext cx="228600" cy="2286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3591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78240" y="2926080"/>
            <a:ext cx="228600" cy="22860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25420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241280" y="5394960"/>
            <a:ext cx="228600" cy="228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29800" y="50109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7040" y="4754880"/>
            <a:ext cx="228600" cy="228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95560" y="43708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881360" y="5257800"/>
            <a:ext cx="228600" cy="228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69880" y="4873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− man + woman ≈ queen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</a:t>
            </a:r>
            <a:pPr indent="0" marL="0">
              <a:buNone/>
            </a:pPr>
            <a:r>
              <a:rPr lang="en-US" sz="11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royalty direction   </a:t>
            </a:r>
            <a:pPr indent="0" marL="0">
              <a:buNone/>
            </a:pPr>
            <a:r>
              <a:rPr lang="en-US" sz="1150" b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</a:t>
            </a:r>
            <a:pPr indent="0" marL="0">
              <a:buNone/>
            </a:pPr>
            <a:r>
              <a:rPr lang="en-US" sz="1150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gender direction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62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EMBEDDINGS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Word2Vec: learning vectors by prediction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shallow neural network trained on a fake task: predict words from their neighbours. The learned hidden-layer weights become the word vectors.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CBOW: context → target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3063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3063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21408" y="2962656"/>
            <a:ext cx="557784" cy="484632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321868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1408" y="3392424"/>
            <a:ext cx="557784" cy="54864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3648456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48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2121408" y="3447288"/>
            <a:ext cx="557784" cy="374904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4078224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78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2121408" y="3447288"/>
            <a:ext cx="557784" cy="804672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324612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4340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13048" y="3447288"/>
            <a:ext cx="512064" cy="4572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22402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Skip-gram: target → context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66760" y="3063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3063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12680" y="278892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1268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V="1">
            <a:off x="9482328" y="2962656"/>
            <a:ext cx="512064" cy="484632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12680" y="321868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12680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V="1">
            <a:off x="9482328" y="3392424"/>
            <a:ext cx="512064" cy="54864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12680" y="3648456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12680" y="3648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82328" y="3447288"/>
            <a:ext cx="512064" cy="374904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12680" y="4078224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12680" y="4078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82328" y="3447288"/>
            <a:ext cx="512064" cy="804672"/>
          </a:xfrm>
          <a:prstGeom prst="line">
            <a:avLst/>
          </a:prstGeom>
          <a:noFill/>
          <a:ln w="1270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92240" y="324612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flipV="1">
            <a:off x="7790688" y="3447288"/>
            <a:ext cx="557784" cy="4572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48640" y="4617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Faster; smooths over context; good for frequent words.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0" y="4617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better for rare words and small datasets.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02920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5166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gensim.models import Word2Vec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Word2Vec(tokenized_docs, vector_size=100, window=5,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min_count=2, sg=1, workers=4)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F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sg=1: skip-gram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model.wv.most_similar("king", topn=5)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5029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knobs: </a:t>
            </a:r>
            <a:pPr indent="0" marL="0">
              <a:buNone/>
            </a:pPr>
            <a:r>
              <a:rPr lang="en-US" sz="12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vector_size (dimensions), window (context width), min_count (drop rare words), negative sampling (efficient training).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62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EMBEDDINGS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GloVe: global co-occurrence statistics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(Stanford, 2014) builds a word–word co-occurrence matrix over the whole corpus, then learns vectors whose dot products match the log co-occurrence counts.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lives in co-occurrence ratios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word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P(k | ice) / P(k | steam)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 → ice-related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 → steam-related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 → related to 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 → related to neither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377440"/>
          <a:ext cx="5349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82880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context windows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co-occurrence counts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(neural)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Count-based (matrix factorisation)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streaming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corpus-wide statistics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44805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gensim.downloader as api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glove = api.load("glove-wiki-gigaword-100")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glove.most_similar("delhi", topn=5)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glove.most_similar(positive=["king", "woman"],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negative=["man"])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5166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541324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24128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static embeddings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7332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word: “bank” gets the same vector in every sentence. OOV words → FastText (subwords).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623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EMBEDDINGS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embeddings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an entire sentence or paragraph as one vector so that texts with similar meaning are close, even with no words in common.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password?”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forgot my login credentials”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468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SBERT)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33088" y="2606040"/>
            <a:ext cx="420624" cy="228600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4133088" y="3108960"/>
            <a:ext cx="420624" cy="228600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23317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[0.12, -0.8, …]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06324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[0.10, -0.7, …]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6144768" y="2606040"/>
            <a:ext cx="420624" cy="228600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44768" y="3108960"/>
            <a:ext cx="420624" cy="228600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61120" y="26517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similarity: HIGH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22208" y="2971800"/>
            <a:ext cx="420624" cy="914"/>
          </a:xfrm>
          <a:prstGeom prst="line">
            <a:avLst/>
          </a:prstGeom>
          <a:noFill/>
          <a:ln w="19050">
            <a:solidFill>
              <a:srgbClr val="5B60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8862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13308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 vectors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453128"/>
            <a:ext cx="498348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91032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Doc2Vec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230368"/>
            <a:ext cx="498348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568756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4128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6007608"/>
            <a:ext cx="498348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Word2Vec / GloVe vectors (optionally TF-IDF weighted). Simple; ignores word order.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66344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extension that learns a vector per document during training.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017520" y="544068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/ sentence-transformers: contextual and trained for similarity. Today's default.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8862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4023360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SentenceTransformer, util)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SentenceTransformer("all-MiniLM-L6-v2")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 = model.encode(["How do I reset my password?",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"I forgot my login credentials"])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print(util.cos_sim(emb[0], emb[1]))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semantic search, FAQ matching, clustering, duplicate detection, retrieval for RAG chatbots, features for classifiers.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01268" cy="310896"/>
          </a:xfrm>
          <a:prstGeom prst="roundRect">
            <a:avLst>
              <a:gd name="adj" fmla="val 50000"/>
            </a:avLst>
          </a:prstGeom>
          <a:solidFill>
            <a:srgbClr val="D8F0EC"/>
          </a:solidFill>
          <a:ln w="12700">
            <a:solidFill>
              <a:srgbClr val="D8F0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1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text representation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1828800"/>
                <a:gridCol w="201168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meaning?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order?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Bag of Words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9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(n-grams help)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vocab-sized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Baselines, simple topic tasks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but weights importance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(n-grams help)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vocab-sized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search, keywords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/ GloVe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(one sense per word)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when averaged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100–300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Similarity, analogies, small-data 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E2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contextual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384–1024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search, clustering, RAG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4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TF-IDF + Logistic Regression as a baseline; move to embeddings when you need semantic similarity or have little labelled data.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first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carefully (encoding, JSON flattening) and clean with task-aware regex.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691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with intent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properly; keep negations; lemmatise when accuracy matters.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546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linguistic structure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tags and named entities turn text into structured information.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0632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83280"/>
            <a:ext cx="594360" cy="594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1546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words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matrix → TF-IDF highlights distinctive terms and keywords.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617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Regression: fast, interpretable, hard to beat.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45262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A2F52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846320"/>
            <a:ext cx="594360" cy="594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617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geometry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GloVe and sentence embeddings capture semantic similarity.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Processing: From Raw Text to Meaning</dc:title>
  <dc:subject>PptxGenJS Presentation</dc:subject>
  <dc:creator>PptxGenJS</dc:creator>
  <cp:lastModifiedBy>PptxGenJS</cp:lastModifiedBy>
  <cp:revision>1</cp:revision>
  <dcterms:created xsi:type="dcterms:W3CDTF">2026-09-28T18:06:25Z</dcterms:created>
  <dcterms:modified xsi:type="dcterms:W3CDTF">2026-09-28T18:06:25Z</dcterms:modified>
</cp:coreProperties>
</file>