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  <p:sldMasterId id="2147483701" r:id="rId3"/>
  </p:sldMasterIdLst>
  <p:notesMasterIdLst>
    <p:notesMasterId r:id="rId47"/>
  </p:notesMasterIdLst>
  <p:sldIdLst>
    <p:sldId id="268" r:id="rId4"/>
    <p:sldId id="271" r:id="rId5"/>
    <p:sldId id="274" r:id="rId6"/>
    <p:sldId id="277" r:id="rId7"/>
    <p:sldId id="280" r:id="rId8"/>
    <p:sldId id="283" r:id="rId9"/>
    <p:sldId id="286" r:id="rId10"/>
    <p:sldId id="292" r:id="rId11"/>
    <p:sldId id="295" r:id="rId12"/>
    <p:sldId id="298" r:id="rId13"/>
    <p:sldId id="301" r:id="rId14"/>
    <p:sldId id="304" r:id="rId15"/>
    <p:sldId id="307" r:id="rId16"/>
    <p:sldId id="310" r:id="rId17"/>
    <p:sldId id="313" r:id="rId18"/>
    <p:sldId id="316" r:id="rId19"/>
    <p:sldId id="319" r:id="rId20"/>
    <p:sldId id="322" r:id="rId21"/>
    <p:sldId id="325" r:id="rId22"/>
    <p:sldId id="328" r:id="rId23"/>
    <p:sldId id="331" r:id="rId24"/>
    <p:sldId id="334" r:id="rId25"/>
    <p:sldId id="337" r:id="rId26"/>
    <p:sldId id="340" r:id="rId27"/>
    <p:sldId id="346" r:id="rId28"/>
    <p:sldId id="349" r:id="rId29"/>
    <p:sldId id="352" r:id="rId30"/>
    <p:sldId id="355" r:id="rId31"/>
    <p:sldId id="358" r:id="rId32"/>
    <p:sldId id="361" r:id="rId33"/>
    <p:sldId id="364" r:id="rId34"/>
    <p:sldId id="367" r:id="rId35"/>
    <p:sldId id="370" r:id="rId36"/>
    <p:sldId id="373" r:id="rId37"/>
    <p:sldId id="376" r:id="rId38"/>
    <p:sldId id="379" r:id="rId39"/>
    <p:sldId id="382" r:id="rId40"/>
    <p:sldId id="385" r:id="rId41"/>
    <p:sldId id="388" r:id="rId42"/>
    <p:sldId id="391" r:id="rId43"/>
    <p:sldId id="394" r:id="rId44"/>
    <p:sldId id="397" r:id="rId45"/>
    <p:sldId id="400" r:id="rId46"/>
  </p:sldIdLst>
  <p:sldSz cx="12192000" cy="6858000"/>
  <p:notesSz cx="6858000" cy="9144000"/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  <p:ext uri="{1BD7E111-0CB8-44D6-8891-C1BB2F81B7CC}">
      <p1710:readonlyRecommended xmlns="" xmlns:p1710="http://schemas.microsoft.com/office/powerpoint/2017/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>
      <p:cViewPr varScale="1">
        <p:scale>
          <a:sx n="69" d="100"/>
          <a:sy n="69" d="100"/>
        </p:scale>
        <p:origin x="-5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DBB7E6-626B-46DB-8E3E-4FC0F3FD071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8DCBEA-3C0D-4869-AFB4-CCE79E27F358}" type="parTrans" cxnId="{F7CD4237-879C-4697-98CF-83677DCCD596}">
      <dgm:prSet/>
      <dgm:spPr/>
      <dgm:t>
        <a:bodyPr/>
        <a:lstStyle/>
        <a:p>
          <a:endParaRPr lang="en-US"/>
        </a:p>
      </dgm:t>
    </dgm:pt>
    <dgm:pt modelId="{6AE6DE01-2077-4516-BCB8-4727DA51014A}">
      <dgm:prSet/>
      <dgm:spPr/>
      <dgm:t>
        <a:bodyPr/>
        <a:lstStyle/>
        <a:p>
          <a:r>
            <a:rPr lang="en-US"/>
            <a:t>RNN is used for sequence / time-series problem</a:t>
          </a:r>
        </a:p>
      </dgm:t>
    </dgm:pt>
    <dgm:pt modelId="{55EBFF15-A2E3-497C-8AB9-3051955C1E2C}" type="sibTrans" cxnId="{F7CD4237-879C-4697-98CF-83677DCCD596}">
      <dgm:prSet phldrT="1"/>
      <dgm:spPr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</dgm:spPr>
      <dgm:t>
        <a:bodyPr/>
        <a:lstStyle/>
        <a:p>
          <a:r>
            <a:rPr lang="en-US"/>
            <a:t>1</a:t>
          </a:r>
        </a:p>
      </dgm:t>
    </dgm:pt>
    <dgm:pt modelId="{6B4608F3-6AEA-4C35-8497-E259D4250CE4}" type="parTrans" cxnId="{8AEF19C4-E4CB-4A28-84C7-2C8FAD278FFB}">
      <dgm:prSet/>
      <dgm:spPr/>
      <dgm:t>
        <a:bodyPr/>
        <a:lstStyle/>
        <a:p>
          <a:endParaRPr lang="en-US"/>
        </a:p>
      </dgm:t>
    </dgm:pt>
    <dgm:pt modelId="{A18DB710-28DB-44C3-8D28-BC2706B9C314}">
      <dgm:prSet/>
      <dgm:spPr/>
      <dgm:t>
        <a:bodyPr/>
        <a:lstStyle/>
        <a:p>
          <a:r>
            <a:rPr lang="en-US"/>
            <a:t>Gradient vanishing problem limits its effectiveness</a:t>
          </a:r>
        </a:p>
      </dgm:t>
    </dgm:pt>
    <dgm:pt modelId="{E9BB1D51-E9EC-48C1-B962-5E9CB4965068}" type="sibTrans" cxnId="{8AEF19C4-E4CB-4A28-84C7-2C8FAD278FFB}">
      <dgm:prSet phldrT="2"/>
      <dgm:spPr>
        <a:solidFill>
          <a:schemeClr val="accent2">
            <a:hueOff val="11154"/>
            <a:satOff val="-7679"/>
            <a:lumOff val="-1961"/>
            <a:alphaOff val="0"/>
          </a:schemeClr>
        </a:solidFill>
        <a:ln w="15875" cap="flat" cmpd="sng" algn="ctr">
          <a:solidFill>
            <a:schemeClr val="accent2">
              <a:hueOff val="11154"/>
              <a:satOff val="-7679"/>
              <a:lumOff val="-1961"/>
              <a:alphaOff val="0"/>
            </a:schemeClr>
          </a:solidFill>
          <a:prstDash val="solid"/>
        </a:ln>
      </dgm:spPr>
      <dgm:t>
        <a:bodyPr/>
        <a:lstStyle/>
        <a:p>
          <a:r>
            <a:rPr lang="en-US"/>
            <a:t>2</a:t>
          </a:r>
        </a:p>
      </dgm:t>
    </dgm:pt>
    <dgm:pt modelId="{465487C3-316E-4A98-A88B-F26A21EC1575}" type="parTrans" cxnId="{951CB919-A882-423A-B4C0-9DA5EB5674F9}">
      <dgm:prSet/>
      <dgm:spPr/>
      <dgm:t>
        <a:bodyPr/>
        <a:lstStyle/>
        <a:p>
          <a:endParaRPr lang="en-US"/>
        </a:p>
      </dgm:t>
    </dgm:pt>
    <dgm:pt modelId="{D15CC8E0-ABEB-4FB3-A967-4BBA46D896E8}">
      <dgm:prSet/>
      <dgm:spPr/>
      <dgm:t>
        <a:bodyPr/>
        <a:lstStyle/>
        <a:p>
          <a:r>
            <a:rPr lang="en-US"/>
            <a:t>LSTM cell to eliminate problem</a:t>
          </a:r>
        </a:p>
      </dgm:t>
    </dgm:pt>
    <dgm:pt modelId="{EB9110A8-6B06-49B5-8182-21303FFE227A}" type="sibTrans" cxnId="{951CB919-A882-423A-B4C0-9DA5EB5674F9}">
      <dgm:prSet phldrT="3"/>
      <dgm:spPr>
        <a:solidFill>
          <a:schemeClr val="accent2">
            <a:hueOff val="22307"/>
            <a:satOff val="-15358"/>
            <a:lumOff val="-3922"/>
            <a:alphaOff val="0"/>
          </a:schemeClr>
        </a:solidFill>
        <a:ln w="15875" cap="flat" cmpd="sng" algn="ctr">
          <a:solidFill>
            <a:schemeClr val="accent2">
              <a:hueOff val="22307"/>
              <a:satOff val="-15358"/>
              <a:lumOff val="-3922"/>
              <a:alphaOff val="0"/>
            </a:schemeClr>
          </a:solidFill>
          <a:prstDash val="solid"/>
        </a:ln>
      </dgm:spPr>
      <dgm:t>
        <a:bodyPr/>
        <a:lstStyle/>
        <a:p>
          <a:r>
            <a:rPr lang="en-US"/>
            <a:t>3</a:t>
          </a:r>
        </a:p>
      </dgm:t>
    </dgm:pt>
    <dgm:pt modelId="{06707BEF-2E36-43D7-8DD0-BD7AD1D5BDEA}" type="parTrans" cxnId="{D4FDA6F6-E314-4261-B867-4868107483DC}">
      <dgm:prSet/>
      <dgm:spPr/>
      <dgm:t>
        <a:bodyPr/>
        <a:lstStyle/>
        <a:p>
          <a:endParaRPr lang="en-US"/>
        </a:p>
      </dgm:t>
    </dgm:pt>
    <dgm:pt modelId="{E49B58F8-5686-4460-B612-C8C29480859E}">
      <dgm:prSet/>
      <dgm:spPr/>
      <dgm:t>
        <a:bodyPr/>
        <a:lstStyle/>
        <a:p>
          <a:r>
            <a:rPr lang="en-US"/>
            <a:t>Practically LSTM works much better than RNN</a:t>
          </a:r>
        </a:p>
      </dgm:t>
    </dgm:pt>
    <dgm:pt modelId="{03FD7E1C-0E0B-4466-9611-E01A47F97A92}" type="sibTrans" cxnId="{D4FDA6F6-E314-4261-B867-4868107483DC}">
      <dgm:prSet phldrT="4"/>
      <dgm:spPr>
        <a:solidFill>
          <a:schemeClr val="accent2">
            <a:hueOff val="33461"/>
            <a:satOff val="-23037"/>
            <a:lumOff val="-5883"/>
            <a:alphaOff val="0"/>
          </a:schemeClr>
        </a:solidFill>
        <a:ln w="15875" cap="flat" cmpd="sng" algn="ctr">
          <a:solidFill>
            <a:schemeClr val="accent2">
              <a:hueOff val="33461"/>
              <a:satOff val="-23037"/>
              <a:lumOff val="-5883"/>
              <a:alphaOff val="0"/>
            </a:schemeClr>
          </a:solidFill>
          <a:prstDash val="solid"/>
        </a:ln>
      </dgm:spPr>
      <dgm:t>
        <a:bodyPr/>
        <a:lstStyle/>
        <a:p>
          <a:r>
            <a:rPr lang="en-US"/>
            <a:t>4</a:t>
          </a:r>
        </a:p>
      </dgm:t>
    </dgm:pt>
    <dgm:pt modelId="{34BAABB6-4CDF-41E3-854A-936E1FE5EB9A}" type="pres">
      <dgm:prSet presAssocID="{4DDBB7E6-626B-46DB-8E3E-4FC0F3FD0713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/>
        </a:p>
      </dgm:t>
    </dgm:pt>
    <dgm:pt modelId="{0F088E8F-EC4A-4B2E-85B6-85357B7F94DC}" type="pres">
      <dgm:prSet presAssocID="{6AE6DE01-2077-4516-BCB8-4727DA51014A}" presName="compositeNode" presStyleCnt="0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  <dgm:pt modelId="{5A53E36A-1AAC-467F-B00E-9187782B5ECD}" type="pres">
      <dgm:prSet presAssocID="{6AE6DE01-2077-4516-BCB8-4727DA51014A}" presName="bgRect" presStyleLbl="bgAccFollowNode1" presStyleIdx="0" presStyleCnt="4"/>
      <dgm:spPr/>
      <dgm:t>
        <a:bodyPr/>
        <a:lstStyle/>
        <a:p>
          <a:endParaRPr/>
        </a:p>
      </dgm:t>
    </dgm:pt>
    <dgm:pt modelId="{BF1F0B41-CCCD-460B-9CAD-B896CB339FFA}" type="pres">
      <dgm:prSet presAssocID="{55EBFF15-A2E3-497C-8AB9-3051955C1E2C}" presName="sibTransNodeCircle" presStyleLbl="alignNode1" presStyleIdx="0" presStyleCnt="8">
        <dgm:presLayoutVars>
          <dgm:chMax val="0"/>
          <dgm:bulletEnabled/>
        </dgm:presLayoutVars>
      </dgm:prSet>
      <dgm:spPr/>
      <dgm:t>
        <a:bodyPr/>
        <a:lstStyle/>
        <a:p>
          <a:endParaRPr/>
        </a:p>
      </dgm:t>
    </dgm:pt>
    <dgm:pt modelId="{4DEDEFEE-98D8-481D-83E0-064B3A64866F}" type="pres">
      <dgm:prSet presAssocID="{6AE6DE01-2077-4516-BCB8-4727DA51014A}" presName="bottomLine" presStyleLbl="alignNode1" presStyleIdx="1" presStyleCnt="8">
        <dgm:presLayoutVars/>
      </dgm:prSet>
      <dgm:spPr>
        <a:solidFill>
          <a:schemeClr val="accent2">
            <a:hueOff val="5577"/>
            <a:satOff val="-3839"/>
            <a:lumOff val="-980"/>
            <a:alphaOff val="0"/>
          </a:schemeClr>
        </a:solidFill>
        <a:ln w="15875" cap="flat" cmpd="sng" algn="ctr">
          <a:solidFill>
            <a:schemeClr val="accent2">
              <a:hueOff val="5577"/>
              <a:satOff val="-3839"/>
              <a:lumOff val="-980"/>
              <a:alphaOff val="0"/>
            </a:schemeClr>
          </a:solidFill>
          <a:prstDash val="solid"/>
        </a:ln>
      </dgm:spPr>
      <dgm:t>
        <a:bodyPr/>
        <a:lstStyle/>
        <a:p>
          <a:endParaRPr/>
        </a:p>
      </dgm:t>
    </dgm:pt>
    <dgm:pt modelId="{E8C929AF-9BA7-4F0C-950F-E6C9617AAB88}" type="pres">
      <dgm:prSet presAssocID="{6AE6DE01-2077-4516-BCB8-4727DA51014A}" presName="nodeText" presStyleLbl="b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  <dgm:pt modelId="{895C83F6-EB4B-4B30-B11B-A95EF7A8AD7D}" type="pres">
      <dgm:prSet presAssocID="{55EBFF15-A2E3-497C-8AB9-3051955C1E2C}" presName="sibTrans" presStyleCnt="0"/>
      <dgm:spPr/>
      <dgm:t>
        <a:bodyPr/>
        <a:lstStyle/>
        <a:p>
          <a:endParaRPr/>
        </a:p>
      </dgm:t>
    </dgm:pt>
    <dgm:pt modelId="{FC22B4F5-611B-4276-B9BC-72C444DFC54D}" type="pres">
      <dgm:prSet presAssocID="{A18DB710-28DB-44C3-8D28-BC2706B9C314}" presName="compositeNode" presStyleCnt="0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  <dgm:pt modelId="{EDE842C4-C8CC-430A-ACB8-CDB6EB944D43}" type="pres">
      <dgm:prSet presAssocID="{A18DB710-28DB-44C3-8D28-BC2706B9C314}" presName="bgRect" presStyleLbl="bgAccFollowNode1" presStyleIdx="1" presStyleCnt="4"/>
      <dgm:spPr/>
      <dgm:t>
        <a:bodyPr/>
        <a:lstStyle/>
        <a:p>
          <a:endParaRPr/>
        </a:p>
      </dgm:t>
    </dgm:pt>
    <dgm:pt modelId="{863F96EF-26CC-430D-B677-79009C89B505}" type="pres">
      <dgm:prSet presAssocID="{E9BB1D51-E9EC-48C1-B962-5E9CB4965068}" presName="sibTransNodeCircle" presStyleLbl="alignNode1" presStyleIdx="2" presStyleCnt="8">
        <dgm:presLayoutVars>
          <dgm:chMax val="0"/>
          <dgm:bulletEnabled/>
        </dgm:presLayoutVars>
      </dgm:prSet>
      <dgm:spPr/>
      <dgm:t>
        <a:bodyPr/>
        <a:lstStyle/>
        <a:p>
          <a:endParaRPr/>
        </a:p>
      </dgm:t>
    </dgm:pt>
    <dgm:pt modelId="{1A9A575B-FE99-4D67-88EA-9F5E4572B373}" type="pres">
      <dgm:prSet presAssocID="{A18DB710-28DB-44C3-8D28-BC2706B9C314}" presName="bottomLine" presStyleLbl="alignNode1" presStyleIdx="3" presStyleCnt="8">
        <dgm:presLayoutVars/>
      </dgm:prSet>
      <dgm:spPr>
        <a:solidFill>
          <a:schemeClr val="accent2">
            <a:hueOff val="16731"/>
            <a:satOff val="-11518"/>
            <a:lumOff val="-2941"/>
            <a:alphaOff val="0"/>
          </a:schemeClr>
        </a:solidFill>
        <a:ln w="15875" cap="flat" cmpd="sng" algn="ctr">
          <a:solidFill>
            <a:schemeClr val="accent2">
              <a:hueOff val="16731"/>
              <a:satOff val="-11518"/>
              <a:lumOff val="-2941"/>
              <a:alphaOff val="0"/>
            </a:schemeClr>
          </a:solidFill>
          <a:prstDash val="solid"/>
        </a:ln>
      </dgm:spPr>
      <dgm:t>
        <a:bodyPr/>
        <a:lstStyle/>
        <a:p>
          <a:endParaRPr/>
        </a:p>
      </dgm:t>
    </dgm:pt>
    <dgm:pt modelId="{C678D1DD-69A9-4A79-BC5F-F419FF34294A}" type="pres">
      <dgm:prSet presAssocID="{A18DB710-28DB-44C3-8D28-BC2706B9C314}" presName="nodeText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  <dgm:pt modelId="{F237AA43-A089-4676-AA90-B534FE263DBF}" type="pres">
      <dgm:prSet presAssocID="{E9BB1D51-E9EC-48C1-B962-5E9CB4965068}" presName="sibTrans" presStyleCnt="0"/>
      <dgm:spPr/>
      <dgm:t>
        <a:bodyPr/>
        <a:lstStyle/>
        <a:p>
          <a:endParaRPr/>
        </a:p>
      </dgm:t>
    </dgm:pt>
    <dgm:pt modelId="{81F0FE51-8AB7-4EB6-ABCD-3DB6C1FE2454}" type="pres">
      <dgm:prSet presAssocID="{D15CC8E0-ABEB-4FB3-A967-4BBA46D896E8}" presName="compositeNode" presStyleCnt="0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  <dgm:pt modelId="{72C2CF87-BA98-4E51-8C67-E56556AE8CC8}" type="pres">
      <dgm:prSet presAssocID="{D15CC8E0-ABEB-4FB3-A967-4BBA46D896E8}" presName="bgRect" presStyleLbl="bgAccFollowNode1" presStyleIdx="2" presStyleCnt="4"/>
      <dgm:spPr/>
      <dgm:t>
        <a:bodyPr/>
        <a:lstStyle/>
        <a:p>
          <a:endParaRPr/>
        </a:p>
      </dgm:t>
    </dgm:pt>
    <dgm:pt modelId="{2FE57CAF-CE01-409A-934A-054455423FA8}" type="pres">
      <dgm:prSet presAssocID="{EB9110A8-6B06-49B5-8182-21303FFE227A}" presName="sibTransNodeCircle" presStyleLbl="alignNode1" presStyleIdx="4" presStyleCnt="8">
        <dgm:presLayoutVars>
          <dgm:chMax val="0"/>
          <dgm:bulletEnabled/>
        </dgm:presLayoutVars>
      </dgm:prSet>
      <dgm:spPr/>
      <dgm:t>
        <a:bodyPr/>
        <a:lstStyle/>
        <a:p>
          <a:endParaRPr/>
        </a:p>
      </dgm:t>
    </dgm:pt>
    <dgm:pt modelId="{1E3A1605-FD17-407F-AA25-B634E3C13F10}" type="pres">
      <dgm:prSet presAssocID="{D15CC8E0-ABEB-4FB3-A967-4BBA46D896E8}" presName="bottomLine" presStyleLbl="alignNode1" presStyleIdx="5" presStyleCnt="8">
        <dgm:presLayoutVars/>
      </dgm:prSet>
      <dgm:spPr>
        <a:solidFill>
          <a:schemeClr val="accent2">
            <a:hueOff val="27884"/>
            <a:satOff val="-19197"/>
            <a:lumOff val="-4902"/>
            <a:alphaOff val="0"/>
          </a:schemeClr>
        </a:solidFill>
        <a:ln w="15875" cap="flat" cmpd="sng" algn="ctr">
          <a:solidFill>
            <a:schemeClr val="accent2">
              <a:hueOff val="27884"/>
              <a:satOff val="-19197"/>
              <a:lumOff val="-4902"/>
              <a:alphaOff val="0"/>
            </a:schemeClr>
          </a:solidFill>
          <a:prstDash val="solid"/>
        </a:ln>
      </dgm:spPr>
      <dgm:t>
        <a:bodyPr/>
        <a:lstStyle/>
        <a:p>
          <a:endParaRPr/>
        </a:p>
      </dgm:t>
    </dgm:pt>
    <dgm:pt modelId="{4C9F2092-CC1F-4A5A-851C-73A0F248C6D1}" type="pres">
      <dgm:prSet presAssocID="{D15CC8E0-ABEB-4FB3-A967-4BBA46D896E8}" presName="nodeText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  <dgm:pt modelId="{C4732397-FCEB-4C96-867C-0DFFEF9D90C1}" type="pres">
      <dgm:prSet presAssocID="{EB9110A8-6B06-49B5-8182-21303FFE227A}" presName="sibTrans" presStyleCnt="0"/>
      <dgm:spPr/>
      <dgm:t>
        <a:bodyPr/>
        <a:lstStyle/>
        <a:p>
          <a:endParaRPr/>
        </a:p>
      </dgm:t>
    </dgm:pt>
    <dgm:pt modelId="{72707167-2A02-4CCA-8FF0-84CDB1BAB15B}" type="pres">
      <dgm:prSet presAssocID="{E49B58F8-5686-4460-B612-C8C29480859E}" presName="compositeNode" presStyleCnt="0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  <dgm:pt modelId="{F3B43C6D-ED22-4353-852F-43707FC683B4}" type="pres">
      <dgm:prSet presAssocID="{E49B58F8-5686-4460-B612-C8C29480859E}" presName="bgRect" presStyleLbl="bgAccFollowNode1" presStyleIdx="3" presStyleCnt="4"/>
      <dgm:spPr/>
      <dgm:t>
        <a:bodyPr/>
        <a:lstStyle/>
        <a:p>
          <a:endParaRPr/>
        </a:p>
      </dgm:t>
    </dgm:pt>
    <dgm:pt modelId="{145ECB34-F09B-4C98-870E-AA827D922822}" type="pres">
      <dgm:prSet presAssocID="{03FD7E1C-0E0B-4466-9611-E01A47F97A92}" presName="sibTransNodeCircle" presStyleLbl="alignNode1" presStyleIdx="6" presStyleCnt="8">
        <dgm:presLayoutVars>
          <dgm:chMax val="0"/>
          <dgm:bulletEnabled/>
        </dgm:presLayoutVars>
      </dgm:prSet>
      <dgm:spPr/>
      <dgm:t>
        <a:bodyPr/>
        <a:lstStyle/>
        <a:p>
          <a:endParaRPr/>
        </a:p>
      </dgm:t>
    </dgm:pt>
    <dgm:pt modelId="{B4F5A08B-6F3C-4A3D-8ECC-8E5F74B2717E}" type="pres">
      <dgm:prSet presAssocID="{E49B58F8-5686-4460-B612-C8C29480859E}" presName="bottomLine" presStyleLbl="alignNode1" presStyleIdx="7" presStyleCnt="8">
        <dgm:presLayoutVars/>
      </dgm:prSet>
      <dgm:spPr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</dgm:spPr>
      <dgm:t>
        <a:bodyPr/>
        <a:lstStyle/>
        <a:p>
          <a:endParaRPr/>
        </a:p>
      </dgm:t>
    </dgm:pt>
    <dgm:pt modelId="{41417D42-3C48-40CB-9A1C-785F1FE1E895}" type="pres">
      <dgm:prSet presAssocID="{E49B58F8-5686-4460-B612-C8C29480859E}" presName="nodeText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/>
        </a:p>
      </dgm:t>
    </dgm:pt>
  </dgm:ptLst>
  <dgm:cxnLst>
    <dgm:cxn modelId="{129F541F-A1E3-423C-9F67-4C1AD0BD3267}" type="presOf" srcId="{D15CC8E0-ABEB-4FB3-A967-4BBA46D896E8}" destId="{4C9F2092-CC1F-4A5A-851C-73A0F248C6D1}" srcOrd="1" destOrd="0" presId="urn:microsoft.com/office/officeart/2016/7/layout/BasicLinearProcessNumbered"/>
    <dgm:cxn modelId="{842357CE-87DF-4747-A3DF-ECBAAB030E98}" type="presOf" srcId="{6AE6DE01-2077-4516-BCB8-4727DA51014A}" destId="{5A53E36A-1AAC-467F-B00E-9187782B5ECD}" srcOrd="0" destOrd="0" presId="urn:microsoft.com/office/officeart/2016/7/layout/BasicLinearProcessNumbered"/>
    <dgm:cxn modelId="{951CB919-A882-423A-B4C0-9DA5EB5674F9}" srcId="{4DDBB7E6-626B-46DB-8E3E-4FC0F3FD0713}" destId="{D15CC8E0-ABEB-4FB3-A967-4BBA46D896E8}" srcOrd="2" destOrd="0" parTransId="{465487C3-316E-4A98-A88B-F26A21EC1575}" sibTransId="{EB9110A8-6B06-49B5-8182-21303FFE227A}"/>
    <dgm:cxn modelId="{6C43DCCC-1B97-4370-9194-91218FEA90AD}" type="presOf" srcId="{03FD7E1C-0E0B-4466-9611-E01A47F97A92}" destId="{145ECB34-F09B-4C98-870E-AA827D922822}" srcOrd="0" destOrd="0" presId="urn:microsoft.com/office/officeart/2016/7/layout/BasicLinearProcessNumbered"/>
    <dgm:cxn modelId="{6FE74476-BF9B-4341-8C19-2D702BAF886F}" type="presOf" srcId="{E9BB1D51-E9EC-48C1-B962-5E9CB4965068}" destId="{863F96EF-26CC-430D-B677-79009C89B505}" srcOrd="0" destOrd="0" presId="urn:microsoft.com/office/officeart/2016/7/layout/BasicLinearProcessNumbered"/>
    <dgm:cxn modelId="{61CDD7F3-7030-4DAD-940A-BA5C4099264C}" type="presOf" srcId="{E49B58F8-5686-4460-B612-C8C29480859E}" destId="{F3B43C6D-ED22-4353-852F-43707FC683B4}" srcOrd="0" destOrd="0" presId="urn:microsoft.com/office/officeart/2016/7/layout/BasicLinearProcessNumbered"/>
    <dgm:cxn modelId="{D8D47BA0-A26A-4141-973F-C4181339F15B}" type="presOf" srcId="{D15CC8E0-ABEB-4FB3-A967-4BBA46D896E8}" destId="{72C2CF87-BA98-4E51-8C67-E56556AE8CC8}" srcOrd="0" destOrd="0" presId="urn:microsoft.com/office/officeart/2016/7/layout/BasicLinearProcessNumbered"/>
    <dgm:cxn modelId="{D4FDA6F6-E314-4261-B867-4868107483DC}" srcId="{4DDBB7E6-626B-46DB-8E3E-4FC0F3FD0713}" destId="{E49B58F8-5686-4460-B612-C8C29480859E}" srcOrd="3" destOrd="0" parTransId="{06707BEF-2E36-43D7-8DD0-BD7AD1D5BDEA}" sibTransId="{03FD7E1C-0E0B-4466-9611-E01A47F97A92}"/>
    <dgm:cxn modelId="{EBCDA10D-26EF-43D6-83D6-08C2DF3F3168}" type="presOf" srcId="{4DDBB7E6-626B-46DB-8E3E-4FC0F3FD0713}" destId="{34BAABB6-4CDF-41E3-854A-936E1FE5EB9A}" srcOrd="0" destOrd="0" presId="urn:microsoft.com/office/officeart/2016/7/layout/BasicLinearProcessNumbered"/>
    <dgm:cxn modelId="{125E255F-AFD1-4E74-954A-4AEB0C50D963}" type="presOf" srcId="{A18DB710-28DB-44C3-8D28-BC2706B9C314}" destId="{C678D1DD-69A9-4A79-BC5F-F419FF34294A}" srcOrd="1" destOrd="0" presId="urn:microsoft.com/office/officeart/2016/7/layout/BasicLinearProcessNumbered"/>
    <dgm:cxn modelId="{8AEF19C4-E4CB-4A28-84C7-2C8FAD278FFB}" srcId="{4DDBB7E6-626B-46DB-8E3E-4FC0F3FD0713}" destId="{A18DB710-28DB-44C3-8D28-BC2706B9C314}" srcOrd="1" destOrd="0" parTransId="{6B4608F3-6AEA-4C35-8497-E259D4250CE4}" sibTransId="{E9BB1D51-E9EC-48C1-B962-5E9CB4965068}"/>
    <dgm:cxn modelId="{0E411637-172C-422E-9A5A-683D0EB5BFBF}" type="presOf" srcId="{6AE6DE01-2077-4516-BCB8-4727DA51014A}" destId="{E8C929AF-9BA7-4F0C-950F-E6C9617AAB88}" srcOrd="1" destOrd="0" presId="urn:microsoft.com/office/officeart/2016/7/layout/BasicLinearProcessNumbered"/>
    <dgm:cxn modelId="{717269F4-F87C-4A30-BEAA-CB713C19CE78}" type="presOf" srcId="{A18DB710-28DB-44C3-8D28-BC2706B9C314}" destId="{EDE842C4-C8CC-430A-ACB8-CDB6EB944D43}" srcOrd="0" destOrd="0" presId="urn:microsoft.com/office/officeart/2016/7/layout/BasicLinearProcessNumbered"/>
    <dgm:cxn modelId="{8D5DEFBB-F7A9-47B2-B3E0-046C3FE8879A}" type="presOf" srcId="{E49B58F8-5686-4460-B612-C8C29480859E}" destId="{41417D42-3C48-40CB-9A1C-785F1FE1E895}" srcOrd="1" destOrd="0" presId="urn:microsoft.com/office/officeart/2016/7/layout/BasicLinearProcessNumbered"/>
    <dgm:cxn modelId="{2E840543-4926-4A8D-9A96-8BBD8C7EA9C1}" type="presOf" srcId="{EB9110A8-6B06-49B5-8182-21303FFE227A}" destId="{2FE57CAF-CE01-409A-934A-054455423FA8}" srcOrd="0" destOrd="0" presId="urn:microsoft.com/office/officeart/2016/7/layout/BasicLinearProcessNumbered"/>
    <dgm:cxn modelId="{F7CD4237-879C-4697-98CF-83677DCCD596}" srcId="{4DDBB7E6-626B-46DB-8E3E-4FC0F3FD0713}" destId="{6AE6DE01-2077-4516-BCB8-4727DA51014A}" srcOrd="0" destOrd="0" parTransId="{F98DCBEA-3C0D-4869-AFB4-CCE79E27F358}" sibTransId="{55EBFF15-A2E3-497C-8AB9-3051955C1E2C}"/>
    <dgm:cxn modelId="{43EF02D8-CE5C-44AC-96F4-AD8DC7F60B46}" type="presOf" srcId="{55EBFF15-A2E3-497C-8AB9-3051955C1E2C}" destId="{BF1F0B41-CCCD-460B-9CAD-B896CB339FFA}" srcOrd="0" destOrd="0" presId="urn:microsoft.com/office/officeart/2016/7/layout/BasicLinearProcessNumbered"/>
    <dgm:cxn modelId="{FDB8ACC0-7102-42FC-BFC4-FC31D22B15F4}" type="presParOf" srcId="{34BAABB6-4CDF-41E3-854A-936E1FE5EB9A}" destId="{0F088E8F-EC4A-4B2E-85B6-85357B7F94DC}" srcOrd="0" destOrd="0" presId="urn:microsoft.com/office/officeart/2016/7/layout/BasicLinearProcessNumbered"/>
    <dgm:cxn modelId="{75E32211-E244-49B1-924E-28F3F7B9FDB2}" type="presParOf" srcId="{0F088E8F-EC4A-4B2E-85B6-85357B7F94DC}" destId="{5A53E36A-1AAC-467F-B00E-9187782B5ECD}" srcOrd="0" destOrd="0" presId="urn:microsoft.com/office/officeart/2016/7/layout/BasicLinearProcessNumbered"/>
    <dgm:cxn modelId="{61C3B970-3EE2-49A7-9523-E89BB48807AC}" type="presParOf" srcId="{0F088E8F-EC4A-4B2E-85B6-85357B7F94DC}" destId="{BF1F0B41-CCCD-460B-9CAD-B896CB339FFA}" srcOrd="1" destOrd="0" presId="urn:microsoft.com/office/officeart/2016/7/layout/BasicLinearProcessNumbered"/>
    <dgm:cxn modelId="{46AC6B0D-5ECE-442A-B2F3-037873F95DC9}" type="presParOf" srcId="{0F088E8F-EC4A-4B2E-85B6-85357B7F94DC}" destId="{4DEDEFEE-98D8-481D-83E0-064B3A64866F}" srcOrd="2" destOrd="0" presId="urn:microsoft.com/office/officeart/2016/7/layout/BasicLinearProcessNumbered"/>
    <dgm:cxn modelId="{E163DC58-D4FD-4977-BD2C-27B073149C73}" type="presParOf" srcId="{0F088E8F-EC4A-4B2E-85B6-85357B7F94DC}" destId="{E8C929AF-9BA7-4F0C-950F-E6C9617AAB88}" srcOrd="3" destOrd="0" presId="urn:microsoft.com/office/officeart/2016/7/layout/BasicLinearProcessNumbered"/>
    <dgm:cxn modelId="{AF6B02E3-E943-4D16-97E1-F3925A1CC8B3}" type="presParOf" srcId="{34BAABB6-4CDF-41E3-854A-936E1FE5EB9A}" destId="{895C83F6-EB4B-4B30-B11B-A95EF7A8AD7D}" srcOrd="1" destOrd="0" presId="urn:microsoft.com/office/officeart/2016/7/layout/BasicLinearProcessNumbered"/>
    <dgm:cxn modelId="{633E70FD-27B0-47AF-BE7A-B21BE1229503}" type="presParOf" srcId="{34BAABB6-4CDF-41E3-854A-936E1FE5EB9A}" destId="{FC22B4F5-611B-4276-B9BC-72C444DFC54D}" srcOrd="2" destOrd="0" presId="urn:microsoft.com/office/officeart/2016/7/layout/BasicLinearProcessNumbered"/>
    <dgm:cxn modelId="{668197FA-D5EF-417C-A8BC-AD85151BECB5}" type="presParOf" srcId="{FC22B4F5-611B-4276-B9BC-72C444DFC54D}" destId="{EDE842C4-C8CC-430A-ACB8-CDB6EB944D43}" srcOrd="0" destOrd="0" presId="urn:microsoft.com/office/officeart/2016/7/layout/BasicLinearProcessNumbered"/>
    <dgm:cxn modelId="{F33A0036-75E7-4B16-89E4-9369D9E429E3}" type="presParOf" srcId="{FC22B4F5-611B-4276-B9BC-72C444DFC54D}" destId="{863F96EF-26CC-430D-B677-79009C89B505}" srcOrd="1" destOrd="0" presId="urn:microsoft.com/office/officeart/2016/7/layout/BasicLinearProcessNumbered"/>
    <dgm:cxn modelId="{DF16CD30-6914-4050-93B6-AC0343095963}" type="presParOf" srcId="{FC22B4F5-611B-4276-B9BC-72C444DFC54D}" destId="{1A9A575B-FE99-4D67-88EA-9F5E4572B373}" srcOrd="2" destOrd="0" presId="urn:microsoft.com/office/officeart/2016/7/layout/BasicLinearProcessNumbered"/>
    <dgm:cxn modelId="{240AC587-4F12-4FE8-804D-FFD537A55909}" type="presParOf" srcId="{FC22B4F5-611B-4276-B9BC-72C444DFC54D}" destId="{C678D1DD-69A9-4A79-BC5F-F419FF34294A}" srcOrd="3" destOrd="0" presId="urn:microsoft.com/office/officeart/2016/7/layout/BasicLinearProcessNumbered"/>
    <dgm:cxn modelId="{FF0524B0-4F6C-46BD-8FAF-5F011A0B1CA7}" type="presParOf" srcId="{34BAABB6-4CDF-41E3-854A-936E1FE5EB9A}" destId="{F237AA43-A089-4676-AA90-B534FE263DBF}" srcOrd="3" destOrd="0" presId="urn:microsoft.com/office/officeart/2016/7/layout/BasicLinearProcessNumbered"/>
    <dgm:cxn modelId="{A1129035-99A5-4631-AE35-D6E64D55D8D8}" type="presParOf" srcId="{34BAABB6-4CDF-41E3-854A-936E1FE5EB9A}" destId="{81F0FE51-8AB7-4EB6-ABCD-3DB6C1FE2454}" srcOrd="4" destOrd="0" presId="urn:microsoft.com/office/officeart/2016/7/layout/BasicLinearProcessNumbered"/>
    <dgm:cxn modelId="{B2215B34-0F46-42D3-9006-1C00A9A59D15}" type="presParOf" srcId="{81F0FE51-8AB7-4EB6-ABCD-3DB6C1FE2454}" destId="{72C2CF87-BA98-4E51-8C67-E56556AE8CC8}" srcOrd="0" destOrd="0" presId="urn:microsoft.com/office/officeart/2016/7/layout/BasicLinearProcessNumbered"/>
    <dgm:cxn modelId="{516768C0-AC00-4F5B-A256-755F50FFE6FA}" type="presParOf" srcId="{81F0FE51-8AB7-4EB6-ABCD-3DB6C1FE2454}" destId="{2FE57CAF-CE01-409A-934A-054455423FA8}" srcOrd="1" destOrd="0" presId="urn:microsoft.com/office/officeart/2016/7/layout/BasicLinearProcessNumbered"/>
    <dgm:cxn modelId="{D03B93F6-5E34-4321-8B22-D015BD06DE9F}" type="presParOf" srcId="{81F0FE51-8AB7-4EB6-ABCD-3DB6C1FE2454}" destId="{1E3A1605-FD17-407F-AA25-B634E3C13F10}" srcOrd="2" destOrd="0" presId="urn:microsoft.com/office/officeart/2016/7/layout/BasicLinearProcessNumbered"/>
    <dgm:cxn modelId="{ED2FCB47-FE8E-405E-A3A1-961446118C0D}" type="presParOf" srcId="{81F0FE51-8AB7-4EB6-ABCD-3DB6C1FE2454}" destId="{4C9F2092-CC1F-4A5A-851C-73A0F248C6D1}" srcOrd="3" destOrd="0" presId="urn:microsoft.com/office/officeart/2016/7/layout/BasicLinearProcessNumbered"/>
    <dgm:cxn modelId="{5D803EAF-292B-49C1-B1DF-6C2CFFDD7FC0}" type="presParOf" srcId="{34BAABB6-4CDF-41E3-854A-936E1FE5EB9A}" destId="{C4732397-FCEB-4C96-867C-0DFFEF9D90C1}" srcOrd="5" destOrd="0" presId="urn:microsoft.com/office/officeart/2016/7/layout/BasicLinearProcessNumbered"/>
    <dgm:cxn modelId="{8B4F751A-0F5F-4FC4-BAC7-403FC48497FC}" type="presParOf" srcId="{34BAABB6-4CDF-41E3-854A-936E1FE5EB9A}" destId="{72707167-2A02-4CCA-8FF0-84CDB1BAB15B}" srcOrd="6" destOrd="0" presId="urn:microsoft.com/office/officeart/2016/7/layout/BasicLinearProcessNumbered"/>
    <dgm:cxn modelId="{0FF70178-5EAA-4665-A160-417D4B5D9F32}" type="presParOf" srcId="{72707167-2A02-4CCA-8FF0-84CDB1BAB15B}" destId="{F3B43C6D-ED22-4353-852F-43707FC683B4}" srcOrd="0" destOrd="0" presId="urn:microsoft.com/office/officeart/2016/7/layout/BasicLinearProcessNumbered"/>
    <dgm:cxn modelId="{198704AD-6146-4084-9C31-58A3C01D57CA}" type="presParOf" srcId="{72707167-2A02-4CCA-8FF0-84CDB1BAB15B}" destId="{145ECB34-F09B-4C98-870E-AA827D922822}" srcOrd="1" destOrd="0" presId="urn:microsoft.com/office/officeart/2016/7/layout/BasicLinearProcessNumbered"/>
    <dgm:cxn modelId="{6527E0B8-542C-40B5-9CAB-C2989E06F509}" type="presParOf" srcId="{72707167-2A02-4CCA-8FF0-84CDB1BAB15B}" destId="{B4F5A08B-6F3C-4A3D-8ECC-8E5F74B2717E}" srcOrd="2" destOrd="0" presId="urn:microsoft.com/office/officeart/2016/7/layout/BasicLinearProcessNumbered"/>
    <dgm:cxn modelId="{2207637D-A856-4A4D-92CB-3E2BF1D53106}" type="presParOf" srcId="{72707167-2A02-4CCA-8FF0-84CDB1BAB15B}" destId="{41417D42-3C48-40CB-9A1C-785F1FE1E89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A53E36A-1AAC-467F-B00E-9187782B5ECD}">
      <dsp:nvSpPr>
        <dsp:cNvPr id="0" name=""/>
        <dsp:cNvSpPr/>
      </dsp:nvSpPr>
      <dsp:spPr>
        <a:xfrm>
          <a:off x="3193" y="36164"/>
          <a:ext cx="2533509" cy="35469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522" tIns="330200" rIns="197522" bIns="33020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/>
            <a:t>RNN is used for sequence / time-series problem</a:t>
          </a:r>
        </a:p>
      </dsp:txBody>
      <dsp:txXfrm>
        <a:off x="3193" y="1383991"/>
        <a:ext cx="2533509" cy="2128147"/>
      </dsp:txXfrm>
    </dsp:sp>
    <dsp:sp modelId="{BF1F0B41-CCCD-460B-9CAD-B896CB339FFA}">
      <dsp:nvSpPr>
        <dsp:cNvPr id="0" name=""/>
        <dsp:cNvSpPr/>
      </dsp:nvSpPr>
      <dsp:spPr>
        <a:xfrm>
          <a:off x="737911" y="390855"/>
          <a:ext cx="1064073" cy="106407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959" tIns="12700" rIns="82959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1</a:t>
          </a:r>
        </a:p>
      </dsp:txBody>
      <dsp:txXfrm>
        <a:off x="737911" y="390855"/>
        <a:ext cx="1064073" cy="1064073"/>
      </dsp:txXfrm>
    </dsp:sp>
    <dsp:sp modelId="{4DEDEFEE-98D8-481D-83E0-064B3A64866F}">
      <dsp:nvSpPr>
        <dsp:cNvPr id="0" name=""/>
        <dsp:cNvSpPr/>
      </dsp:nvSpPr>
      <dsp:spPr>
        <a:xfrm>
          <a:off x="3193" y="3583005"/>
          <a:ext cx="2533509" cy="72"/>
        </a:xfrm>
        <a:prstGeom prst="rect">
          <a:avLst/>
        </a:prstGeom>
        <a:solidFill>
          <a:schemeClr val="accent2">
            <a:hueOff val="5577"/>
            <a:satOff val="-3839"/>
            <a:lumOff val="-980"/>
            <a:alphaOff val="0"/>
          </a:schemeClr>
        </a:solidFill>
        <a:ln w="15875" cap="flat" cmpd="sng" algn="ctr">
          <a:solidFill>
            <a:schemeClr val="accent2">
              <a:hueOff val="5577"/>
              <a:satOff val="-3839"/>
              <a:lumOff val="-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842C4-C8CC-430A-ACB8-CDB6EB944D43}">
      <dsp:nvSpPr>
        <dsp:cNvPr id="0" name=""/>
        <dsp:cNvSpPr/>
      </dsp:nvSpPr>
      <dsp:spPr>
        <a:xfrm>
          <a:off x="2790053" y="36164"/>
          <a:ext cx="2533509" cy="3546913"/>
        </a:xfrm>
        <a:prstGeom prst="rect">
          <a:avLst/>
        </a:prstGeom>
        <a:solidFill>
          <a:schemeClr val="accent2">
            <a:tint val="40000"/>
            <a:alpha val="90000"/>
            <a:hueOff val="82399"/>
            <a:satOff val="-7939"/>
            <a:lumOff val="-837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82399"/>
              <a:satOff val="-7939"/>
              <a:lumOff val="-8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522" tIns="330200" rIns="197522" bIns="33020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/>
            <a:t>Gradient vanishing problem limits its effectiveness</a:t>
          </a:r>
        </a:p>
      </dsp:txBody>
      <dsp:txXfrm>
        <a:off x="2790053" y="1383991"/>
        <a:ext cx="2533509" cy="2128147"/>
      </dsp:txXfrm>
    </dsp:sp>
    <dsp:sp modelId="{863F96EF-26CC-430D-B677-79009C89B505}">
      <dsp:nvSpPr>
        <dsp:cNvPr id="0" name=""/>
        <dsp:cNvSpPr/>
      </dsp:nvSpPr>
      <dsp:spPr>
        <a:xfrm>
          <a:off x="3524771" y="390855"/>
          <a:ext cx="1064073" cy="1064073"/>
        </a:xfrm>
        <a:prstGeom prst="ellipse">
          <a:avLst/>
        </a:prstGeom>
        <a:solidFill>
          <a:schemeClr val="accent2">
            <a:hueOff val="11154"/>
            <a:satOff val="-7679"/>
            <a:lumOff val="-1961"/>
            <a:alphaOff val="0"/>
          </a:schemeClr>
        </a:solidFill>
        <a:ln w="15875" cap="flat" cmpd="sng" algn="ctr">
          <a:solidFill>
            <a:schemeClr val="accent2">
              <a:hueOff val="11154"/>
              <a:satOff val="-7679"/>
              <a:lumOff val="-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959" tIns="12700" rIns="82959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2</a:t>
          </a:r>
        </a:p>
      </dsp:txBody>
      <dsp:txXfrm>
        <a:off x="3524771" y="390855"/>
        <a:ext cx="1064073" cy="1064073"/>
      </dsp:txXfrm>
    </dsp:sp>
    <dsp:sp modelId="{1A9A575B-FE99-4D67-88EA-9F5E4572B373}">
      <dsp:nvSpPr>
        <dsp:cNvPr id="0" name=""/>
        <dsp:cNvSpPr/>
      </dsp:nvSpPr>
      <dsp:spPr>
        <a:xfrm>
          <a:off x="2790053" y="3583005"/>
          <a:ext cx="2533509" cy="72"/>
        </a:xfrm>
        <a:prstGeom prst="rect">
          <a:avLst/>
        </a:prstGeom>
        <a:solidFill>
          <a:schemeClr val="accent2">
            <a:hueOff val="16731"/>
            <a:satOff val="-11518"/>
            <a:lumOff val="-2941"/>
            <a:alphaOff val="0"/>
          </a:schemeClr>
        </a:solidFill>
        <a:ln w="15875" cap="flat" cmpd="sng" algn="ctr">
          <a:solidFill>
            <a:schemeClr val="accent2">
              <a:hueOff val="16731"/>
              <a:satOff val="-11518"/>
              <a:lumOff val="-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2CF87-BA98-4E51-8C67-E56556AE8CC8}">
      <dsp:nvSpPr>
        <dsp:cNvPr id="0" name=""/>
        <dsp:cNvSpPr/>
      </dsp:nvSpPr>
      <dsp:spPr>
        <a:xfrm>
          <a:off x="5576913" y="36164"/>
          <a:ext cx="2533509" cy="3546913"/>
        </a:xfrm>
        <a:prstGeom prst="rect">
          <a:avLst/>
        </a:prstGeom>
        <a:solidFill>
          <a:schemeClr val="accent2">
            <a:tint val="40000"/>
            <a:alpha val="90000"/>
            <a:hueOff val="164799"/>
            <a:satOff val="-15877"/>
            <a:lumOff val="-167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64799"/>
              <a:satOff val="-15877"/>
              <a:lumOff val="-16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522" tIns="330200" rIns="197522" bIns="33020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/>
            <a:t>LSTM cell to eliminate problem</a:t>
          </a:r>
        </a:p>
      </dsp:txBody>
      <dsp:txXfrm>
        <a:off x="5576913" y="1383991"/>
        <a:ext cx="2533509" cy="2128147"/>
      </dsp:txXfrm>
    </dsp:sp>
    <dsp:sp modelId="{2FE57CAF-CE01-409A-934A-054455423FA8}">
      <dsp:nvSpPr>
        <dsp:cNvPr id="0" name=""/>
        <dsp:cNvSpPr/>
      </dsp:nvSpPr>
      <dsp:spPr>
        <a:xfrm>
          <a:off x="6311631" y="390855"/>
          <a:ext cx="1064073" cy="1064073"/>
        </a:xfrm>
        <a:prstGeom prst="ellipse">
          <a:avLst/>
        </a:prstGeom>
        <a:solidFill>
          <a:schemeClr val="accent2">
            <a:hueOff val="22307"/>
            <a:satOff val="-15358"/>
            <a:lumOff val="-3922"/>
            <a:alphaOff val="0"/>
          </a:schemeClr>
        </a:solidFill>
        <a:ln w="15875" cap="flat" cmpd="sng" algn="ctr">
          <a:solidFill>
            <a:schemeClr val="accent2">
              <a:hueOff val="22307"/>
              <a:satOff val="-15358"/>
              <a:lumOff val="-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959" tIns="12700" rIns="82959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3</a:t>
          </a:r>
        </a:p>
      </dsp:txBody>
      <dsp:txXfrm>
        <a:off x="6311631" y="390855"/>
        <a:ext cx="1064073" cy="1064073"/>
      </dsp:txXfrm>
    </dsp:sp>
    <dsp:sp modelId="{1E3A1605-FD17-407F-AA25-B634E3C13F10}">
      <dsp:nvSpPr>
        <dsp:cNvPr id="0" name=""/>
        <dsp:cNvSpPr/>
      </dsp:nvSpPr>
      <dsp:spPr>
        <a:xfrm>
          <a:off x="5576913" y="3583005"/>
          <a:ext cx="2533509" cy="72"/>
        </a:xfrm>
        <a:prstGeom prst="rect">
          <a:avLst/>
        </a:prstGeom>
        <a:solidFill>
          <a:schemeClr val="accent2">
            <a:hueOff val="27884"/>
            <a:satOff val="-19197"/>
            <a:lumOff val="-4902"/>
            <a:alphaOff val="0"/>
          </a:schemeClr>
        </a:solidFill>
        <a:ln w="15875" cap="flat" cmpd="sng" algn="ctr">
          <a:solidFill>
            <a:schemeClr val="accent2">
              <a:hueOff val="27884"/>
              <a:satOff val="-19197"/>
              <a:lumOff val="-4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43C6D-ED22-4353-852F-43707FC683B4}">
      <dsp:nvSpPr>
        <dsp:cNvPr id="0" name=""/>
        <dsp:cNvSpPr/>
      </dsp:nvSpPr>
      <dsp:spPr>
        <a:xfrm>
          <a:off x="8363774" y="36164"/>
          <a:ext cx="2533509" cy="3546913"/>
        </a:xfrm>
        <a:prstGeom prst="rect">
          <a:avLst/>
        </a:prstGeom>
        <a:solidFill>
          <a:schemeClr val="accent2">
            <a:tint val="40000"/>
            <a:alpha val="90000"/>
            <a:hueOff val="247198"/>
            <a:satOff val="-23816"/>
            <a:lumOff val="-251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47198"/>
              <a:satOff val="-23816"/>
              <a:lumOff val="-2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522" tIns="330200" rIns="197522" bIns="33020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/>
            <a:t>Practically LSTM works much better than RNN</a:t>
          </a:r>
        </a:p>
      </dsp:txBody>
      <dsp:txXfrm>
        <a:off x="8363774" y="1383991"/>
        <a:ext cx="2533509" cy="2128147"/>
      </dsp:txXfrm>
    </dsp:sp>
    <dsp:sp modelId="{145ECB34-F09B-4C98-870E-AA827D922822}">
      <dsp:nvSpPr>
        <dsp:cNvPr id="0" name=""/>
        <dsp:cNvSpPr/>
      </dsp:nvSpPr>
      <dsp:spPr>
        <a:xfrm>
          <a:off x="9098491" y="390855"/>
          <a:ext cx="1064073" cy="1064073"/>
        </a:xfrm>
        <a:prstGeom prst="ellipse">
          <a:avLst/>
        </a:prstGeom>
        <a:solidFill>
          <a:schemeClr val="accent2">
            <a:hueOff val="33461"/>
            <a:satOff val="-23037"/>
            <a:lumOff val="-5883"/>
            <a:alphaOff val="0"/>
          </a:schemeClr>
        </a:solidFill>
        <a:ln w="15875" cap="flat" cmpd="sng" algn="ctr">
          <a:solidFill>
            <a:schemeClr val="accent2">
              <a:hueOff val="33461"/>
              <a:satOff val="-23037"/>
              <a:lumOff val="-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959" tIns="12700" rIns="82959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4</a:t>
          </a:r>
        </a:p>
      </dsp:txBody>
      <dsp:txXfrm>
        <a:off x="9098491" y="390855"/>
        <a:ext cx="1064073" cy="1064073"/>
      </dsp:txXfrm>
    </dsp:sp>
    <dsp:sp modelId="{B4F5A08B-6F3C-4A3D-8ECC-8E5F74B2717E}">
      <dsp:nvSpPr>
        <dsp:cNvPr id="0" name=""/>
        <dsp:cNvSpPr/>
      </dsp:nvSpPr>
      <dsp:spPr>
        <a:xfrm>
          <a:off x="8363774" y="3583005"/>
          <a:ext cx="2533509" cy="72"/>
        </a:xfrm>
        <a:prstGeom prst="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=""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6638D-C487-47A8-A1AC-5759DF9CEB2A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2EF9F-2071-4774-8509-304BE101B8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8849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Input, hidden, output layers,</a:t>
            </a:r>
          </a:p>
          <a:p>
            <a:r>
              <a:rPr lang="en-US"/>
              <a:t>The output of one layer is the linear combination of the output of previous layers followed by an activation func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2EF9F-2071-4774-8509-304BE101B81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3929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class of classic classification problem is called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2EF9F-2071-4774-8509-304BE101B81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5336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only difference from NN</a:t>
            </a:r>
          </a:p>
          <a:p>
            <a:endParaRPr lang="en-US"/>
          </a:p>
          <a:p>
            <a:r>
              <a:rPr lang="en-US"/>
              <a:t>Two ways to illustrate RNN, rolled and unrolled expression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2EF9F-2071-4774-8509-304BE101B81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50671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 to one (only care about the last output)</a:t>
            </a:r>
          </a:p>
          <a:p>
            <a:endParaRPr lang="en-US"/>
          </a:p>
          <a:p>
            <a:r>
              <a:rPr lang="en-US"/>
              <a:t>One to Many (auto-completion)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2EF9F-2071-4774-8509-304BE101B81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57150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motivation for RNN is to learn the dependency between the current output and previous inputs</a:t>
            </a:r>
          </a:p>
          <a:p>
            <a:r>
              <a:rPr lang="en-US"/>
              <a:t>When the separation between them is long</a:t>
            </a:r>
          </a:p>
          <a:p>
            <a:r>
              <a:rPr lang="en-US"/>
              <a:t>There will be gradient vanishing problem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2EF9F-2071-4774-8509-304BE101B81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67615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Common activation functions sigmoid</a:t>
            </a:r>
          </a:p>
          <a:p>
            <a:r>
              <a:rPr lang="en-US"/>
              <a:t>The final math op to derive the output is the activation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2EF9F-2071-4774-8509-304BE101B81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169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62CD522-147E-42FB-BB21-80950CE0DFF6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9398AF5-4F48-448C-8CAE-B9573654DB6C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83FAA40-1648-40F7-ABD1-94F9CBC5E40D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98C56CF-D39E-4AF2-8604-A0D5C1C955BB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F7B07EBA-3021-46FF-A14D-4770B425E6D0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C4067DB-F5A0-43BE-84CE-B8264F00A97B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261C458F-7CCA-4443-8251-AD21116251A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EE8130F-5E62-49D7-9471-223D40E6D26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21C5551-FEAD-4FEE-8A72-3983BBC98B40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A66383E-B671-48AA-995E-33C3A6BAC5A4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F87D10D-F08A-4C32-A5E3-59BF27CF24D4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29180" y="1338422"/>
            <a:ext cx="8533638" cy="326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49579" y="3478479"/>
            <a:ext cx="10492841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/>
              <a:pPr marL="38100">
                <a:lnSpc>
                  <a:spcPts val="1240"/>
                </a:lnSpc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/>
              <a:pPr marL="38100">
                <a:lnSpc>
                  <a:spcPts val="1240"/>
                </a:lnSpc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/>
              <a:pPr marL="38100">
                <a:lnSpc>
                  <a:spcPts val="1240"/>
                </a:lnSpc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/>
              <a:pPr marL="38100">
                <a:lnSpc>
                  <a:spcPts val="1240"/>
                </a:lnSpc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/>
              <a:pPr marL="38100">
                <a:lnSpc>
                  <a:spcPts val="1240"/>
                </a:lnSpc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91734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956445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1131394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876036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7458036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659432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581826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031974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ct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8687274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205055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8305406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850900"/>
          </a:xfrm>
          <a:custGeom>
            <a:avLst/>
            <a:gdLst/>
            <a:ahLst/>
            <a:cxnLst/>
            <a:rect l="l" t="t" r="r" b="b"/>
            <a:pathLst>
              <a:path w="12192000" h="850900">
                <a:moveTo>
                  <a:pt x="12192000" y="0"/>
                </a:moveTo>
                <a:lnTo>
                  <a:pt x="0" y="0"/>
                </a:lnTo>
                <a:lnTo>
                  <a:pt x="0" y="850391"/>
                </a:lnTo>
                <a:lnTo>
                  <a:pt x="12192000" y="8503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5333E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573511" y="280415"/>
            <a:ext cx="1085088" cy="2895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7932" y="1417700"/>
            <a:ext cx="3347085" cy="94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5804" y="1616201"/>
            <a:ext cx="10540390" cy="3931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244" y="6466738"/>
            <a:ext cx="72643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rlito"/>
                <a:ea typeface="+mn-ea"/>
                <a:cs typeface="Carli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4654" y="6466738"/>
            <a:ext cx="2286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rlito"/>
                <a:ea typeface="+mn-ea"/>
                <a:cs typeface="Carli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/>
              <a:pPr marL="38100">
                <a:lnSpc>
                  <a:spcPts val="1240"/>
                </a:lnSpc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C31D8D-19D7-4B9B-9887-65A479E187A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B356EF-D225-4406-B13E-31E52E9EEF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5497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Tx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ai.stackexchange.com/questions/5493/what-is-the-purpose-of-an-activation-function-in-neural-networks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ctivation-functions-neural-networks-1cbd9f8d91d6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Are The Parts Of The Neuron? - DocLists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55A8716-FA00-4F8A-A9BF-8CF28B9D7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9929" y="807244"/>
            <a:ext cx="11734800" cy="605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760981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euron network example diagram, vector illustration - VectorMine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8E0CCA2-875D-48EE-9E7F-33B3DDCB9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333500" y="1066800"/>
            <a:ext cx="952500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C39DC52-081A-4B67-AF9C-E5FFD1C1C663}"/>
              </a:ext>
            </a:extLst>
          </p:cNvPr>
          <p:cNvSpPr txBox="1"/>
          <p:nvPr/>
        </p:nvSpPr>
        <p:spPr>
          <a:xfrm>
            <a:off x="0" y="15240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Neuron – Neuron Interconnection </a:t>
            </a:r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209130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59638"/>
            <a:ext cx="69342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635" dirty="0"/>
              <a:t>Why </a:t>
            </a:r>
            <a:r>
              <a:rPr lang="en-IN" sz="3200" spc="-635" dirty="0" smtClean="0"/>
              <a:t>    </a:t>
            </a:r>
            <a:r>
              <a:rPr sz="3200" spc="-520" dirty="0" smtClean="0"/>
              <a:t>we </a:t>
            </a:r>
            <a:r>
              <a:rPr lang="en-IN" sz="3200" spc="-520" dirty="0" smtClean="0"/>
              <a:t>   </a:t>
            </a:r>
            <a:r>
              <a:rPr sz="3200" spc="-455" dirty="0" smtClean="0"/>
              <a:t>use </a:t>
            </a:r>
            <a:r>
              <a:rPr lang="en-IN" sz="3200" spc="-455" dirty="0" smtClean="0"/>
              <a:t> </a:t>
            </a:r>
            <a:r>
              <a:rPr sz="3200" spc="-385" dirty="0" smtClean="0"/>
              <a:t>Activation</a:t>
            </a:r>
            <a:r>
              <a:rPr sz="3200" spc="-310" dirty="0" smtClean="0"/>
              <a:t> </a:t>
            </a:r>
            <a:r>
              <a:rPr lang="en-IN" sz="3200" spc="-310" dirty="0" smtClean="0"/>
              <a:t> </a:t>
            </a:r>
            <a:r>
              <a:rPr sz="3200" spc="-390" dirty="0" smtClean="0"/>
              <a:t>functions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731316" y="1437258"/>
            <a:ext cx="4908550" cy="3604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41910">
              <a:lnSpc>
                <a:spcPct val="101699"/>
              </a:lnSpc>
              <a:spcBef>
                <a:spcPts val="90"/>
              </a:spcBef>
            </a:pPr>
            <a:r>
              <a:rPr sz="2100" b="1" i="1" spc="15">
                <a:solidFill>
                  <a:srgbClr val="FF0000"/>
                </a:solidFill>
                <a:latin typeface="Carlito"/>
                <a:cs typeface="Carlito"/>
              </a:rPr>
              <a:t>Activation </a:t>
            </a:r>
            <a:r>
              <a:rPr sz="2100" i="1" spc="10">
                <a:latin typeface="Carlito"/>
                <a:cs typeface="Carlito"/>
              </a:rPr>
              <a:t>functions </a:t>
            </a:r>
            <a:r>
              <a:rPr sz="2100" spc="5">
                <a:latin typeface="Carlito"/>
                <a:cs typeface="Carlito"/>
              </a:rPr>
              <a:t>are </a:t>
            </a:r>
            <a:r>
              <a:rPr sz="2100">
                <a:latin typeface="Carlito"/>
                <a:cs typeface="Carlito"/>
              </a:rPr>
              <a:t>really </a:t>
            </a:r>
            <a:r>
              <a:rPr sz="2100" spc="10">
                <a:latin typeface="Carlito"/>
                <a:cs typeface="Carlito"/>
              </a:rPr>
              <a:t>important</a:t>
            </a:r>
            <a:r>
              <a:rPr sz="2100" spc="-75">
                <a:latin typeface="Carlito"/>
                <a:cs typeface="Carlito"/>
              </a:rPr>
              <a:t> </a:t>
            </a:r>
            <a:r>
              <a:rPr sz="2100" spc="-10">
                <a:latin typeface="Carlito"/>
                <a:cs typeface="Carlito"/>
              </a:rPr>
              <a:t>for  </a:t>
            </a:r>
            <a:r>
              <a:rPr sz="2100" spc="15">
                <a:latin typeface="Carlito"/>
                <a:cs typeface="Carlito"/>
              </a:rPr>
              <a:t>a </a:t>
            </a:r>
            <a:r>
              <a:rPr sz="2100" spc="5">
                <a:latin typeface="Carlito"/>
                <a:cs typeface="Carlito"/>
              </a:rPr>
              <a:t>Artificial </a:t>
            </a:r>
            <a:r>
              <a:rPr sz="2100">
                <a:latin typeface="Carlito"/>
                <a:cs typeface="Carlito"/>
              </a:rPr>
              <a:t>Neural </a:t>
            </a:r>
            <a:r>
              <a:rPr sz="2100" spc="10">
                <a:latin typeface="Carlito"/>
                <a:cs typeface="Carlito"/>
              </a:rPr>
              <a:t>Network </a:t>
            </a:r>
            <a:r>
              <a:rPr sz="2100">
                <a:latin typeface="Carlito"/>
                <a:cs typeface="Carlito"/>
              </a:rPr>
              <a:t>to </a:t>
            </a:r>
            <a:r>
              <a:rPr sz="2100" spc="10">
                <a:latin typeface="Carlito"/>
                <a:cs typeface="Carlito"/>
              </a:rPr>
              <a:t>learn </a:t>
            </a:r>
            <a:r>
              <a:rPr sz="2100" spc="15">
                <a:latin typeface="Carlito"/>
                <a:cs typeface="Carlito"/>
              </a:rPr>
              <a:t>and  </a:t>
            </a:r>
            <a:r>
              <a:rPr sz="2100">
                <a:latin typeface="Carlito"/>
                <a:cs typeface="Carlito"/>
              </a:rPr>
              <a:t>make </a:t>
            </a:r>
            <a:r>
              <a:rPr sz="2100" spc="10">
                <a:latin typeface="Carlito"/>
                <a:cs typeface="Carlito"/>
              </a:rPr>
              <a:t>sense Non-linear </a:t>
            </a:r>
            <a:r>
              <a:rPr sz="2100" spc="5">
                <a:latin typeface="Carlito"/>
                <a:cs typeface="Carlito"/>
              </a:rPr>
              <a:t>complex </a:t>
            </a:r>
            <a:r>
              <a:rPr sz="2100" spc="10">
                <a:latin typeface="Carlito"/>
                <a:cs typeface="Carlito"/>
              </a:rPr>
              <a:t>functional  </a:t>
            </a:r>
            <a:r>
              <a:rPr sz="2100" spc="15">
                <a:latin typeface="Carlito"/>
                <a:cs typeface="Carlito"/>
              </a:rPr>
              <a:t>mappings </a:t>
            </a:r>
            <a:r>
              <a:rPr sz="2100" spc="10">
                <a:latin typeface="Carlito"/>
                <a:cs typeface="Carlito"/>
              </a:rPr>
              <a:t>between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spc="10">
                <a:latin typeface="Carlito"/>
                <a:cs typeface="Carlito"/>
              </a:rPr>
              <a:t>inputs </a:t>
            </a:r>
            <a:r>
              <a:rPr sz="2100" spc="15">
                <a:latin typeface="Carlito"/>
                <a:cs typeface="Carlito"/>
              </a:rPr>
              <a:t>and </a:t>
            </a:r>
            <a:r>
              <a:rPr sz="2100" spc="10">
                <a:latin typeface="Carlito"/>
                <a:cs typeface="Carlito"/>
              </a:rPr>
              <a:t>response  </a:t>
            </a:r>
            <a:r>
              <a:rPr sz="2100" spc="5">
                <a:latin typeface="Carlito"/>
                <a:cs typeface="Carlito"/>
              </a:rPr>
              <a:t>variable.</a:t>
            </a:r>
            <a:endParaRPr sz="21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Carlito"/>
              <a:cs typeface="Carlito"/>
            </a:endParaRPr>
          </a:p>
          <a:p>
            <a:pPr marL="12700" marR="5080">
              <a:lnSpc>
                <a:spcPct val="101699"/>
              </a:lnSpc>
            </a:pPr>
            <a:r>
              <a:rPr sz="2100" spc="5">
                <a:latin typeface="Carlito"/>
                <a:cs typeface="Carlito"/>
              </a:rPr>
              <a:t>They </a:t>
            </a:r>
            <a:r>
              <a:rPr sz="2100" i="1" spc="10">
                <a:latin typeface="Carlito"/>
                <a:cs typeface="Carlito"/>
              </a:rPr>
              <a:t>introduce </a:t>
            </a:r>
            <a:r>
              <a:rPr sz="2100" i="1" spc="15">
                <a:latin typeface="Carlito"/>
                <a:cs typeface="Carlito"/>
              </a:rPr>
              <a:t>non-linear properties </a:t>
            </a:r>
            <a:r>
              <a:rPr sz="2100" i="1" spc="5">
                <a:latin typeface="Carlito"/>
                <a:cs typeface="Carlito"/>
              </a:rPr>
              <a:t>to </a:t>
            </a:r>
            <a:r>
              <a:rPr sz="2100" i="1" spc="15">
                <a:latin typeface="Carlito"/>
                <a:cs typeface="Carlito"/>
              </a:rPr>
              <a:t>our  Network. </a:t>
            </a:r>
            <a:r>
              <a:rPr sz="2100" i="1" spc="10">
                <a:latin typeface="Carlito"/>
                <a:cs typeface="Carlito"/>
              </a:rPr>
              <a:t>Their </a:t>
            </a:r>
            <a:r>
              <a:rPr sz="2100" b="1" i="1" spc="20">
                <a:solidFill>
                  <a:srgbClr val="FF0000"/>
                </a:solidFill>
                <a:latin typeface="Carlito"/>
                <a:cs typeface="Carlito"/>
              </a:rPr>
              <a:t>main </a:t>
            </a:r>
            <a:r>
              <a:rPr sz="2100" b="1" i="1" spc="15">
                <a:solidFill>
                  <a:srgbClr val="FF0000"/>
                </a:solidFill>
                <a:latin typeface="Carlito"/>
                <a:cs typeface="Carlito"/>
              </a:rPr>
              <a:t>purpose </a:t>
            </a:r>
            <a:r>
              <a:rPr sz="2100" b="1" i="1" spc="10">
                <a:solidFill>
                  <a:srgbClr val="FF0000"/>
                </a:solidFill>
                <a:latin typeface="Carlito"/>
                <a:cs typeface="Carlito"/>
              </a:rPr>
              <a:t>is </a:t>
            </a:r>
            <a:r>
              <a:rPr sz="2100" b="1" i="1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2100" b="1" i="1" spc="5">
                <a:solidFill>
                  <a:srgbClr val="FF0000"/>
                </a:solidFill>
                <a:latin typeface="Carlito"/>
                <a:cs typeface="Carlito"/>
              </a:rPr>
              <a:t>convert </a:t>
            </a:r>
            <a:r>
              <a:rPr sz="2100" b="1" i="1" spc="20">
                <a:solidFill>
                  <a:srgbClr val="FF0000"/>
                </a:solidFill>
                <a:latin typeface="Carlito"/>
                <a:cs typeface="Carlito"/>
              </a:rPr>
              <a:t>a  </a:t>
            </a:r>
            <a:r>
              <a:rPr sz="2100" b="1" i="1" spc="15">
                <a:solidFill>
                  <a:srgbClr val="FF0000"/>
                </a:solidFill>
                <a:latin typeface="Carlito"/>
                <a:cs typeface="Carlito"/>
              </a:rPr>
              <a:t>input </a:t>
            </a:r>
            <a:r>
              <a:rPr sz="2100" b="1" i="1" spc="10">
                <a:solidFill>
                  <a:srgbClr val="FF0000"/>
                </a:solidFill>
                <a:latin typeface="Carlito"/>
                <a:cs typeface="Carlito"/>
              </a:rPr>
              <a:t>signal of </a:t>
            </a:r>
            <a:r>
              <a:rPr sz="2100" b="1" i="1" spc="15">
                <a:solidFill>
                  <a:srgbClr val="FF0000"/>
                </a:solidFill>
                <a:latin typeface="Carlito"/>
                <a:cs typeface="Carlito"/>
              </a:rPr>
              <a:t>a </a:t>
            </a:r>
            <a:r>
              <a:rPr sz="2100" b="1" i="1" spc="10">
                <a:solidFill>
                  <a:srgbClr val="FF0000"/>
                </a:solidFill>
                <a:latin typeface="Carlito"/>
                <a:cs typeface="Carlito"/>
              </a:rPr>
              <a:t>node in </a:t>
            </a:r>
            <a:r>
              <a:rPr sz="2100" b="1" i="1" spc="15">
                <a:solidFill>
                  <a:srgbClr val="FF0000"/>
                </a:solidFill>
                <a:latin typeface="Carlito"/>
                <a:cs typeface="Carlito"/>
              </a:rPr>
              <a:t>a A-NN </a:t>
            </a:r>
            <a:r>
              <a:rPr sz="2100" b="1" i="1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2100" b="1" i="1" spc="15">
                <a:solidFill>
                  <a:srgbClr val="FF0000"/>
                </a:solidFill>
                <a:latin typeface="Carlito"/>
                <a:cs typeface="Carlito"/>
              </a:rPr>
              <a:t>an  </a:t>
            </a:r>
            <a:r>
              <a:rPr sz="2100" b="1" i="1" spc="10">
                <a:solidFill>
                  <a:srgbClr val="FF0000"/>
                </a:solidFill>
                <a:latin typeface="Carlito"/>
                <a:cs typeface="Carlito"/>
              </a:rPr>
              <a:t>output signal. </a:t>
            </a:r>
            <a:r>
              <a:rPr sz="2100" spc="10">
                <a:latin typeface="Carlito"/>
                <a:cs typeface="Carlito"/>
              </a:rPr>
              <a:t>That </a:t>
            </a:r>
            <a:r>
              <a:rPr sz="2100" spc="15">
                <a:latin typeface="Carlito"/>
                <a:cs typeface="Carlito"/>
              </a:rPr>
              <a:t>output </a:t>
            </a:r>
            <a:r>
              <a:rPr sz="2100" spc="10">
                <a:latin typeface="Carlito"/>
                <a:cs typeface="Carlito"/>
              </a:rPr>
              <a:t>signal </a:t>
            </a:r>
            <a:r>
              <a:rPr sz="2100" spc="15">
                <a:latin typeface="Carlito"/>
                <a:cs typeface="Carlito"/>
              </a:rPr>
              <a:t>now </a:t>
            </a:r>
            <a:r>
              <a:rPr sz="2100">
                <a:latin typeface="Carlito"/>
                <a:cs typeface="Carlito"/>
              </a:rPr>
              <a:t>is  </a:t>
            </a:r>
            <a:r>
              <a:rPr sz="2100" spc="15">
                <a:latin typeface="Carlito"/>
                <a:cs typeface="Carlito"/>
              </a:rPr>
              <a:t>used as a </a:t>
            </a:r>
            <a:r>
              <a:rPr sz="2100" spc="10">
                <a:latin typeface="Carlito"/>
                <a:cs typeface="Carlito"/>
              </a:rPr>
              <a:t>input </a:t>
            </a:r>
            <a:r>
              <a:rPr sz="2100" spc="5">
                <a:latin typeface="Carlito"/>
                <a:cs typeface="Carlito"/>
              </a:rPr>
              <a:t>in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spc="5">
                <a:latin typeface="Carlito"/>
                <a:cs typeface="Carlito"/>
              </a:rPr>
              <a:t>next </a:t>
            </a:r>
            <a:r>
              <a:rPr sz="2100" spc="-5">
                <a:latin typeface="Carlito"/>
                <a:cs typeface="Carlito"/>
              </a:rPr>
              <a:t>layer </a:t>
            </a:r>
            <a:r>
              <a:rPr sz="2100" spc="5">
                <a:latin typeface="Carlito"/>
                <a:cs typeface="Carlito"/>
              </a:rPr>
              <a:t>in </a:t>
            </a:r>
            <a:r>
              <a:rPr sz="2100" spc="15">
                <a:latin typeface="Carlito"/>
                <a:cs typeface="Carlito"/>
              </a:rPr>
              <a:t>the</a:t>
            </a:r>
            <a:r>
              <a:rPr sz="2100" spc="-10">
                <a:latin typeface="Carlito"/>
                <a:cs typeface="Carlito"/>
              </a:rPr>
              <a:t> </a:t>
            </a:r>
            <a:r>
              <a:rPr sz="2100" spc="5">
                <a:latin typeface="Carlito"/>
                <a:cs typeface="Carlito"/>
              </a:rPr>
              <a:t>stack.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3802" y="5879998"/>
            <a:ext cx="854519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2"/>
              </a:rPr>
              <a:t>https://ai.stackexchange.com/questions/5493/what-is-the-purpose-of-an-activation-function-in-neural-networks</a:t>
            </a:r>
            <a:endParaRPr sz="14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81471" y="1786127"/>
            <a:ext cx="3057144" cy="3020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90431" y="1786127"/>
            <a:ext cx="3127248" cy="3020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74654" y="6447459"/>
            <a:ext cx="24002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390"/>
              </a:lnSpc>
            </a:pPr>
            <a:fld id="{81D60167-4931-47E6-BA6A-407CBD079E47}" type="slidenum">
              <a:rPr sz="1200">
                <a:solidFill>
                  <a:srgbClr val="888888"/>
                </a:solidFill>
                <a:latin typeface="Carlito"/>
                <a:cs typeface="Carlito"/>
              </a:rPr>
              <a:pPr marL="38100">
                <a:lnSpc>
                  <a:spcPts val="1390"/>
                </a:lnSpc>
              </a:pPr>
              <a:t>3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14454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192" y="194513"/>
            <a:ext cx="5782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0"/>
              <a:t>why </a:t>
            </a:r>
            <a:r>
              <a:rPr sz="2400" spc="-235"/>
              <a:t>can’t </a:t>
            </a:r>
            <a:r>
              <a:rPr sz="2400" spc="-390"/>
              <a:t>we </a:t>
            </a:r>
            <a:r>
              <a:rPr sz="2400" spc="-330"/>
              <a:t>do </a:t>
            </a:r>
            <a:r>
              <a:rPr sz="2400" spc="-135"/>
              <a:t>it </a:t>
            </a:r>
            <a:r>
              <a:rPr sz="2400" spc="-285"/>
              <a:t>without </a:t>
            </a:r>
            <a:r>
              <a:rPr sz="2400" spc="-260"/>
              <a:t>activating </a:t>
            </a:r>
            <a:r>
              <a:rPr sz="2400" spc="-250"/>
              <a:t>the input</a:t>
            </a:r>
            <a:r>
              <a:rPr sz="2400" spc="-305"/>
              <a:t> </a:t>
            </a:r>
            <a:r>
              <a:rPr sz="2400" spc="-270"/>
              <a:t>signal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5946647" y="1694688"/>
            <a:ext cx="5666232" cy="2011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2555" y="1406779"/>
            <a:ext cx="10420350" cy="4808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803900">
              <a:lnSpc>
                <a:spcPct val="101699"/>
              </a:lnSpc>
              <a:spcBef>
                <a:spcPts val="90"/>
              </a:spcBef>
            </a:pPr>
            <a:r>
              <a:rPr sz="2100" spc="185">
                <a:latin typeface="Trebuchet MS"/>
                <a:cs typeface="Trebuchet MS"/>
              </a:rPr>
              <a:t>A </a:t>
            </a:r>
            <a:r>
              <a:rPr sz="2100" spc="-105">
                <a:latin typeface="Trebuchet MS"/>
                <a:cs typeface="Trebuchet MS"/>
              </a:rPr>
              <a:t>linear </a:t>
            </a:r>
            <a:r>
              <a:rPr sz="2100" spc="-95">
                <a:latin typeface="Trebuchet MS"/>
                <a:cs typeface="Trebuchet MS"/>
              </a:rPr>
              <a:t>equation </a:t>
            </a:r>
            <a:r>
              <a:rPr sz="2100" spc="-75">
                <a:latin typeface="Trebuchet MS"/>
                <a:cs typeface="Trebuchet MS"/>
              </a:rPr>
              <a:t>is </a:t>
            </a:r>
            <a:r>
              <a:rPr sz="2100" spc="-114">
                <a:latin typeface="Trebuchet MS"/>
                <a:cs typeface="Trebuchet MS"/>
              </a:rPr>
              <a:t>easy </a:t>
            </a:r>
            <a:r>
              <a:rPr sz="2100" spc="-35">
                <a:latin typeface="Trebuchet MS"/>
                <a:cs typeface="Trebuchet MS"/>
              </a:rPr>
              <a:t>to </a:t>
            </a:r>
            <a:r>
              <a:rPr sz="2100" spc="-80">
                <a:latin typeface="Trebuchet MS"/>
                <a:cs typeface="Trebuchet MS"/>
              </a:rPr>
              <a:t>solve </a:t>
            </a:r>
            <a:r>
              <a:rPr sz="2100" spc="-95">
                <a:latin typeface="Trebuchet MS"/>
                <a:cs typeface="Trebuchet MS"/>
              </a:rPr>
              <a:t>but</a:t>
            </a:r>
            <a:r>
              <a:rPr sz="2100" spc="-265">
                <a:latin typeface="Trebuchet MS"/>
                <a:cs typeface="Trebuchet MS"/>
              </a:rPr>
              <a:t> </a:t>
            </a:r>
            <a:r>
              <a:rPr sz="2100" spc="-110">
                <a:latin typeface="Trebuchet MS"/>
                <a:cs typeface="Trebuchet MS"/>
              </a:rPr>
              <a:t>they  </a:t>
            </a:r>
            <a:r>
              <a:rPr sz="2100" spc="-114">
                <a:latin typeface="Trebuchet MS"/>
                <a:cs typeface="Trebuchet MS"/>
              </a:rPr>
              <a:t>are limited </a:t>
            </a:r>
            <a:r>
              <a:rPr sz="2100" spc="-105">
                <a:latin typeface="Trebuchet MS"/>
                <a:cs typeface="Trebuchet MS"/>
              </a:rPr>
              <a:t>in </a:t>
            </a:r>
            <a:r>
              <a:rPr sz="2100" spc="-80">
                <a:latin typeface="Trebuchet MS"/>
                <a:cs typeface="Trebuchet MS"/>
              </a:rPr>
              <a:t>their </a:t>
            </a:r>
            <a:r>
              <a:rPr sz="2100" spc="-85">
                <a:latin typeface="Trebuchet MS"/>
                <a:cs typeface="Trebuchet MS"/>
              </a:rPr>
              <a:t>complexity </a:t>
            </a:r>
            <a:r>
              <a:rPr sz="2100" spc="-114">
                <a:latin typeface="Trebuchet MS"/>
                <a:cs typeface="Trebuchet MS"/>
              </a:rPr>
              <a:t>and </a:t>
            </a:r>
            <a:r>
              <a:rPr sz="2100" spc="-155">
                <a:latin typeface="Trebuchet MS"/>
                <a:cs typeface="Trebuchet MS"/>
              </a:rPr>
              <a:t>have  </a:t>
            </a:r>
            <a:r>
              <a:rPr sz="2100" spc="-80">
                <a:latin typeface="Trebuchet MS"/>
                <a:cs typeface="Trebuchet MS"/>
              </a:rPr>
              <a:t>less </a:t>
            </a:r>
            <a:r>
              <a:rPr sz="2100" spc="-50">
                <a:latin typeface="Trebuchet MS"/>
                <a:cs typeface="Trebuchet MS"/>
              </a:rPr>
              <a:t>power </a:t>
            </a:r>
            <a:r>
              <a:rPr sz="2100" spc="-35">
                <a:latin typeface="Trebuchet MS"/>
                <a:cs typeface="Trebuchet MS"/>
              </a:rPr>
              <a:t>to </a:t>
            </a:r>
            <a:r>
              <a:rPr sz="2100" spc="-100">
                <a:latin typeface="Trebuchet MS"/>
                <a:cs typeface="Trebuchet MS"/>
              </a:rPr>
              <a:t>learn </a:t>
            </a:r>
            <a:r>
              <a:rPr sz="2100" spc="-70">
                <a:latin typeface="Trebuchet MS"/>
                <a:cs typeface="Trebuchet MS"/>
              </a:rPr>
              <a:t>complex </a:t>
            </a:r>
            <a:r>
              <a:rPr sz="2100" spc="-110">
                <a:latin typeface="Trebuchet MS"/>
                <a:cs typeface="Trebuchet MS"/>
              </a:rPr>
              <a:t>functional  mappings </a:t>
            </a:r>
            <a:r>
              <a:rPr sz="2100" spc="-85">
                <a:latin typeface="Trebuchet MS"/>
                <a:cs typeface="Trebuchet MS"/>
              </a:rPr>
              <a:t>from </a:t>
            </a:r>
            <a:r>
              <a:rPr sz="2100" spc="-180">
                <a:latin typeface="Trebuchet MS"/>
                <a:cs typeface="Trebuchet MS"/>
              </a:rPr>
              <a:t>data. </a:t>
            </a:r>
            <a:r>
              <a:rPr sz="2100" spc="185">
                <a:latin typeface="Trebuchet MS"/>
                <a:cs typeface="Trebuchet MS"/>
              </a:rPr>
              <a:t>A </a:t>
            </a:r>
            <a:r>
              <a:rPr sz="2100" spc="-35">
                <a:latin typeface="Trebuchet MS"/>
                <a:cs typeface="Trebuchet MS"/>
              </a:rPr>
              <a:t>Neural </a:t>
            </a:r>
            <a:r>
              <a:rPr sz="2100" spc="5">
                <a:latin typeface="Trebuchet MS"/>
                <a:cs typeface="Trebuchet MS"/>
              </a:rPr>
              <a:t>Network  </a:t>
            </a:r>
            <a:r>
              <a:rPr sz="2100" spc="-70">
                <a:latin typeface="Trebuchet MS"/>
                <a:cs typeface="Trebuchet MS"/>
              </a:rPr>
              <a:t>without </a:t>
            </a:r>
            <a:r>
              <a:rPr sz="2100" spc="-75">
                <a:latin typeface="Trebuchet MS"/>
                <a:cs typeface="Trebuchet MS"/>
              </a:rPr>
              <a:t>Activation </a:t>
            </a:r>
            <a:r>
              <a:rPr sz="2100" spc="-95">
                <a:latin typeface="Trebuchet MS"/>
                <a:cs typeface="Trebuchet MS"/>
              </a:rPr>
              <a:t>function </a:t>
            </a:r>
            <a:r>
              <a:rPr sz="2100" spc="-65">
                <a:latin typeface="Trebuchet MS"/>
                <a:cs typeface="Trebuchet MS"/>
              </a:rPr>
              <a:t>would </a:t>
            </a:r>
            <a:r>
              <a:rPr sz="2100" spc="-105">
                <a:latin typeface="Trebuchet MS"/>
                <a:cs typeface="Trebuchet MS"/>
              </a:rPr>
              <a:t>simply  </a:t>
            </a:r>
            <a:r>
              <a:rPr sz="2100" spc="-110">
                <a:latin typeface="Trebuchet MS"/>
                <a:cs typeface="Trebuchet MS"/>
              </a:rPr>
              <a:t>be </a:t>
            </a:r>
            <a:r>
              <a:rPr sz="2100" spc="-195">
                <a:latin typeface="Trebuchet MS"/>
                <a:cs typeface="Trebuchet MS"/>
              </a:rPr>
              <a:t>a </a:t>
            </a:r>
            <a:r>
              <a:rPr sz="2100" b="1" spc="1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Linear </a:t>
            </a:r>
            <a:r>
              <a:rPr sz="2100" b="1" spc="-5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regression </a:t>
            </a:r>
            <a:r>
              <a:rPr sz="2100" b="1" spc="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Model</a:t>
            </a:r>
            <a:r>
              <a:rPr sz="2100" b="1" spc="10">
                <a:latin typeface="Arial" pitchFamily="34" charset="0"/>
                <a:cs typeface="Arial" pitchFamily="34" charset="0"/>
              </a:rPr>
              <a:t>, </a:t>
            </a:r>
            <a:r>
              <a:rPr sz="2100" spc="-85">
                <a:latin typeface="Trebuchet MS"/>
                <a:cs typeface="Trebuchet MS"/>
              </a:rPr>
              <a:t>which  </a:t>
            </a:r>
            <a:r>
              <a:rPr sz="2100" spc="-100">
                <a:latin typeface="Trebuchet MS"/>
                <a:cs typeface="Trebuchet MS"/>
              </a:rPr>
              <a:t>has </a:t>
            </a:r>
            <a:r>
              <a:rPr sz="2100" spc="-114">
                <a:latin typeface="Trebuchet MS"/>
                <a:cs typeface="Trebuchet MS"/>
              </a:rPr>
              <a:t>limited </a:t>
            </a:r>
            <a:r>
              <a:rPr sz="2100" spc="-50">
                <a:latin typeface="Trebuchet MS"/>
                <a:cs typeface="Trebuchet MS"/>
              </a:rPr>
              <a:t>power </a:t>
            </a:r>
            <a:r>
              <a:rPr sz="2100" spc="-114">
                <a:latin typeface="Trebuchet MS"/>
                <a:cs typeface="Trebuchet MS"/>
              </a:rPr>
              <a:t>and </a:t>
            </a:r>
            <a:r>
              <a:rPr sz="2100" spc="-50">
                <a:latin typeface="Trebuchet MS"/>
                <a:cs typeface="Trebuchet MS"/>
              </a:rPr>
              <a:t>does </a:t>
            </a:r>
            <a:r>
              <a:rPr sz="2100" spc="-45">
                <a:latin typeface="Trebuchet MS"/>
                <a:cs typeface="Trebuchet MS"/>
              </a:rPr>
              <a:t>not </a:t>
            </a:r>
            <a:r>
              <a:rPr sz="2100" spc="-65">
                <a:latin typeface="Trebuchet MS"/>
                <a:cs typeface="Trebuchet MS"/>
              </a:rPr>
              <a:t>performs  </a:t>
            </a:r>
            <a:r>
              <a:rPr sz="2100" spc="-40">
                <a:latin typeface="Trebuchet MS"/>
                <a:cs typeface="Trebuchet MS"/>
              </a:rPr>
              <a:t>good </a:t>
            </a:r>
            <a:r>
              <a:rPr sz="2100" spc="-50">
                <a:latin typeface="Trebuchet MS"/>
                <a:cs typeface="Trebuchet MS"/>
              </a:rPr>
              <a:t>most </a:t>
            </a:r>
            <a:r>
              <a:rPr sz="2100" spc="-95">
                <a:latin typeface="Trebuchet MS"/>
                <a:cs typeface="Trebuchet MS"/>
              </a:rPr>
              <a:t>of </a:t>
            </a:r>
            <a:r>
              <a:rPr sz="2100" spc="-105">
                <a:latin typeface="Trebuchet MS"/>
                <a:cs typeface="Trebuchet MS"/>
              </a:rPr>
              <a:t>the</a:t>
            </a:r>
            <a:r>
              <a:rPr sz="2100" spc="-55">
                <a:latin typeface="Trebuchet MS"/>
                <a:cs typeface="Trebuchet MS"/>
              </a:rPr>
              <a:t> </a:t>
            </a:r>
            <a:r>
              <a:rPr sz="2100" spc="-135">
                <a:latin typeface="Trebuchet MS"/>
                <a:cs typeface="Trebuchet MS"/>
              </a:rPr>
              <a:t>times.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Trebuchet MS"/>
              <a:cs typeface="Trebuchet MS"/>
            </a:endParaRPr>
          </a:p>
          <a:p>
            <a:pPr marL="12700" marR="5080">
              <a:lnSpc>
                <a:spcPct val="101000"/>
              </a:lnSpc>
            </a:pPr>
            <a:r>
              <a:rPr sz="1850" i="1" spc="-150">
                <a:latin typeface="Trebuchet MS"/>
                <a:cs typeface="Trebuchet MS"/>
              </a:rPr>
              <a:t>That is </a:t>
            </a:r>
            <a:r>
              <a:rPr sz="1850" i="1" spc="-204">
                <a:latin typeface="Trebuchet MS"/>
                <a:cs typeface="Trebuchet MS"/>
              </a:rPr>
              <a:t>why we </a:t>
            </a:r>
            <a:r>
              <a:rPr sz="1850" i="1" spc="-135">
                <a:latin typeface="Trebuchet MS"/>
                <a:cs typeface="Trebuchet MS"/>
              </a:rPr>
              <a:t>use </a:t>
            </a:r>
            <a:r>
              <a:rPr sz="1850" i="1" spc="-195">
                <a:latin typeface="Trebuchet MS"/>
                <a:cs typeface="Trebuchet MS"/>
              </a:rPr>
              <a:t>Artificial </a:t>
            </a:r>
            <a:r>
              <a:rPr sz="1850" i="1" spc="-135">
                <a:latin typeface="Trebuchet MS"/>
                <a:cs typeface="Trebuchet MS"/>
              </a:rPr>
              <a:t>Neural </a:t>
            </a:r>
            <a:r>
              <a:rPr sz="1850" i="1" spc="-175">
                <a:latin typeface="Trebuchet MS"/>
                <a:cs typeface="Trebuchet MS"/>
              </a:rPr>
              <a:t>network </a:t>
            </a:r>
            <a:r>
              <a:rPr sz="1850" i="1" spc="-160">
                <a:latin typeface="Trebuchet MS"/>
                <a:cs typeface="Trebuchet MS"/>
              </a:rPr>
              <a:t>techniques </a:t>
            </a:r>
            <a:r>
              <a:rPr sz="1850" i="1" spc="-120">
                <a:latin typeface="Trebuchet MS"/>
                <a:cs typeface="Trebuchet MS"/>
              </a:rPr>
              <a:t>such </a:t>
            </a:r>
            <a:r>
              <a:rPr sz="1850" i="1" spc="-90">
                <a:latin typeface="Trebuchet MS"/>
                <a:cs typeface="Trebuchet MS"/>
              </a:rPr>
              <a:t>as </a:t>
            </a:r>
            <a:r>
              <a:rPr sz="1850" b="1" i="1" spc="25">
                <a:latin typeface="Trebuchet MS"/>
                <a:cs typeface="Trebuchet MS"/>
              </a:rPr>
              <a:t>Deep </a:t>
            </a:r>
            <a:r>
              <a:rPr sz="1850" b="1" i="1" spc="-80">
                <a:latin typeface="Trebuchet MS"/>
                <a:cs typeface="Trebuchet MS"/>
              </a:rPr>
              <a:t>learning </a:t>
            </a:r>
            <a:r>
              <a:rPr sz="1850" b="1" i="1" spc="-70">
                <a:latin typeface="Trebuchet MS"/>
                <a:cs typeface="Trebuchet MS"/>
              </a:rPr>
              <a:t>to </a:t>
            </a:r>
            <a:r>
              <a:rPr sz="1850" b="1" i="1" spc="-50">
                <a:latin typeface="Trebuchet MS"/>
                <a:cs typeface="Trebuchet MS"/>
              </a:rPr>
              <a:t>make </a:t>
            </a:r>
            <a:r>
              <a:rPr sz="1850" b="1" i="1" spc="-90">
                <a:latin typeface="Trebuchet MS"/>
                <a:cs typeface="Trebuchet MS"/>
              </a:rPr>
              <a:t>sense </a:t>
            </a:r>
            <a:r>
              <a:rPr sz="1850" b="1" i="1" spc="-70">
                <a:latin typeface="Trebuchet MS"/>
                <a:cs typeface="Trebuchet MS"/>
              </a:rPr>
              <a:t>of </a:t>
            </a:r>
            <a:r>
              <a:rPr sz="1850" b="1" i="1" spc="-65">
                <a:latin typeface="Trebuchet MS"/>
                <a:cs typeface="Trebuchet MS"/>
              </a:rPr>
              <a:t>something  complicated </a:t>
            </a:r>
            <a:r>
              <a:rPr sz="1850" b="1" i="1" spc="-85">
                <a:latin typeface="Trebuchet MS"/>
                <a:cs typeface="Trebuchet MS"/>
              </a:rPr>
              <a:t>,high dimensional, </a:t>
            </a:r>
            <a:r>
              <a:rPr sz="1850" b="1" i="1" spc="-60">
                <a:latin typeface="Trebuchet MS"/>
                <a:cs typeface="Trebuchet MS"/>
              </a:rPr>
              <a:t>non-linear </a:t>
            </a:r>
            <a:r>
              <a:rPr sz="1850" b="1" i="1" spc="-85">
                <a:latin typeface="Trebuchet MS"/>
                <a:cs typeface="Trebuchet MS"/>
              </a:rPr>
              <a:t>-big </a:t>
            </a:r>
            <a:r>
              <a:rPr sz="1850" b="1" i="1" spc="-114">
                <a:latin typeface="Trebuchet MS"/>
                <a:cs typeface="Trebuchet MS"/>
              </a:rPr>
              <a:t>datasets, </a:t>
            </a:r>
            <a:r>
              <a:rPr sz="1850" b="1" i="1" spc="-80">
                <a:latin typeface="Trebuchet MS"/>
                <a:cs typeface="Trebuchet MS"/>
              </a:rPr>
              <a:t>where </a:t>
            </a:r>
            <a:r>
              <a:rPr sz="1850" b="1" i="1" spc="-75">
                <a:latin typeface="Trebuchet MS"/>
                <a:cs typeface="Trebuchet MS"/>
              </a:rPr>
              <a:t>the </a:t>
            </a:r>
            <a:r>
              <a:rPr sz="1850" b="1" i="1" spc="-55">
                <a:latin typeface="Trebuchet MS"/>
                <a:cs typeface="Trebuchet MS"/>
              </a:rPr>
              <a:t>model </a:t>
            </a:r>
            <a:r>
              <a:rPr sz="1850" b="1" i="1" spc="-75">
                <a:latin typeface="Trebuchet MS"/>
                <a:cs typeface="Trebuchet MS"/>
              </a:rPr>
              <a:t>has </a:t>
            </a:r>
            <a:r>
              <a:rPr sz="1850" b="1" i="1" spc="-100">
                <a:latin typeface="Trebuchet MS"/>
                <a:cs typeface="Trebuchet MS"/>
              </a:rPr>
              <a:t>lots </a:t>
            </a:r>
            <a:r>
              <a:rPr sz="1850" b="1" i="1" spc="-55">
                <a:latin typeface="Trebuchet MS"/>
                <a:cs typeface="Trebuchet MS"/>
              </a:rPr>
              <a:t>and </a:t>
            </a:r>
            <a:r>
              <a:rPr sz="1850" b="1" i="1" spc="-100">
                <a:latin typeface="Trebuchet MS"/>
                <a:cs typeface="Trebuchet MS"/>
              </a:rPr>
              <a:t>lots </a:t>
            </a:r>
            <a:r>
              <a:rPr sz="1850" b="1" i="1" spc="-70">
                <a:latin typeface="Trebuchet MS"/>
                <a:cs typeface="Trebuchet MS"/>
              </a:rPr>
              <a:t>of hidden  </a:t>
            </a:r>
            <a:r>
              <a:rPr sz="1850" b="1" i="1" spc="-110">
                <a:latin typeface="Trebuchet MS"/>
                <a:cs typeface="Trebuchet MS"/>
              </a:rPr>
              <a:t>layers </a:t>
            </a:r>
            <a:r>
              <a:rPr sz="1850" b="1" i="1" spc="-70">
                <a:latin typeface="Trebuchet MS"/>
                <a:cs typeface="Trebuchet MS"/>
              </a:rPr>
              <a:t>in between </a:t>
            </a:r>
            <a:r>
              <a:rPr sz="1850" b="1" i="1" spc="-50">
                <a:latin typeface="Trebuchet MS"/>
                <a:cs typeface="Trebuchet MS"/>
              </a:rPr>
              <a:t>and </a:t>
            </a:r>
            <a:r>
              <a:rPr sz="1850" b="1" i="1" spc="-75">
                <a:latin typeface="Trebuchet MS"/>
                <a:cs typeface="Trebuchet MS"/>
              </a:rPr>
              <a:t>has </a:t>
            </a:r>
            <a:r>
              <a:rPr sz="1850" b="1" i="1" spc="-65">
                <a:latin typeface="Trebuchet MS"/>
                <a:cs typeface="Trebuchet MS"/>
              </a:rPr>
              <a:t>a </a:t>
            </a:r>
            <a:r>
              <a:rPr sz="1850" b="1" i="1" spc="-114">
                <a:latin typeface="Trebuchet MS"/>
                <a:cs typeface="Trebuchet MS"/>
              </a:rPr>
              <a:t>very </a:t>
            </a:r>
            <a:r>
              <a:rPr sz="1850" b="1" i="1" spc="-65">
                <a:latin typeface="Trebuchet MS"/>
                <a:cs typeface="Trebuchet MS"/>
              </a:rPr>
              <a:t>complicated </a:t>
            </a:r>
            <a:r>
              <a:rPr sz="1850" b="1" i="1" spc="-85">
                <a:latin typeface="Trebuchet MS"/>
                <a:cs typeface="Trebuchet MS"/>
              </a:rPr>
              <a:t>architecture </a:t>
            </a:r>
            <a:r>
              <a:rPr sz="1850" b="1" i="1" spc="-50">
                <a:latin typeface="Trebuchet MS"/>
                <a:cs typeface="Trebuchet MS"/>
              </a:rPr>
              <a:t>which </a:t>
            </a:r>
            <a:r>
              <a:rPr sz="1850" b="1" i="1" spc="-75">
                <a:latin typeface="Trebuchet MS"/>
                <a:cs typeface="Trebuchet MS"/>
              </a:rPr>
              <a:t>helps us </a:t>
            </a:r>
            <a:r>
              <a:rPr sz="1850" b="1" i="1" spc="-70">
                <a:latin typeface="Trebuchet MS"/>
                <a:cs typeface="Trebuchet MS"/>
              </a:rPr>
              <a:t>to </a:t>
            </a:r>
            <a:r>
              <a:rPr sz="1850" b="1" i="1" spc="-50">
                <a:latin typeface="Trebuchet MS"/>
                <a:cs typeface="Trebuchet MS"/>
              </a:rPr>
              <a:t>make </a:t>
            </a:r>
            <a:r>
              <a:rPr sz="1850" b="1" i="1" spc="-90">
                <a:latin typeface="Trebuchet MS"/>
                <a:cs typeface="Trebuchet MS"/>
              </a:rPr>
              <a:t>sense </a:t>
            </a:r>
            <a:r>
              <a:rPr sz="1850" b="1" i="1" spc="-50">
                <a:latin typeface="Trebuchet MS"/>
                <a:cs typeface="Trebuchet MS"/>
              </a:rPr>
              <a:t>and </a:t>
            </a:r>
            <a:r>
              <a:rPr sz="1850" b="1" i="1" spc="-110">
                <a:latin typeface="Trebuchet MS"/>
                <a:cs typeface="Trebuchet MS"/>
              </a:rPr>
              <a:t>extract  </a:t>
            </a:r>
            <a:r>
              <a:rPr sz="1850" b="1" i="1" spc="-65">
                <a:latin typeface="Trebuchet MS"/>
                <a:cs typeface="Trebuchet MS"/>
              </a:rPr>
              <a:t>knowledge </a:t>
            </a:r>
            <a:r>
              <a:rPr sz="1850" b="1" i="1" spc="-75">
                <a:latin typeface="Trebuchet MS"/>
                <a:cs typeface="Trebuchet MS"/>
              </a:rPr>
              <a:t>form </a:t>
            </a:r>
            <a:r>
              <a:rPr sz="1850" b="1" i="1" spc="-50">
                <a:latin typeface="Trebuchet MS"/>
                <a:cs typeface="Trebuchet MS"/>
              </a:rPr>
              <a:t>such </a:t>
            </a:r>
            <a:r>
              <a:rPr sz="1850" b="1" i="1" spc="-65">
                <a:latin typeface="Trebuchet MS"/>
                <a:cs typeface="Trebuchet MS"/>
              </a:rPr>
              <a:t>complicated </a:t>
            </a:r>
            <a:r>
              <a:rPr sz="1850" b="1" i="1" spc="-100">
                <a:latin typeface="Trebuchet MS"/>
                <a:cs typeface="Trebuchet MS"/>
              </a:rPr>
              <a:t>big</a:t>
            </a:r>
            <a:r>
              <a:rPr sz="1850" b="1" i="1" spc="-35">
                <a:latin typeface="Trebuchet MS"/>
                <a:cs typeface="Trebuchet MS"/>
              </a:rPr>
              <a:t> </a:t>
            </a:r>
            <a:r>
              <a:rPr sz="1850" b="1" i="1" spc="-114">
                <a:latin typeface="Trebuchet MS"/>
                <a:cs typeface="Trebuchet MS"/>
              </a:rPr>
              <a:t>datasets.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Trebuchet MS"/>
              <a:cs typeface="Trebuchet MS"/>
            </a:endParaRPr>
          </a:p>
          <a:p>
            <a:pPr marL="130175" algn="ctr">
              <a:lnSpc>
                <a:spcPct val="100000"/>
              </a:lnSpc>
            </a:pPr>
            <a:r>
              <a:rPr sz="1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https://towardsdatascience.com/activation-functions-neural-networks-1cbd9f8d91d6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74654" y="6447459"/>
            <a:ext cx="24002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390"/>
              </a:lnSpc>
            </a:pPr>
            <a:fld id="{81D60167-4931-47E6-BA6A-407CBD079E47}" type="slidenum">
              <a:rPr sz="1200">
                <a:solidFill>
                  <a:srgbClr val="888888"/>
                </a:solidFill>
                <a:latin typeface="Carlito"/>
                <a:cs typeface="Carlito"/>
              </a:rPr>
              <a:pPr marL="38100">
                <a:lnSpc>
                  <a:spcPts val="1390"/>
                </a:lnSpc>
              </a:pPr>
              <a:t>4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2603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192" y="124409"/>
            <a:ext cx="45872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25"/>
              <a:t>The </a:t>
            </a:r>
            <a:r>
              <a:rPr sz="3200" spc="-459"/>
              <a:t>Layers </a:t>
            </a:r>
            <a:r>
              <a:rPr sz="3200" spc="-365"/>
              <a:t>of </a:t>
            </a:r>
            <a:r>
              <a:rPr sz="3200" spc="-315"/>
              <a:t>a </a:t>
            </a:r>
            <a:r>
              <a:rPr sz="3200" spc="-355"/>
              <a:t>Neural</a:t>
            </a:r>
            <a:r>
              <a:rPr sz="3200" spc="-340"/>
              <a:t> </a:t>
            </a:r>
            <a:r>
              <a:rPr sz="3200" spc="-415"/>
              <a:t>Network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7568286" y="2194560"/>
            <a:ext cx="4120298" cy="2746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6828" y="1323213"/>
            <a:ext cx="6782434" cy="4296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35">
                <a:latin typeface="Trebuchet MS"/>
                <a:cs typeface="Trebuchet MS"/>
              </a:rPr>
              <a:t>3 </a:t>
            </a:r>
            <a:r>
              <a:rPr sz="1850" spc="-95">
                <a:latin typeface="Trebuchet MS"/>
                <a:cs typeface="Trebuchet MS"/>
              </a:rPr>
              <a:t>types </a:t>
            </a:r>
            <a:r>
              <a:rPr sz="1850" spc="-90">
                <a:latin typeface="Trebuchet MS"/>
                <a:cs typeface="Trebuchet MS"/>
              </a:rPr>
              <a:t>of </a:t>
            </a:r>
            <a:r>
              <a:rPr sz="1850" spc="-114">
                <a:latin typeface="Trebuchet MS"/>
                <a:cs typeface="Trebuchet MS"/>
              </a:rPr>
              <a:t>layers </a:t>
            </a:r>
            <a:r>
              <a:rPr sz="1850" spc="-100">
                <a:latin typeface="Trebuchet MS"/>
                <a:cs typeface="Trebuchet MS"/>
              </a:rPr>
              <a:t>in </a:t>
            </a:r>
            <a:r>
              <a:rPr sz="1850" spc="-95">
                <a:latin typeface="Trebuchet MS"/>
                <a:cs typeface="Trebuchet MS"/>
              </a:rPr>
              <a:t>neural</a:t>
            </a:r>
            <a:r>
              <a:rPr sz="1850" spc="165">
                <a:latin typeface="Trebuchet MS"/>
                <a:cs typeface="Trebuchet MS"/>
              </a:rPr>
              <a:t> </a:t>
            </a:r>
            <a:r>
              <a:rPr sz="1850" spc="-80">
                <a:latin typeface="Trebuchet MS"/>
                <a:cs typeface="Trebuchet MS"/>
              </a:rPr>
              <a:t>network: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Trebuchet MS"/>
              <a:cs typeface="Trebuchet MS"/>
            </a:endParaRPr>
          </a:p>
          <a:p>
            <a:pPr marL="12700" marR="258445">
              <a:lnSpc>
                <a:spcPct val="100499"/>
              </a:lnSpc>
              <a:buSzPct val="94594"/>
              <a:buFont typeface="Arial" pitchFamily="34" charset="0"/>
              <a:buChar char="•"/>
              <a:tabLst>
                <a:tab pos="97155" algn="l"/>
              </a:tabLst>
            </a:pPr>
            <a:r>
              <a:rPr sz="1850" b="1" spc="2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Input </a:t>
            </a:r>
            <a:r>
              <a:rPr sz="1850" b="1" spc="-3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layer </a:t>
            </a:r>
            <a:r>
              <a:rPr sz="1850" spc="509">
                <a:latin typeface="Trebuchet MS"/>
                <a:cs typeface="Trebuchet MS"/>
              </a:rPr>
              <a:t>—</a:t>
            </a:r>
            <a:r>
              <a:rPr sz="1850" spc="-10">
                <a:latin typeface="Trebuchet MS"/>
                <a:cs typeface="Trebuchet MS"/>
              </a:rPr>
              <a:t> </a:t>
            </a:r>
            <a:r>
              <a:rPr sz="1850" spc="-80">
                <a:latin typeface="Trebuchet MS"/>
                <a:cs typeface="Trebuchet MS"/>
              </a:rPr>
              <a:t>It is </a:t>
            </a:r>
            <a:r>
              <a:rPr sz="1850" spc="-75">
                <a:latin typeface="Trebuchet MS"/>
                <a:cs typeface="Trebuchet MS"/>
              </a:rPr>
              <a:t>used </a:t>
            </a:r>
            <a:r>
              <a:rPr sz="1850" spc="-35">
                <a:latin typeface="Trebuchet MS"/>
                <a:cs typeface="Trebuchet MS"/>
              </a:rPr>
              <a:t>to </a:t>
            </a:r>
            <a:r>
              <a:rPr sz="1850" spc="-85">
                <a:latin typeface="Trebuchet MS"/>
                <a:cs typeface="Trebuchet MS"/>
              </a:rPr>
              <a:t>pass </a:t>
            </a:r>
            <a:r>
              <a:rPr sz="1850" spc="-100">
                <a:latin typeface="Trebuchet MS"/>
                <a:cs typeface="Trebuchet MS"/>
              </a:rPr>
              <a:t>in </a:t>
            </a:r>
            <a:r>
              <a:rPr sz="1850" spc="-5">
                <a:latin typeface="Trebuchet MS"/>
                <a:cs typeface="Trebuchet MS"/>
              </a:rPr>
              <a:t>our </a:t>
            </a:r>
            <a:r>
              <a:rPr sz="1850" spc="-105">
                <a:latin typeface="Trebuchet MS"/>
                <a:cs typeface="Trebuchet MS"/>
              </a:rPr>
              <a:t>input(an </a:t>
            </a:r>
            <a:r>
              <a:rPr sz="1850" spc="-150">
                <a:latin typeface="Trebuchet MS"/>
                <a:cs typeface="Trebuchet MS"/>
              </a:rPr>
              <a:t>image, </a:t>
            </a:r>
            <a:r>
              <a:rPr sz="1850" spc="-85">
                <a:latin typeface="Trebuchet MS"/>
                <a:cs typeface="Trebuchet MS"/>
              </a:rPr>
              <a:t>text </a:t>
            </a:r>
            <a:r>
              <a:rPr sz="1850" spc="30">
                <a:latin typeface="Trebuchet MS"/>
                <a:cs typeface="Trebuchet MS"/>
              </a:rPr>
              <a:t>or </a:t>
            </a:r>
            <a:r>
              <a:rPr sz="1850" spc="-135">
                <a:latin typeface="Trebuchet MS"/>
                <a:cs typeface="Trebuchet MS"/>
              </a:rPr>
              <a:t>any  </a:t>
            </a:r>
            <a:r>
              <a:rPr sz="1850" spc="-110">
                <a:latin typeface="Trebuchet MS"/>
                <a:cs typeface="Trebuchet MS"/>
              </a:rPr>
              <a:t>suitable </a:t>
            </a:r>
            <a:r>
              <a:rPr sz="1850" spc="-105">
                <a:latin typeface="Trebuchet MS"/>
                <a:cs typeface="Trebuchet MS"/>
              </a:rPr>
              <a:t>type </a:t>
            </a:r>
            <a:r>
              <a:rPr sz="1850" spc="-90">
                <a:latin typeface="Trebuchet MS"/>
                <a:cs typeface="Trebuchet MS"/>
              </a:rPr>
              <a:t>of </a:t>
            </a:r>
            <a:r>
              <a:rPr sz="1850" spc="-135">
                <a:latin typeface="Trebuchet MS"/>
                <a:cs typeface="Trebuchet MS"/>
              </a:rPr>
              <a:t>data </a:t>
            </a:r>
            <a:r>
              <a:rPr sz="1850" spc="-60">
                <a:latin typeface="Trebuchet MS"/>
                <a:cs typeface="Trebuchet MS"/>
              </a:rPr>
              <a:t>for</a:t>
            </a:r>
            <a:r>
              <a:rPr sz="1850" spc="180">
                <a:latin typeface="Trebuchet MS"/>
                <a:cs typeface="Trebuchet MS"/>
              </a:rPr>
              <a:t> </a:t>
            </a:r>
            <a:r>
              <a:rPr sz="1850" spc="50">
                <a:latin typeface="Trebuchet MS"/>
                <a:cs typeface="Trebuchet MS"/>
              </a:rPr>
              <a:t>NN).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Font typeface="Arial" pitchFamily="34" charset="0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12700" marR="35560">
              <a:lnSpc>
                <a:spcPct val="100899"/>
              </a:lnSpc>
              <a:spcBef>
                <a:spcPts val="5"/>
              </a:spcBef>
              <a:buSzPct val="94594"/>
              <a:buFont typeface="Arial" pitchFamily="34" charset="0"/>
              <a:buChar char="•"/>
              <a:tabLst>
                <a:tab pos="97155" algn="l"/>
              </a:tabLst>
            </a:pPr>
            <a:r>
              <a:rPr sz="1850" b="1" spc="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Hidden </a:t>
            </a:r>
            <a:r>
              <a:rPr sz="1850" b="1" spc="-2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Layer </a:t>
            </a:r>
            <a:r>
              <a:rPr sz="1850" spc="509">
                <a:latin typeface="Trebuchet MS"/>
                <a:cs typeface="Trebuchet MS"/>
              </a:rPr>
              <a:t>— </a:t>
            </a:r>
            <a:r>
              <a:rPr sz="1850" spc="-60">
                <a:latin typeface="Trebuchet MS"/>
                <a:cs typeface="Trebuchet MS"/>
              </a:rPr>
              <a:t>These </a:t>
            </a:r>
            <a:r>
              <a:rPr sz="1850" spc="-110">
                <a:latin typeface="Trebuchet MS"/>
                <a:cs typeface="Trebuchet MS"/>
              </a:rPr>
              <a:t>are </a:t>
            </a: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-114">
                <a:latin typeface="Trebuchet MS"/>
                <a:cs typeface="Trebuchet MS"/>
              </a:rPr>
              <a:t>layers </a:t>
            </a:r>
            <a:r>
              <a:rPr sz="1850" spc="-100">
                <a:latin typeface="Trebuchet MS"/>
                <a:cs typeface="Trebuchet MS"/>
              </a:rPr>
              <a:t>in </a:t>
            </a:r>
            <a:r>
              <a:rPr sz="1850" spc="-105">
                <a:latin typeface="Trebuchet MS"/>
                <a:cs typeface="Trebuchet MS"/>
              </a:rPr>
              <a:t>between </a:t>
            </a:r>
            <a:r>
              <a:rPr sz="1850" spc="-100">
                <a:latin typeface="Trebuchet MS"/>
                <a:cs typeface="Trebuchet MS"/>
              </a:rPr>
              <a:t>the input </a:t>
            </a:r>
            <a:r>
              <a:rPr sz="1850" spc="-114">
                <a:latin typeface="Trebuchet MS"/>
                <a:cs typeface="Trebuchet MS"/>
              </a:rPr>
              <a:t>and  </a:t>
            </a:r>
            <a:r>
              <a:rPr sz="1850" spc="-75">
                <a:latin typeface="Trebuchet MS"/>
                <a:cs typeface="Trebuchet MS"/>
              </a:rPr>
              <a:t>output </a:t>
            </a:r>
            <a:r>
              <a:rPr sz="1850" spc="-95">
                <a:latin typeface="Trebuchet MS"/>
                <a:cs typeface="Trebuchet MS"/>
              </a:rPr>
              <a:t>layers.These </a:t>
            </a:r>
            <a:r>
              <a:rPr sz="1850" spc="-114">
                <a:latin typeface="Trebuchet MS"/>
                <a:cs typeface="Trebuchet MS"/>
              </a:rPr>
              <a:t>layers </a:t>
            </a:r>
            <a:r>
              <a:rPr sz="1850" spc="-110">
                <a:latin typeface="Trebuchet MS"/>
                <a:cs typeface="Trebuchet MS"/>
              </a:rPr>
              <a:t>are </a:t>
            </a:r>
            <a:r>
              <a:rPr sz="1850" spc="-75">
                <a:latin typeface="Trebuchet MS"/>
                <a:cs typeface="Trebuchet MS"/>
              </a:rPr>
              <a:t>responsible </a:t>
            </a:r>
            <a:r>
              <a:rPr sz="1850" spc="-60">
                <a:latin typeface="Trebuchet MS"/>
                <a:cs typeface="Trebuchet MS"/>
              </a:rPr>
              <a:t>for </a:t>
            </a:r>
            <a:r>
              <a:rPr sz="1850" spc="-105">
                <a:latin typeface="Trebuchet MS"/>
                <a:cs typeface="Trebuchet MS"/>
              </a:rPr>
              <a:t>learning </a:t>
            </a: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-120">
                <a:latin typeface="Trebuchet MS"/>
                <a:cs typeface="Trebuchet MS"/>
              </a:rPr>
              <a:t>mapping  </a:t>
            </a:r>
            <a:r>
              <a:rPr sz="1850" spc="-105">
                <a:latin typeface="Trebuchet MS"/>
                <a:cs typeface="Trebuchet MS"/>
              </a:rPr>
              <a:t>between </a:t>
            </a:r>
            <a:r>
              <a:rPr sz="1850" spc="-100">
                <a:latin typeface="Trebuchet MS"/>
                <a:cs typeface="Trebuchet MS"/>
              </a:rPr>
              <a:t>input </a:t>
            </a:r>
            <a:r>
              <a:rPr sz="1850" spc="-114">
                <a:latin typeface="Trebuchet MS"/>
                <a:cs typeface="Trebuchet MS"/>
              </a:rPr>
              <a:t>and </a:t>
            </a:r>
            <a:r>
              <a:rPr sz="1850" spc="-100">
                <a:latin typeface="Trebuchet MS"/>
                <a:cs typeface="Trebuchet MS"/>
              </a:rPr>
              <a:t>output. </a:t>
            </a:r>
            <a:r>
              <a:rPr sz="1850" spc="-170">
                <a:latin typeface="Trebuchet MS"/>
                <a:cs typeface="Trebuchet MS"/>
              </a:rPr>
              <a:t>(i.e. </a:t>
            </a:r>
            <a:r>
              <a:rPr sz="1850" spc="-100">
                <a:latin typeface="Trebuchet MS"/>
                <a:cs typeface="Trebuchet MS"/>
              </a:rPr>
              <a:t>in the </a:t>
            </a:r>
            <a:r>
              <a:rPr sz="1850" spc="-60">
                <a:latin typeface="Trebuchet MS"/>
                <a:cs typeface="Trebuchet MS"/>
              </a:rPr>
              <a:t>dog </a:t>
            </a:r>
            <a:r>
              <a:rPr sz="1850" spc="-114">
                <a:latin typeface="Trebuchet MS"/>
                <a:cs typeface="Trebuchet MS"/>
              </a:rPr>
              <a:t>and </a:t>
            </a:r>
            <a:r>
              <a:rPr sz="1850" spc="-135">
                <a:latin typeface="Trebuchet MS"/>
                <a:cs typeface="Trebuchet MS"/>
              </a:rPr>
              <a:t>cat </a:t>
            </a:r>
            <a:r>
              <a:rPr sz="1850" spc="-160">
                <a:latin typeface="Trebuchet MS"/>
                <a:cs typeface="Trebuchet MS"/>
              </a:rPr>
              <a:t>gif </a:t>
            </a:r>
            <a:r>
              <a:rPr sz="1850" spc="-130">
                <a:latin typeface="Trebuchet MS"/>
                <a:cs typeface="Trebuchet MS"/>
              </a:rPr>
              <a:t>above, </a:t>
            </a: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-95">
                <a:latin typeface="Trebuchet MS"/>
                <a:cs typeface="Trebuchet MS"/>
              </a:rPr>
              <a:t>hidden  </a:t>
            </a:r>
            <a:r>
              <a:rPr sz="1850" spc="-114">
                <a:latin typeface="Trebuchet MS"/>
                <a:cs typeface="Trebuchet MS"/>
              </a:rPr>
              <a:t>layers </a:t>
            </a:r>
            <a:r>
              <a:rPr sz="1850" spc="-110">
                <a:latin typeface="Trebuchet MS"/>
                <a:cs typeface="Trebuchet MS"/>
              </a:rPr>
              <a:t>are </a:t>
            </a: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-50">
                <a:latin typeface="Trebuchet MS"/>
                <a:cs typeface="Trebuchet MS"/>
              </a:rPr>
              <a:t>ones </a:t>
            </a:r>
            <a:r>
              <a:rPr sz="1850" spc="-75">
                <a:latin typeface="Trebuchet MS"/>
                <a:cs typeface="Trebuchet MS"/>
              </a:rPr>
              <a:t>responsible </a:t>
            </a:r>
            <a:r>
              <a:rPr sz="1850" spc="-35">
                <a:latin typeface="Trebuchet MS"/>
                <a:cs typeface="Trebuchet MS"/>
              </a:rPr>
              <a:t>to </a:t>
            </a:r>
            <a:r>
              <a:rPr sz="1850" spc="-105">
                <a:latin typeface="Trebuchet MS"/>
                <a:cs typeface="Trebuchet MS"/>
              </a:rPr>
              <a:t>learn </a:t>
            </a:r>
            <a:r>
              <a:rPr sz="1850" spc="-120">
                <a:latin typeface="Trebuchet MS"/>
                <a:cs typeface="Trebuchet MS"/>
              </a:rPr>
              <a:t>that </a:t>
            </a: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-60">
                <a:latin typeface="Trebuchet MS"/>
                <a:cs typeface="Trebuchet MS"/>
              </a:rPr>
              <a:t>dog </a:t>
            </a:r>
            <a:r>
              <a:rPr sz="1850" spc="-95">
                <a:latin typeface="Trebuchet MS"/>
                <a:cs typeface="Trebuchet MS"/>
              </a:rPr>
              <a:t>picture </a:t>
            </a:r>
            <a:r>
              <a:rPr sz="1850" spc="-80">
                <a:latin typeface="Trebuchet MS"/>
                <a:cs typeface="Trebuchet MS"/>
              </a:rPr>
              <a:t>is </a:t>
            </a:r>
            <a:r>
              <a:rPr sz="1850" spc="-110">
                <a:latin typeface="Trebuchet MS"/>
                <a:cs typeface="Trebuchet MS"/>
              </a:rPr>
              <a:t>linked  </a:t>
            </a:r>
            <a:r>
              <a:rPr sz="1850" spc="-35">
                <a:latin typeface="Trebuchet MS"/>
                <a:cs typeface="Trebuchet MS"/>
              </a:rPr>
              <a:t>to </a:t>
            </a: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-120">
                <a:latin typeface="Trebuchet MS"/>
                <a:cs typeface="Trebuchet MS"/>
              </a:rPr>
              <a:t>name </a:t>
            </a:r>
            <a:r>
              <a:rPr sz="1850" spc="-110">
                <a:latin typeface="Trebuchet MS"/>
                <a:cs typeface="Trebuchet MS"/>
              </a:rPr>
              <a:t>dog, </a:t>
            </a:r>
            <a:r>
              <a:rPr sz="1850" spc="-114">
                <a:latin typeface="Trebuchet MS"/>
                <a:cs typeface="Trebuchet MS"/>
              </a:rPr>
              <a:t>and </a:t>
            </a:r>
            <a:r>
              <a:rPr sz="1850" spc="-120">
                <a:latin typeface="Trebuchet MS"/>
                <a:cs typeface="Trebuchet MS"/>
              </a:rPr>
              <a:t>it </a:t>
            </a:r>
            <a:r>
              <a:rPr sz="1850" spc="-45">
                <a:latin typeface="Trebuchet MS"/>
                <a:cs typeface="Trebuchet MS"/>
              </a:rPr>
              <a:t>does </a:t>
            </a:r>
            <a:r>
              <a:rPr sz="1850" spc="-85">
                <a:latin typeface="Trebuchet MS"/>
                <a:cs typeface="Trebuchet MS"/>
              </a:rPr>
              <a:t>this </a:t>
            </a:r>
            <a:r>
              <a:rPr sz="1850" spc="-70">
                <a:latin typeface="Trebuchet MS"/>
                <a:cs typeface="Trebuchet MS"/>
              </a:rPr>
              <a:t>through </a:t>
            </a:r>
            <a:r>
              <a:rPr sz="1850" spc="-175">
                <a:latin typeface="Trebuchet MS"/>
                <a:cs typeface="Trebuchet MS"/>
              </a:rPr>
              <a:t>a </a:t>
            </a:r>
            <a:r>
              <a:rPr sz="1850" spc="-70">
                <a:latin typeface="Trebuchet MS"/>
                <a:cs typeface="Trebuchet MS"/>
              </a:rPr>
              <a:t>series </a:t>
            </a:r>
            <a:r>
              <a:rPr sz="1850" spc="-90">
                <a:latin typeface="Trebuchet MS"/>
                <a:cs typeface="Trebuchet MS"/>
              </a:rPr>
              <a:t>of </a:t>
            </a:r>
            <a:r>
              <a:rPr sz="1850" spc="-80">
                <a:latin typeface="Trebuchet MS"/>
                <a:cs typeface="Trebuchet MS"/>
              </a:rPr>
              <a:t>matrix  </a:t>
            </a:r>
            <a:r>
              <a:rPr sz="1850" spc="-100">
                <a:latin typeface="Trebuchet MS"/>
                <a:cs typeface="Trebuchet MS"/>
              </a:rPr>
              <a:t>multiplications </a:t>
            </a:r>
            <a:r>
              <a:rPr sz="1850" spc="-110">
                <a:latin typeface="Trebuchet MS"/>
                <a:cs typeface="Trebuchet MS"/>
              </a:rPr>
              <a:t>and </a:t>
            </a:r>
            <a:r>
              <a:rPr sz="1850" spc="-130">
                <a:latin typeface="Trebuchet MS"/>
                <a:cs typeface="Trebuchet MS"/>
              </a:rPr>
              <a:t>mathematical </a:t>
            </a:r>
            <a:r>
              <a:rPr sz="1850" spc="-75">
                <a:latin typeface="Trebuchet MS"/>
                <a:cs typeface="Trebuchet MS"/>
              </a:rPr>
              <a:t>transformations </a:t>
            </a:r>
            <a:r>
              <a:rPr sz="1850" spc="-35">
                <a:latin typeface="Trebuchet MS"/>
                <a:cs typeface="Trebuchet MS"/>
              </a:rPr>
              <a:t>to </a:t>
            </a:r>
            <a:r>
              <a:rPr sz="1850" spc="-105">
                <a:latin typeface="Trebuchet MS"/>
                <a:cs typeface="Trebuchet MS"/>
              </a:rPr>
              <a:t>learn </a:t>
            </a:r>
            <a:r>
              <a:rPr sz="1850" spc="-90">
                <a:latin typeface="Trebuchet MS"/>
                <a:cs typeface="Trebuchet MS"/>
              </a:rPr>
              <a:t>these  </a:t>
            </a:r>
            <a:r>
              <a:rPr sz="1850" spc="-125">
                <a:latin typeface="Trebuchet MS"/>
                <a:cs typeface="Trebuchet MS"/>
              </a:rPr>
              <a:t>mappings).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Font typeface="Arial" pitchFamily="34" charset="0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96520" indent="-84455">
              <a:lnSpc>
                <a:spcPct val="100000"/>
              </a:lnSpc>
              <a:spcBef>
                <a:spcPts val="5"/>
              </a:spcBef>
              <a:buSzPct val="94594"/>
              <a:buFont typeface="Arial" pitchFamily="34" charset="0"/>
              <a:buChar char="•"/>
              <a:tabLst>
                <a:tab pos="97155" algn="l"/>
              </a:tabLst>
            </a:pPr>
            <a:r>
              <a:rPr sz="1850" b="1" spc="5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Output </a:t>
            </a:r>
            <a:r>
              <a:rPr sz="1850" b="1" spc="-2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Layer </a:t>
            </a:r>
            <a:r>
              <a:rPr sz="1850" spc="515">
                <a:latin typeface="Trebuchet MS"/>
                <a:cs typeface="Trebuchet MS"/>
              </a:rPr>
              <a:t>—</a:t>
            </a:r>
            <a:r>
              <a:rPr sz="1850" spc="20">
                <a:latin typeface="Trebuchet MS"/>
                <a:cs typeface="Trebuchet MS"/>
              </a:rPr>
              <a:t> </a:t>
            </a:r>
            <a:r>
              <a:rPr sz="1850" spc="-45">
                <a:latin typeface="Trebuchet MS"/>
                <a:cs typeface="Trebuchet MS"/>
              </a:rPr>
              <a:t>This </a:t>
            </a:r>
            <a:r>
              <a:rPr sz="1850" spc="-130">
                <a:latin typeface="Trebuchet MS"/>
                <a:cs typeface="Trebuchet MS"/>
              </a:rPr>
              <a:t>layer </a:t>
            </a:r>
            <a:r>
              <a:rPr sz="1850" spc="-75">
                <a:latin typeface="Trebuchet MS"/>
                <a:cs typeface="Trebuchet MS"/>
              </a:rPr>
              <a:t>is responsible </a:t>
            </a:r>
            <a:r>
              <a:rPr sz="1850" spc="-60">
                <a:latin typeface="Trebuchet MS"/>
                <a:cs typeface="Trebuchet MS"/>
              </a:rPr>
              <a:t>for </a:t>
            </a:r>
            <a:r>
              <a:rPr sz="1850" spc="-114">
                <a:latin typeface="Trebuchet MS"/>
                <a:cs typeface="Trebuchet MS"/>
              </a:rPr>
              <a:t>giving </a:t>
            </a:r>
            <a:r>
              <a:rPr sz="1850" spc="-55">
                <a:latin typeface="Trebuchet MS"/>
                <a:cs typeface="Trebuchet MS"/>
              </a:rPr>
              <a:t>us </a:t>
            </a: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-75">
                <a:latin typeface="Trebuchet MS"/>
                <a:cs typeface="Trebuchet MS"/>
              </a:rPr>
              <a:t>output </a:t>
            </a:r>
            <a:r>
              <a:rPr sz="1850" spc="-90">
                <a:latin typeface="Trebuchet MS"/>
                <a:cs typeface="Trebuchet MS"/>
              </a:rPr>
              <a:t>of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50" spc="-100">
                <a:latin typeface="Trebuchet MS"/>
                <a:cs typeface="Trebuchet MS"/>
              </a:rPr>
              <a:t>the </a:t>
            </a:r>
            <a:r>
              <a:rPr sz="1850" spc="280">
                <a:latin typeface="Trebuchet MS"/>
                <a:cs typeface="Trebuchet MS"/>
              </a:rPr>
              <a:t>NN </a:t>
            </a:r>
            <a:r>
              <a:rPr sz="1850" spc="-120">
                <a:latin typeface="Trebuchet MS"/>
                <a:cs typeface="Trebuchet MS"/>
              </a:rPr>
              <a:t>given </a:t>
            </a:r>
            <a:r>
              <a:rPr sz="1850" spc="-5">
                <a:latin typeface="Trebuchet MS"/>
                <a:cs typeface="Trebuchet MS"/>
              </a:rPr>
              <a:t>our</a:t>
            </a:r>
            <a:r>
              <a:rPr sz="1850" spc="-225">
                <a:latin typeface="Trebuchet MS"/>
                <a:cs typeface="Trebuchet MS"/>
              </a:rPr>
              <a:t> </a:t>
            </a:r>
            <a:r>
              <a:rPr sz="1850" spc="-114">
                <a:latin typeface="Trebuchet MS"/>
                <a:cs typeface="Trebuchet MS"/>
              </a:rPr>
              <a:t>inputs.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74654" y="6447459"/>
            <a:ext cx="24002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390"/>
              </a:lnSpc>
            </a:pPr>
            <a:fld id="{81D60167-4931-47E6-BA6A-407CBD079E47}" type="slidenum">
              <a:rPr sz="1200">
                <a:solidFill>
                  <a:srgbClr val="888888"/>
                </a:solidFill>
                <a:latin typeface="Carlito"/>
                <a:cs typeface="Carlito"/>
              </a:rPr>
              <a:pPr marL="38100">
                <a:lnSpc>
                  <a:spcPts val="1390"/>
                </a:lnSpc>
              </a:pPr>
              <a:t>5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75380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192" y="124409"/>
            <a:ext cx="20491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330">
                <a:latin typeface="Arial" pitchFamily="34" charset="0"/>
                <a:cs typeface="Arial" pitchFamily="34" charset="0"/>
              </a:rPr>
              <a:t>Cost </a:t>
            </a:r>
            <a:r>
              <a:rPr sz="3200" b="0" spc="-285">
                <a:latin typeface="Arial" pitchFamily="34" charset="0"/>
                <a:cs typeface="Arial" pitchFamily="34" charset="0"/>
              </a:rPr>
              <a:t>Function</a:t>
            </a:r>
            <a:endParaRPr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20911" y="1636776"/>
            <a:ext cx="2647470" cy="919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141" y="1241298"/>
            <a:ext cx="10414635" cy="3719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2618105">
              <a:lnSpc>
                <a:spcPct val="101600"/>
              </a:lnSpc>
              <a:spcBef>
                <a:spcPts val="95"/>
              </a:spcBef>
            </a:pPr>
            <a:r>
              <a:rPr sz="2100" spc="20">
                <a:latin typeface="Carlito"/>
                <a:cs typeface="Carlito"/>
              </a:rPr>
              <a:t>A </a:t>
            </a:r>
            <a:r>
              <a:rPr sz="2100" b="1" spc="10">
                <a:latin typeface="Carlito"/>
                <a:cs typeface="Carlito"/>
              </a:rPr>
              <a:t>Cost </a:t>
            </a:r>
            <a:r>
              <a:rPr sz="2100" b="1" spc="15">
                <a:latin typeface="Carlito"/>
                <a:cs typeface="Carlito"/>
              </a:rPr>
              <a:t>Function/Loss Function </a:t>
            </a:r>
            <a:r>
              <a:rPr sz="2100" spc="5">
                <a:latin typeface="Carlito"/>
                <a:cs typeface="Carlito"/>
              </a:rPr>
              <a:t>evaluates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spc="10">
                <a:latin typeface="Carlito"/>
                <a:cs typeface="Carlito"/>
              </a:rPr>
              <a:t>performance of our  </a:t>
            </a:r>
            <a:r>
              <a:rPr sz="2100" spc="15">
                <a:latin typeface="Carlito"/>
                <a:cs typeface="Carlito"/>
              </a:rPr>
              <a:t>Machine </a:t>
            </a:r>
            <a:r>
              <a:rPr sz="2100" spc="10">
                <a:latin typeface="Carlito"/>
                <a:cs typeface="Carlito"/>
              </a:rPr>
              <a:t>Learning Algorithm. The </a:t>
            </a:r>
            <a:r>
              <a:rPr sz="2100" b="1" spc="15">
                <a:latin typeface="Carlito"/>
                <a:cs typeface="Carlito"/>
              </a:rPr>
              <a:t>Loss </a:t>
            </a:r>
            <a:r>
              <a:rPr sz="2100" b="1" spc="10">
                <a:latin typeface="Carlito"/>
                <a:cs typeface="Carlito"/>
              </a:rPr>
              <a:t>function </a:t>
            </a:r>
            <a:r>
              <a:rPr sz="2100" spc="10">
                <a:latin typeface="Carlito"/>
                <a:cs typeface="Carlito"/>
              </a:rPr>
              <a:t>computes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spc="5">
                <a:latin typeface="Carlito"/>
                <a:cs typeface="Carlito"/>
              </a:rPr>
              <a:t>error </a:t>
            </a:r>
            <a:r>
              <a:rPr sz="2100" spc="-10">
                <a:latin typeface="Carlito"/>
                <a:cs typeface="Carlito"/>
              </a:rPr>
              <a:t>for  </a:t>
            </a:r>
            <a:r>
              <a:rPr sz="2100" spc="15">
                <a:latin typeface="Carlito"/>
                <a:cs typeface="Carlito"/>
              </a:rPr>
              <a:t>a </a:t>
            </a:r>
            <a:r>
              <a:rPr sz="2100" spc="5">
                <a:latin typeface="Carlito"/>
                <a:cs typeface="Carlito"/>
              </a:rPr>
              <a:t>single training example </a:t>
            </a:r>
            <a:r>
              <a:rPr sz="2100" spc="10">
                <a:latin typeface="Carlito"/>
                <a:cs typeface="Carlito"/>
              </a:rPr>
              <a:t>while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b="1" spc="10">
                <a:latin typeface="Carlito"/>
                <a:cs typeface="Carlito"/>
              </a:rPr>
              <a:t>Cost functi</a:t>
            </a:r>
            <a:r>
              <a:rPr sz="2100" spc="10">
                <a:latin typeface="Carlito"/>
                <a:cs typeface="Carlito"/>
              </a:rPr>
              <a:t>on </a:t>
            </a:r>
            <a:r>
              <a:rPr sz="2100" spc="5">
                <a:latin typeface="Carlito"/>
                <a:cs typeface="Carlito"/>
              </a:rPr>
              <a:t>is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>
                <a:latin typeface="Carlito"/>
                <a:cs typeface="Carlito"/>
              </a:rPr>
              <a:t>average </a:t>
            </a:r>
            <a:r>
              <a:rPr sz="2100" spc="10">
                <a:latin typeface="Carlito"/>
                <a:cs typeface="Carlito"/>
              </a:rPr>
              <a:t>of </a:t>
            </a:r>
            <a:r>
              <a:rPr sz="2100" spc="15">
                <a:latin typeface="Carlito"/>
                <a:cs typeface="Carlito"/>
              </a:rPr>
              <a:t>the  </a:t>
            </a:r>
            <a:r>
              <a:rPr sz="2100" spc="5">
                <a:latin typeface="Carlito"/>
                <a:cs typeface="Carlito"/>
              </a:rPr>
              <a:t>loss </a:t>
            </a:r>
            <a:r>
              <a:rPr sz="2100" spc="10">
                <a:latin typeface="Carlito"/>
                <a:cs typeface="Carlito"/>
              </a:rPr>
              <a:t>functions </a:t>
            </a:r>
            <a:r>
              <a:rPr sz="2100" spc="-10">
                <a:latin typeface="Carlito"/>
                <a:cs typeface="Carlito"/>
              </a:rPr>
              <a:t>for </a:t>
            </a:r>
            <a:r>
              <a:rPr sz="2100" spc="5">
                <a:latin typeface="Carlito"/>
                <a:cs typeface="Carlito"/>
              </a:rPr>
              <a:t>all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spc="5">
                <a:latin typeface="Carlito"/>
                <a:cs typeface="Carlito"/>
              </a:rPr>
              <a:t>training</a:t>
            </a:r>
            <a:r>
              <a:rPr sz="2100">
                <a:latin typeface="Carlito"/>
                <a:cs typeface="Carlito"/>
              </a:rPr>
              <a:t> </a:t>
            </a:r>
            <a:r>
              <a:rPr sz="2100" spc="5">
                <a:latin typeface="Carlito"/>
                <a:cs typeface="Carlito"/>
              </a:rPr>
              <a:t>examples.</a:t>
            </a:r>
            <a:endParaRPr sz="2100">
              <a:latin typeface="Carlito"/>
              <a:cs typeface="Carlito"/>
            </a:endParaRPr>
          </a:p>
          <a:p>
            <a:pPr marL="372110" algn="ctr">
              <a:lnSpc>
                <a:spcPct val="100000"/>
              </a:lnSpc>
              <a:spcBef>
                <a:spcPts val="1250"/>
              </a:spcBef>
            </a:pPr>
            <a:r>
              <a:rPr sz="2100" spc="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100" spc="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goal of any </a:t>
            </a:r>
            <a:r>
              <a:rPr sz="2100" spc="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Learning Algorithm </a:t>
            </a:r>
            <a:r>
              <a:rPr sz="2100" spc="1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 to </a:t>
            </a:r>
            <a:r>
              <a:rPr sz="2100" spc="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minimize </a:t>
            </a:r>
            <a:r>
              <a:rPr sz="2100" spc="1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Cost</a:t>
            </a:r>
            <a:r>
              <a:rPr sz="2100" spc="-1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100" spc="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Function.</a:t>
            </a:r>
            <a:endParaRPr sz="21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endParaRPr sz="24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100" spc="5">
                <a:latin typeface="Arial" pitchFamily="34" charset="0"/>
                <a:cs typeface="Arial" pitchFamily="34" charset="0"/>
              </a:rPr>
              <a:t>lower </a:t>
            </a:r>
            <a:r>
              <a:rPr sz="2100" spc="10">
                <a:latin typeface="Arial" pitchFamily="34" charset="0"/>
                <a:cs typeface="Arial" pitchFamily="34" charset="0"/>
              </a:rPr>
              <a:t>error </a:t>
            </a:r>
            <a:r>
              <a:rPr sz="2100" spc="5">
                <a:latin typeface="Arial" pitchFamily="34" charset="0"/>
                <a:cs typeface="Arial" pitchFamily="34" charset="0"/>
              </a:rPr>
              <a:t>between </a:t>
            </a:r>
            <a:r>
              <a:rPr sz="2100" spc="10">
                <a:latin typeface="Arial" pitchFamily="34" charset="0"/>
                <a:cs typeface="Arial" pitchFamily="34" charset="0"/>
              </a:rPr>
              <a:t>the actual and the predicted values </a:t>
            </a:r>
            <a:r>
              <a:rPr sz="2100" spc="15">
                <a:latin typeface="Arial" pitchFamily="34" charset="0"/>
                <a:cs typeface="Arial" pitchFamily="34" charset="0"/>
              </a:rPr>
              <a:t>signifies </a:t>
            </a:r>
            <a:r>
              <a:rPr sz="2100" spc="5">
                <a:latin typeface="Arial" pitchFamily="34" charset="0"/>
                <a:cs typeface="Arial" pitchFamily="34" charset="0"/>
              </a:rPr>
              <a:t>that </a:t>
            </a:r>
            <a:r>
              <a:rPr sz="2100" spc="10">
                <a:latin typeface="Arial" pitchFamily="34" charset="0"/>
                <a:cs typeface="Arial" pitchFamily="34" charset="0"/>
              </a:rPr>
              <a:t>the algorithm</a:t>
            </a:r>
            <a:r>
              <a:rPr sz="2100" spc="70">
                <a:latin typeface="Arial" pitchFamily="34" charset="0"/>
                <a:cs typeface="Arial" pitchFamily="34" charset="0"/>
              </a:rPr>
              <a:t> </a:t>
            </a:r>
            <a:r>
              <a:rPr sz="2100" spc="10">
                <a:latin typeface="Arial" pitchFamily="34" charset="0"/>
                <a:cs typeface="Arial" pitchFamily="34" charset="0"/>
              </a:rPr>
              <a:t>has</a:t>
            </a:r>
            <a:endParaRPr sz="210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100" spc="5">
                <a:latin typeface="Arial" pitchFamily="34" charset="0"/>
                <a:cs typeface="Arial" pitchFamily="34" charset="0"/>
              </a:rPr>
              <a:t>done </a:t>
            </a:r>
            <a:r>
              <a:rPr sz="2100" spc="15">
                <a:latin typeface="Arial" pitchFamily="34" charset="0"/>
                <a:cs typeface="Arial" pitchFamily="34" charset="0"/>
              </a:rPr>
              <a:t>a </a:t>
            </a:r>
            <a:r>
              <a:rPr sz="2100" spc="10">
                <a:latin typeface="Arial" pitchFamily="34" charset="0"/>
                <a:cs typeface="Arial" pitchFamily="34" charset="0"/>
              </a:rPr>
              <a:t>good </a:t>
            </a:r>
            <a:r>
              <a:rPr sz="2100" spc="15">
                <a:latin typeface="Arial" pitchFamily="34" charset="0"/>
                <a:cs typeface="Arial" pitchFamily="34" charset="0"/>
              </a:rPr>
              <a:t>job in</a:t>
            </a:r>
            <a:r>
              <a:rPr sz="2100" spc="5">
                <a:latin typeface="Arial" pitchFamily="34" charset="0"/>
                <a:cs typeface="Arial" pitchFamily="34" charset="0"/>
              </a:rPr>
              <a:t> learning.</a:t>
            </a:r>
            <a:endParaRPr sz="21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100" spc="20">
                <a:latin typeface="Carlito"/>
                <a:cs typeface="Carlito"/>
              </a:rPr>
              <a:t>A </a:t>
            </a:r>
            <a:r>
              <a:rPr sz="2100" spc="10">
                <a:latin typeface="Carlito"/>
                <a:cs typeface="Carlito"/>
              </a:rPr>
              <a:t>common measure of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spc="10">
                <a:latin typeface="Carlito"/>
                <a:cs typeface="Carlito"/>
              </a:rPr>
              <a:t>discrepancy between </a:t>
            </a:r>
            <a:r>
              <a:rPr sz="2100" spc="15">
                <a:latin typeface="Carlito"/>
                <a:cs typeface="Carlito"/>
              </a:rPr>
              <a:t>the </a:t>
            </a:r>
            <a:r>
              <a:rPr sz="2100" spc="10">
                <a:latin typeface="Carlito"/>
                <a:cs typeface="Carlito"/>
              </a:rPr>
              <a:t>two </a:t>
            </a:r>
            <a:r>
              <a:rPr sz="2100" spc="5">
                <a:latin typeface="Carlito"/>
                <a:cs typeface="Carlito"/>
              </a:rPr>
              <a:t>values is </a:t>
            </a:r>
            <a:r>
              <a:rPr sz="2100" spc="15">
                <a:latin typeface="Carlito"/>
                <a:cs typeface="Carlito"/>
              </a:rPr>
              <a:t>the</a:t>
            </a:r>
            <a:r>
              <a:rPr sz="2100" spc="10">
                <a:latin typeface="Carlito"/>
                <a:cs typeface="Carlito"/>
              </a:rPr>
              <a:t> </a:t>
            </a:r>
            <a:r>
              <a:rPr sz="2100" spc="5">
                <a:latin typeface="Carlito"/>
                <a:cs typeface="Carlito"/>
              </a:rPr>
              <a:t>”Cross-entropy”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74591" y="5303520"/>
            <a:ext cx="3602461" cy="334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74654" y="6447459"/>
            <a:ext cx="24002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390"/>
              </a:lnSpc>
            </a:pPr>
            <a:fld id="{81D60167-4931-47E6-BA6A-407CBD079E47}" type="slidenum">
              <a:rPr sz="1200">
                <a:solidFill>
                  <a:srgbClr val="888888"/>
                </a:solidFill>
                <a:latin typeface="Carlito"/>
                <a:cs typeface="Carlito"/>
              </a:rPr>
              <a:pPr marL="38100">
                <a:lnSpc>
                  <a:spcPts val="1390"/>
                </a:lnSpc>
              </a:pPr>
              <a:t>6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75772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192" y="124409"/>
            <a:ext cx="26047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270">
                <a:latin typeface="Arial" pitchFamily="34" charset="0"/>
                <a:cs typeface="Arial" pitchFamily="34" charset="0"/>
              </a:rPr>
              <a:t>Gradient</a:t>
            </a:r>
            <a:r>
              <a:rPr sz="3200" b="0" spc="-305">
                <a:latin typeface="Arial" pitchFamily="34" charset="0"/>
                <a:cs typeface="Arial" pitchFamily="34" charset="0"/>
              </a:rPr>
              <a:t> </a:t>
            </a:r>
            <a:r>
              <a:rPr sz="3200" b="0" spc="-320">
                <a:latin typeface="Arial" pitchFamily="34" charset="0"/>
                <a:cs typeface="Arial" pitchFamily="34" charset="0"/>
              </a:rPr>
              <a:t>Descent</a:t>
            </a:r>
            <a:endParaRPr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2944" y="4299330"/>
            <a:ext cx="494284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Gradient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descent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is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an optimization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algorithm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used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to 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minimize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some function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by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iteratively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moving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in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the  direction of steepest descent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as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defined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by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negative  of the</a:t>
            </a:r>
            <a:r>
              <a:rPr sz="1600" spc="-2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gradient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34150" y="1578991"/>
            <a:ext cx="4826000" cy="1598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While the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direction of the gradient tells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us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which  direction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has the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steepest ascent, it's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magnitude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tells 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us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how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steep the steepest ascent/descent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is. So, at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the 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minima,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where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contour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is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almost flat,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you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would  expect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gradient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to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be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almost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zero. In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fact,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it's  precisely zero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for </a:t>
            </a:r>
            <a:r>
              <a:rPr sz="1600" spc="-5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600">
                <a:solidFill>
                  <a:srgbClr val="404040"/>
                </a:solidFill>
                <a:latin typeface="Georgia"/>
                <a:cs typeface="Georgia"/>
              </a:rPr>
              <a:t>point of</a:t>
            </a:r>
            <a:r>
              <a:rPr sz="1600" spc="-15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1600" spc="5">
                <a:solidFill>
                  <a:srgbClr val="404040"/>
                </a:solidFill>
                <a:latin typeface="Georgia"/>
                <a:cs typeface="Georgia"/>
              </a:rPr>
              <a:t>minima</a:t>
            </a:r>
            <a:r>
              <a:rPr sz="2400" spc="5">
                <a:solidFill>
                  <a:srgbClr val="303A3E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73823" y="3566159"/>
            <a:ext cx="4008120" cy="2478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5944" y="1307591"/>
            <a:ext cx="4507991" cy="2560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/>
              <a:t>15-02-2021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74654" y="6447459"/>
            <a:ext cx="24002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390"/>
              </a:lnSpc>
            </a:pPr>
            <a:fld id="{81D60167-4931-47E6-BA6A-407CBD079E47}" type="slidenum">
              <a:rPr sz="1200">
                <a:solidFill>
                  <a:srgbClr val="888888"/>
                </a:solidFill>
                <a:latin typeface="Carlito"/>
                <a:cs typeface="Carlito"/>
              </a:rPr>
              <a:pPr marL="38100">
                <a:lnSpc>
                  <a:spcPts val="1390"/>
                </a:lnSpc>
              </a:pPr>
              <a:t>7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9635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850900"/>
            <a:chOff x="0" y="0"/>
            <a:chExt cx="12192000" cy="8509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850900"/>
            </a:xfrm>
            <a:custGeom>
              <a:avLst/>
              <a:gdLst/>
              <a:ahLst/>
              <a:cxnLst/>
              <a:rect l="l" t="t" r="r" b="b"/>
              <a:pathLst>
                <a:path w="12192000" h="850900">
                  <a:moveTo>
                    <a:pt x="12192000" y="0"/>
                  </a:moveTo>
                  <a:lnTo>
                    <a:pt x="0" y="0"/>
                  </a:lnTo>
                  <a:lnTo>
                    <a:pt x="0" y="850391"/>
                  </a:lnTo>
                  <a:lnTo>
                    <a:pt x="12192000" y="8503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5333E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73511" y="280415"/>
              <a:ext cx="1085088" cy="28955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01192" y="124409"/>
            <a:ext cx="33966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315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Backward</a:t>
            </a:r>
            <a:r>
              <a:rPr sz="3200" spc="-285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3200" spc="-27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Propagation</a:t>
            </a:r>
            <a:endParaRPr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2393" y="1272032"/>
            <a:ext cx="10537825" cy="881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spc="15">
                <a:solidFill>
                  <a:srgbClr val="292929"/>
                </a:solidFill>
                <a:latin typeface="Verdana"/>
                <a:cs typeface="Verdana"/>
              </a:rPr>
              <a:t>we can’t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directly calculate the </a:t>
            </a:r>
            <a:r>
              <a:rPr sz="1850" spc="-5">
                <a:solidFill>
                  <a:srgbClr val="292929"/>
                </a:solidFill>
                <a:latin typeface="Verdana"/>
                <a:cs typeface="Verdana"/>
              </a:rPr>
              <a:t>derivative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of the loss </a:t>
            </a:r>
            <a:r>
              <a:rPr sz="1850">
                <a:solidFill>
                  <a:srgbClr val="292929"/>
                </a:solidFill>
                <a:latin typeface="Verdana"/>
                <a:cs typeface="Verdana"/>
              </a:rPr>
              <a:t>function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with respect </a:t>
            </a:r>
            <a:r>
              <a:rPr sz="1850" spc="10">
                <a:solidFill>
                  <a:srgbClr val="292929"/>
                </a:solidFill>
                <a:latin typeface="Verdana"/>
                <a:cs typeface="Verdana"/>
              </a:rPr>
              <a:t>to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the weights  </a:t>
            </a:r>
            <a:r>
              <a:rPr sz="1850" spc="15">
                <a:solidFill>
                  <a:srgbClr val="292929"/>
                </a:solidFill>
                <a:latin typeface="Verdana"/>
                <a:cs typeface="Verdana"/>
              </a:rPr>
              <a:t>and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biases </a:t>
            </a:r>
            <a:r>
              <a:rPr sz="1850" spc="10">
                <a:solidFill>
                  <a:srgbClr val="292929"/>
                </a:solidFill>
                <a:latin typeface="Verdana"/>
                <a:cs typeface="Verdana"/>
              </a:rPr>
              <a:t>because the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equation of </a:t>
            </a:r>
            <a:r>
              <a:rPr sz="1850" spc="10">
                <a:solidFill>
                  <a:srgbClr val="292929"/>
                </a:solidFill>
                <a:latin typeface="Verdana"/>
                <a:cs typeface="Verdana"/>
              </a:rPr>
              <a:t>the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loss function does not </a:t>
            </a:r>
            <a:r>
              <a:rPr sz="1850" spc="10">
                <a:solidFill>
                  <a:srgbClr val="292929"/>
                </a:solidFill>
                <a:latin typeface="Verdana"/>
                <a:cs typeface="Verdana"/>
              </a:rPr>
              <a:t>contain the weights </a:t>
            </a:r>
            <a:r>
              <a:rPr sz="1850" spc="15">
                <a:solidFill>
                  <a:srgbClr val="292929"/>
                </a:solidFill>
                <a:latin typeface="Verdana"/>
                <a:cs typeface="Verdana"/>
              </a:rPr>
              <a:t>and  </a:t>
            </a:r>
            <a:r>
              <a:rPr sz="1850" spc="10">
                <a:solidFill>
                  <a:srgbClr val="292929"/>
                </a:solidFill>
                <a:latin typeface="Verdana"/>
                <a:cs typeface="Verdana"/>
              </a:rPr>
              <a:t>biases. </a:t>
            </a:r>
            <a:r>
              <a:rPr sz="1850">
                <a:solidFill>
                  <a:srgbClr val="292929"/>
                </a:solidFill>
                <a:latin typeface="Verdana"/>
                <a:cs typeface="Verdana"/>
              </a:rPr>
              <a:t>Therefore, </a:t>
            </a:r>
            <a:r>
              <a:rPr sz="1850" spc="15">
                <a:solidFill>
                  <a:srgbClr val="292929"/>
                </a:solidFill>
                <a:latin typeface="Verdana"/>
                <a:cs typeface="Verdana"/>
              </a:rPr>
              <a:t>we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need </a:t>
            </a:r>
            <a:r>
              <a:rPr sz="1850" spc="10">
                <a:solidFill>
                  <a:srgbClr val="292929"/>
                </a:solidFill>
                <a:latin typeface="Verdana"/>
                <a:cs typeface="Verdana"/>
              </a:rPr>
              <a:t>the </a:t>
            </a:r>
            <a:r>
              <a:rPr sz="1850" b="1" spc="10">
                <a:solidFill>
                  <a:srgbClr val="292929"/>
                </a:solidFill>
                <a:latin typeface="Verdana"/>
                <a:cs typeface="Verdana"/>
              </a:rPr>
              <a:t>chain rule </a:t>
            </a:r>
            <a:r>
              <a:rPr sz="1850" spc="10">
                <a:solidFill>
                  <a:srgbClr val="292929"/>
                </a:solidFill>
                <a:latin typeface="Verdana"/>
                <a:cs typeface="Verdana"/>
              </a:rPr>
              <a:t>to </a:t>
            </a:r>
            <a:r>
              <a:rPr sz="1850">
                <a:solidFill>
                  <a:srgbClr val="292929"/>
                </a:solidFill>
                <a:latin typeface="Verdana"/>
                <a:cs typeface="Verdana"/>
              </a:rPr>
              <a:t>help </a:t>
            </a:r>
            <a:r>
              <a:rPr sz="1850" spc="5">
                <a:solidFill>
                  <a:srgbClr val="292929"/>
                </a:solidFill>
                <a:latin typeface="Verdana"/>
                <a:cs typeface="Verdana"/>
              </a:rPr>
              <a:t>us calculate</a:t>
            </a:r>
            <a:r>
              <a:rPr sz="1850" spc="2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50">
                <a:solidFill>
                  <a:srgbClr val="292929"/>
                </a:solidFill>
                <a:latin typeface="Verdana"/>
                <a:cs typeface="Verdana"/>
              </a:rPr>
              <a:t>it.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1781" y="2575560"/>
            <a:ext cx="5565324" cy="28980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074654" y="6447459"/>
            <a:ext cx="24002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390"/>
              </a:lnSpc>
            </a:pPr>
            <a:fld id="{81D60167-4931-47E6-BA6A-407CBD079E47}" type="slidenum">
              <a:rPr sz="1200">
                <a:solidFill>
                  <a:srgbClr val="888888"/>
                </a:solidFill>
                <a:latin typeface="Carlito"/>
                <a:cs typeface="Carlito"/>
              </a:rPr>
              <a:pPr marL="38100">
                <a:lnSpc>
                  <a:spcPts val="1390"/>
                </a:lnSpc>
              </a:pPr>
              <a:t>8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60311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192" y="124409"/>
            <a:ext cx="33966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315">
                <a:latin typeface="Arial" pitchFamily="34" charset="0"/>
                <a:cs typeface="Arial" pitchFamily="34" charset="0"/>
              </a:rPr>
              <a:t>Backward</a:t>
            </a:r>
            <a:r>
              <a:rPr sz="3200" b="0" spc="-285">
                <a:latin typeface="Arial" pitchFamily="34" charset="0"/>
                <a:cs typeface="Arial" pitchFamily="34" charset="0"/>
              </a:rPr>
              <a:t> </a:t>
            </a:r>
            <a:r>
              <a:rPr sz="3200" b="0" spc="-270">
                <a:latin typeface="Arial" pitchFamily="34" charset="0"/>
                <a:cs typeface="Arial" pitchFamily="34" charset="0"/>
              </a:rPr>
              <a:t>Propagation</a:t>
            </a:r>
            <a:endParaRPr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09672" y="1530096"/>
            <a:ext cx="7015332" cy="32807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3592" y="5339588"/>
            <a:ext cx="10888345" cy="6781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35">
                <a:latin typeface="Arial" pitchFamily="34" charset="0"/>
                <a:cs typeface="Arial" pitchFamily="34" charset="0"/>
              </a:rPr>
              <a:t>We </a:t>
            </a:r>
            <a:r>
              <a:rPr sz="2100" spc="15">
                <a:latin typeface="Arial" pitchFamily="34" charset="0"/>
                <a:cs typeface="Arial" pitchFamily="34" charset="0"/>
              </a:rPr>
              <a:t>know </a:t>
            </a:r>
            <a:r>
              <a:rPr sz="2100" spc="5">
                <a:latin typeface="Arial" pitchFamily="34" charset="0"/>
                <a:cs typeface="Arial" pitchFamily="34" charset="0"/>
              </a:rPr>
              <a:t>that propagation </a:t>
            </a:r>
            <a:r>
              <a:rPr sz="2100" spc="10">
                <a:latin typeface="Arial" pitchFamily="34" charset="0"/>
                <a:cs typeface="Arial" pitchFamily="34" charset="0"/>
              </a:rPr>
              <a:t>is used </a:t>
            </a:r>
            <a:r>
              <a:rPr sz="2100" spc="15">
                <a:latin typeface="Arial" pitchFamily="34" charset="0"/>
                <a:cs typeface="Arial" pitchFamily="34" charset="0"/>
              </a:rPr>
              <a:t>to calculate </a:t>
            </a:r>
            <a:r>
              <a:rPr sz="2100" spc="10">
                <a:latin typeface="Arial" pitchFamily="34" charset="0"/>
                <a:cs typeface="Arial" pitchFamily="34" charset="0"/>
              </a:rPr>
              <a:t>the </a:t>
            </a:r>
            <a:r>
              <a:rPr sz="2100" spc="5">
                <a:latin typeface="Arial" pitchFamily="34" charset="0"/>
                <a:cs typeface="Arial" pitchFamily="34" charset="0"/>
              </a:rPr>
              <a:t>gradient of </a:t>
            </a:r>
            <a:r>
              <a:rPr sz="2100" spc="10">
                <a:latin typeface="Arial" pitchFamily="34" charset="0"/>
                <a:cs typeface="Arial" pitchFamily="34" charset="0"/>
              </a:rPr>
              <a:t>the </a:t>
            </a:r>
            <a:r>
              <a:rPr sz="2100" spc="15">
                <a:latin typeface="Arial" pitchFamily="34" charset="0"/>
                <a:cs typeface="Arial" pitchFamily="34" charset="0"/>
              </a:rPr>
              <a:t>loss function </a:t>
            </a:r>
            <a:r>
              <a:rPr sz="2100" spc="5">
                <a:latin typeface="Arial" pitchFamily="34" charset="0"/>
                <a:cs typeface="Arial" pitchFamily="34" charset="0"/>
              </a:rPr>
              <a:t>with</a:t>
            </a:r>
            <a:r>
              <a:rPr sz="2100" spc="-114">
                <a:latin typeface="Arial" pitchFamily="34" charset="0"/>
                <a:cs typeface="Arial" pitchFamily="34" charset="0"/>
              </a:rPr>
              <a:t> </a:t>
            </a:r>
            <a:r>
              <a:rPr sz="2100" spc="10">
                <a:latin typeface="Arial" pitchFamily="34" charset="0"/>
                <a:cs typeface="Arial" pitchFamily="34" charset="0"/>
              </a:rPr>
              <a:t>respect</a:t>
            </a:r>
            <a:endParaRPr sz="210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100" spc="15">
                <a:latin typeface="Arial" pitchFamily="34" charset="0"/>
                <a:cs typeface="Arial" pitchFamily="34" charset="0"/>
              </a:rPr>
              <a:t>to the</a:t>
            </a:r>
            <a:r>
              <a:rPr sz="2100" spc="-45">
                <a:latin typeface="Arial" pitchFamily="34" charset="0"/>
                <a:cs typeface="Arial" pitchFamily="34" charset="0"/>
              </a:rPr>
              <a:t> </a:t>
            </a:r>
            <a:r>
              <a:rPr sz="2100" spc="10">
                <a:latin typeface="Arial" pitchFamily="34" charset="0"/>
                <a:cs typeface="Arial" pitchFamily="34" charset="0"/>
              </a:rPr>
              <a:t>parameters.</a:t>
            </a:r>
            <a:endParaRPr sz="21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654" y="6447459"/>
            <a:ext cx="24002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390"/>
              </a:lnSpc>
            </a:pPr>
            <a:fld id="{81D60167-4931-47E6-BA6A-407CBD079E47}" type="slidenum">
              <a:rPr sz="1200">
                <a:solidFill>
                  <a:srgbClr val="888888"/>
                </a:solidFill>
                <a:latin typeface="Carlito"/>
                <a:cs typeface="Carlito"/>
              </a:rPr>
              <a:pPr marL="38100">
                <a:lnSpc>
                  <a:spcPts val="1390"/>
                </a:lnSpc>
              </a:pPr>
              <a:t>9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84244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222" y="5770419"/>
            <a:ext cx="6834468" cy="0"/>
          </a:xfrm>
          <a:custGeom>
            <a:avLst/>
            <a:gdLst/>
            <a:ahLst/>
            <a:cxnLst/>
            <a:rect l="l" t="t" r="r" b="b"/>
            <a:pathLst>
              <a:path w="7745730">
                <a:moveTo>
                  <a:pt x="0" y="0"/>
                </a:moveTo>
                <a:lnTo>
                  <a:pt x="7745712" y="0"/>
                </a:lnTo>
              </a:path>
            </a:pathLst>
          </a:custGeom>
          <a:ln w="9421">
            <a:solidFill>
              <a:srgbClr val="009FD9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98313" y="1595641"/>
            <a:ext cx="1708336" cy="341779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4">
                <a:latin typeface="Arial" pitchFamily="34" charset="0"/>
                <a:cs typeface="Arial" pitchFamily="34" charset="0"/>
              </a:rPr>
              <a:t>Color</a:t>
            </a:r>
            <a:r>
              <a:rPr sz="2074" b="1" spc="-44"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latin typeface="Arial" pitchFamily="34" charset="0"/>
                <a:cs typeface="Arial" pitchFamily="34" charset="0"/>
              </a:rPr>
              <a:t>Images</a:t>
            </a:r>
            <a:endParaRPr sz="2074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129" y="809535"/>
            <a:ext cx="2091018" cy="44823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 lang="en-US" sz="2779" b="1" smtClean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CNN</a:t>
            </a:r>
            <a:endParaRPr sz="2779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7229" y="1594664"/>
            <a:ext cx="6118165" cy="4028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222" y="5770419"/>
            <a:ext cx="6834468" cy="0"/>
          </a:xfrm>
          <a:custGeom>
            <a:avLst/>
            <a:gdLst/>
            <a:ahLst/>
            <a:cxnLst/>
            <a:rect l="l" t="t" r="r" b="b"/>
            <a:pathLst>
              <a:path w="7745730">
                <a:moveTo>
                  <a:pt x="0" y="0"/>
                </a:moveTo>
                <a:lnTo>
                  <a:pt x="7745712" y="0"/>
                </a:lnTo>
              </a:path>
            </a:pathLst>
          </a:custGeom>
          <a:ln w="9421">
            <a:solidFill>
              <a:srgbClr val="009FD9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95623" y="1749832"/>
            <a:ext cx="5336767" cy="3825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8313" y="1595641"/>
            <a:ext cx="1708336" cy="341779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4">
                <a:latin typeface="Arial" pitchFamily="34" charset="0"/>
                <a:cs typeface="Arial" pitchFamily="34" charset="0"/>
              </a:rPr>
              <a:t>Color</a:t>
            </a:r>
            <a:r>
              <a:rPr sz="2074" b="1" spc="-44"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latin typeface="Arial" pitchFamily="34" charset="0"/>
                <a:cs typeface="Arial" pitchFamily="34" charset="0"/>
              </a:rPr>
              <a:t>Images</a:t>
            </a:r>
            <a:endParaRPr sz="2074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129" y="809535"/>
            <a:ext cx="2091018" cy="44823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 sz="2779" b="1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sz="2779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222" y="5770419"/>
            <a:ext cx="6834468" cy="0"/>
          </a:xfrm>
          <a:custGeom>
            <a:avLst/>
            <a:gdLst/>
            <a:ahLst/>
            <a:cxnLst/>
            <a:rect l="l" t="t" r="r" b="b"/>
            <a:pathLst>
              <a:path w="7745730">
                <a:moveTo>
                  <a:pt x="0" y="0"/>
                </a:moveTo>
                <a:lnTo>
                  <a:pt x="7745712" y="0"/>
                </a:lnTo>
              </a:path>
            </a:pathLst>
          </a:custGeom>
          <a:ln w="9421">
            <a:solidFill>
              <a:srgbClr val="009FD9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129" y="809535"/>
            <a:ext cx="6584576" cy="29375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/>
              <a:t>Convolutional </a:t>
            </a:r>
            <a:r>
              <a:rPr spc="4"/>
              <a:t>Neural Networks (CNNs)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8314" y="1619846"/>
            <a:ext cx="5879727" cy="759199"/>
          </a:xfrm>
          <a:prstGeom prst="rect">
            <a:avLst/>
          </a:prstGeom>
        </p:spPr>
        <p:txBody>
          <a:bodyPr vert="horz" wrap="square" lIns="0" tIns="96371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759"/>
              </a:spcBef>
            </a:pP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Network</a:t>
            </a:r>
            <a:r>
              <a:rPr sz="2074" b="1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Architecture</a:t>
            </a:r>
            <a:endParaRPr sz="2074">
              <a:latin typeface="Arial" pitchFamily="34" charset="0"/>
              <a:cs typeface="Arial" pitchFamily="34" charset="0"/>
            </a:endParaRPr>
          </a:p>
          <a:p>
            <a:pPr marL="89087" indent="-78441">
              <a:lnSpc>
                <a:spcPct val="100000"/>
              </a:lnSpc>
              <a:spcBef>
                <a:spcPts val="569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Convolutional Layer, Pooling Layer, Fully Connected</a:t>
            </a:r>
            <a:r>
              <a:rPr sz="1721" spc="35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Layer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1222" y="2849904"/>
            <a:ext cx="7653525" cy="2394059"/>
            <a:chOff x="776391" y="2763987"/>
            <a:chExt cx="7653525" cy="2394059"/>
          </a:xfrm>
        </p:grpSpPr>
        <p:sp>
          <p:nvSpPr>
            <p:cNvPr id="6" name="object 6"/>
            <p:cNvSpPr/>
            <p:nvPr/>
          </p:nvSpPr>
          <p:spPr>
            <a:xfrm>
              <a:off x="776391" y="2831319"/>
              <a:ext cx="7496413" cy="22818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5245" y="2763987"/>
              <a:ext cx="6184672" cy="239405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8" name="Rectangle 7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196" y="5919899"/>
            <a:ext cx="480732" cy="149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51"/>
              </a:lnSpc>
            </a:pPr>
            <a:r>
              <a:rPr sz="1015" spc="13">
                <a:latin typeface="Arial" pitchFamily="34" charset="0"/>
                <a:cs typeface="Arial" pitchFamily="34" charset="0"/>
              </a:rPr>
              <a:t>Slide</a:t>
            </a:r>
            <a:r>
              <a:rPr sz="1015" spc="-75">
                <a:latin typeface="Arial" pitchFamily="34" charset="0"/>
                <a:cs typeface="Arial" pitchFamily="34" charset="0"/>
              </a:rPr>
              <a:t> </a:t>
            </a:r>
            <a:r>
              <a:rPr sz="1015" spc="18">
                <a:latin typeface="Arial" pitchFamily="34" charset="0"/>
                <a:cs typeface="Arial" pitchFamily="34" charset="0"/>
              </a:rPr>
              <a:t>17</a:t>
            </a:r>
            <a:endParaRPr sz="1015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716" y="5516880"/>
            <a:ext cx="7182410" cy="705410"/>
          </a:xfrm>
          <a:custGeom>
            <a:avLst/>
            <a:gdLst/>
            <a:ahLst/>
            <a:cxnLst/>
            <a:rect l="l" t="t" r="r" b="b"/>
            <a:pathLst>
              <a:path w="8140065" h="799465">
                <a:moveTo>
                  <a:pt x="8139819" y="0"/>
                </a:moveTo>
                <a:lnTo>
                  <a:pt x="0" y="0"/>
                </a:lnTo>
                <a:lnTo>
                  <a:pt x="0" y="799221"/>
                </a:lnTo>
                <a:lnTo>
                  <a:pt x="8139819" y="799221"/>
                </a:lnTo>
                <a:lnTo>
                  <a:pt x="81398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8129" y="809535"/>
            <a:ext cx="6584576" cy="29375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/>
              <a:t>Convolutional </a:t>
            </a:r>
            <a:r>
              <a:rPr spc="4"/>
              <a:t>Neural Networks (CNNs)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4452" y="4510630"/>
            <a:ext cx="7050181" cy="1618689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 marR="4482" algn="just">
              <a:lnSpc>
                <a:spcPct val="152200"/>
              </a:lnSpc>
              <a:spcBef>
                <a:spcPts val="79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The </a:t>
            </a:r>
            <a:r>
              <a:rPr sz="1721" spc="13">
                <a:latin typeface="Arial" pitchFamily="34" charset="0"/>
                <a:cs typeface="Arial" pitchFamily="34" charset="0"/>
              </a:rPr>
              <a:t>3×3 </a:t>
            </a:r>
            <a:r>
              <a:rPr sz="1721" spc="9">
                <a:latin typeface="Arial" pitchFamily="34" charset="0"/>
                <a:cs typeface="Arial" pitchFamily="34" charset="0"/>
              </a:rPr>
              <a:t>matrix (</a:t>
            </a:r>
            <a:r>
              <a:rPr sz="1721" i="1" spc="9">
                <a:latin typeface="Arial" pitchFamily="34" charset="0"/>
                <a:cs typeface="Arial" pitchFamily="34" charset="0"/>
              </a:rPr>
              <a:t>K</a:t>
            </a:r>
            <a:r>
              <a:rPr sz="1721" spc="9">
                <a:latin typeface="Arial" pitchFamily="34" charset="0"/>
                <a:cs typeface="Arial" pitchFamily="34" charset="0"/>
              </a:rPr>
              <a:t>) is called </a:t>
            </a:r>
            <a:r>
              <a:rPr sz="1721" spc="13">
                <a:latin typeface="Arial" pitchFamily="34" charset="0"/>
                <a:cs typeface="Arial" pitchFamily="34" charset="0"/>
              </a:rPr>
              <a:t>a </a:t>
            </a:r>
            <a:r>
              <a:rPr sz="1721" spc="4">
                <a:latin typeface="Arial" pitchFamily="34" charset="0"/>
                <a:cs typeface="Arial" pitchFamily="34" charset="0"/>
              </a:rPr>
              <a:t>‘</a:t>
            </a:r>
            <a:r>
              <a:rPr sz="1721" b="1" spc="4">
                <a:latin typeface="Arial" pitchFamily="34" charset="0"/>
                <a:cs typeface="Arial" pitchFamily="34" charset="0"/>
              </a:rPr>
              <a:t>filter</a:t>
            </a:r>
            <a:r>
              <a:rPr sz="1721" spc="4">
                <a:latin typeface="Arial" pitchFamily="34" charset="0"/>
                <a:cs typeface="Arial" pitchFamily="34" charset="0"/>
              </a:rPr>
              <a:t>‘ </a:t>
            </a:r>
            <a:r>
              <a:rPr sz="1721" spc="9">
                <a:latin typeface="Arial" pitchFamily="34" charset="0"/>
                <a:cs typeface="Arial" pitchFamily="34" charset="0"/>
              </a:rPr>
              <a:t>or ‘</a:t>
            </a:r>
            <a:r>
              <a:rPr sz="1721" b="1" spc="9">
                <a:latin typeface="Arial" pitchFamily="34" charset="0"/>
                <a:cs typeface="Arial" pitchFamily="34" charset="0"/>
              </a:rPr>
              <a:t>kernel</a:t>
            </a:r>
            <a:r>
              <a:rPr sz="1721" spc="9">
                <a:latin typeface="Arial" pitchFamily="34" charset="0"/>
                <a:cs typeface="Arial" pitchFamily="34" charset="0"/>
              </a:rPr>
              <a:t>’ or ‘</a:t>
            </a:r>
            <a:r>
              <a:rPr sz="1721" b="1" spc="9">
                <a:latin typeface="Arial" pitchFamily="34" charset="0"/>
                <a:cs typeface="Arial" pitchFamily="34" charset="0"/>
              </a:rPr>
              <a:t>feature detector</a:t>
            </a:r>
            <a:r>
              <a:rPr sz="1721" spc="9">
                <a:latin typeface="Arial" pitchFamily="34" charset="0"/>
                <a:cs typeface="Arial" pitchFamily="34" charset="0"/>
              </a:rPr>
              <a:t>’  </a:t>
            </a:r>
            <a:r>
              <a:rPr sz="1721" spc="13">
                <a:latin typeface="Arial" pitchFamily="34" charset="0"/>
                <a:cs typeface="Arial" pitchFamily="34" charset="0"/>
              </a:rPr>
              <a:t>and </a:t>
            </a:r>
            <a:r>
              <a:rPr sz="1721" spc="9">
                <a:latin typeface="Arial" pitchFamily="34" charset="0"/>
                <a:cs typeface="Arial" pitchFamily="34" charset="0"/>
              </a:rPr>
              <a:t>the matrix formed by sliding the </a:t>
            </a:r>
            <a:r>
              <a:rPr sz="1721" spc="4">
                <a:latin typeface="Arial" pitchFamily="34" charset="0"/>
                <a:cs typeface="Arial" pitchFamily="34" charset="0"/>
              </a:rPr>
              <a:t>filter </a:t>
            </a:r>
            <a:r>
              <a:rPr sz="1721" spc="9">
                <a:latin typeface="Arial" pitchFamily="34" charset="0"/>
                <a:cs typeface="Arial" pitchFamily="34" charset="0"/>
              </a:rPr>
              <a:t>over the </a:t>
            </a:r>
            <a:r>
              <a:rPr sz="1721" spc="13">
                <a:latin typeface="Arial" pitchFamily="34" charset="0"/>
                <a:cs typeface="Arial" pitchFamily="34" charset="0"/>
              </a:rPr>
              <a:t>image and  </a:t>
            </a:r>
            <a:r>
              <a:rPr sz="1721" spc="9">
                <a:latin typeface="Arial" pitchFamily="34" charset="0"/>
                <a:cs typeface="Arial" pitchFamily="34" charset="0"/>
              </a:rPr>
              <a:t>computing the dot product is called the ‘</a:t>
            </a:r>
            <a:r>
              <a:rPr sz="1721" b="1" spc="9">
                <a:latin typeface="Arial" pitchFamily="34" charset="0"/>
                <a:cs typeface="Arial" pitchFamily="34" charset="0"/>
              </a:rPr>
              <a:t>Convolved Feature</a:t>
            </a:r>
            <a:r>
              <a:rPr sz="1721" spc="9">
                <a:latin typeface="Arial" pitchFamily="34" charset="0"/>
                <a:cs typeface="Arial" pitchFamily="34" charset="0"/>
              </a:rPr>
              <a:t>’ or  ‘</a:t>
            </a:r>
            <a:r>
              <a:rPr sz="1721" b="1" spc="9">
                <a:latin typeface="Arial" pitchFamily="34" charset="0"/>
                <a:cs typeface="Arial" pitchFamily="34" charset="0"/>
              </a:rPr>
              <a:t>Activation </a:t>
            </a:r>
            <a:r>
              <a:rPr sz="1721" b="1" spc="13">
                <a:latin typeface="Arial" pitchFamily="34" charset="0"/>
                <a:cs typeface="Arial" pitchFamily="34" charset="0"/>
              </a:rPr>
              <a:t>Map</a:t>
            </a:r>
            <a:r>
              <a:rPr sz="1721" spc="13">
                <a:latin typeface="Arial" pitchFamily="34" charset="0"/>
                <a:cs typeface="Arial" pitchFamily="34" charset="0"/>
              </a:rPr>
              <a:t>’ </a:t>
            </a:r>
            <a:r>
              <a:rPr sz="1721" spc="9">
                <a:latin typeface="Arial" pitchFamily="34" charset="0"/>
                <a:cs typeface="Arial" pitchFamily="34" charset="0"/>
              </a:rPr>
              <a:t>or the ‘</a:t>
            </a:r>
            <a:r>
              <a:rPr sz="1721" b="1" spc="9">
                <a:latin typeface="Arial" pitchFamily="34" charset="0"/>
                <a:cs typeface="Arial" pitchFamily="34" charset="0"/>
              </a:rPr>
              <a:t>Feature</a:t>
            </a:r>
            <a:r>
              <a:rPr sz="1721" b="1" spc="-22">
                <a:latin typeface="Arial" pitchFamily="34" charset="0"/>
                <a:cs typeface="Arial" pitchFamily="34" charset="0"/>
              </a:rPr>
              <a:t> </a:t>
            </a:r>
            <a:r>
              <a:rPr sz="1721" b="1" spc="9">
                <a:latin typeface="Arial" pitchFamily="34" charset="0"/>
                <a:cs typeface="Arial" pitchFamily="34" charset="0"/>
              </a:rPr>
              <a:t>Map</a:t>
            </a:r>
            <a:r>
              <a:rPr sz="1721" spc="9">
                <a:latin typeface="Arial" pitchFamily="34" charset="0"/>
                <a:cs typeface="Arial" pitchFamily="34" charset="0"/>
              </a:rPr>
              <a:t>‘.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30451" y="2686797"/>
            <a:ext cx="1055695" cy="956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45288" y="3812286"/>
            <a:ext cx="1031501" cy="2089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19"/>
              </a:spcBef>
            </a:pPr>
            <a:r>
              <a:rPr sz="1191" spc="13">
                <a:latin typeface="Arial" pitchFamily="34" charset="0"/>
                <a:cs typeface="Arial" pitchFamily="34" charset="0"/>
              </a:rPr>
              <a:t>Input Image</a:t>
            </a:r>
            <a:r>
              <a:rPr sz="1191" spc="-57">
                <a:latin typeface="Arial" pitchFamily="34" charset="0"/>
                <a:cs typeface="Arial" pitchFamily="34" charset="0"/>
              </a:rPr>
              <a:t> </a:t>
            </a:r>
            <a:r>
              <a:rPr sz="1191" spc="4">
                <a:latin typeface="Arial" pitchFamily="34" charset="0"/>
                <a:cs typeface="Arial" pitchFamily="34" charset="0"/>
              </a:rPr>
              <a:t>(I)</a:t>
            </a:r>
            <a:endParaRPr sz="1191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1456" y="2902969"/>
            <a:ext cx="615129" cy="5238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44047" y="3812286"/>
            <a:ext cx="617444" cy="2089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19"/>
              </a:spcBef>
            </a:pPr>
            <a:r>
              <a:rPr sz="1191" spc="9">
                <a:latin typeface="Arial" pitchFamily="34" charset="0"/>
                <a:cs typeface="Arial" pitchFamily="34" charset="0"/>
              </a:rPr>
              <a:t>Filter</a:t>
            </a:r>
            <a:r>
              <a:rPr sz="1191" spc="-57">
                <a:latin typeface="Arial" pitchFamily="34" charset="0"/>
                <a:cs typeface="Arial" pitchFamily="34" charset="0"/>
              </a:rPr>
              <a:t> </a:t>
            </a:r>
            <a:r>
              <a:rPr sz="1191" spc="13">
                <a:latin typeface="Arial" pitchFamily="34" charset="0"/>
                <a:cs typeface="Arial" pitchFamily="34" charset="0"/>
              </a:rPr>
              <a:t>(K)</a:t>
            </a:r>
            <a:endParaRPr sz="1191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5286" y="2931660"/>
            <a:ext cx="177613" cy="395007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426" spc="4">
                <a:latin typeface="Arial" pitchFamily="34" charset="0"/>
                <a:cs typeface="Arial" pitchFamily="34" charset="0"/>
              </a:rPr>
              <a:t>x</a:t>
            </a:r>
            <a:endParaRPr sz="2426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69959" y="2947595"/>
            <a:ext cx="229721" cy="44823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 sz="2779" spc="4">
                <a:latin typeface="Arial" pitchFamily="34" charset="0"/>
                <a:cs typeface="Arial" pitchFamily="34" charset="0"/>
              </a:rPr>
              <a:t>=</a:t>
            </a:r>
            <a:endParaRPr sz="2779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77828" y="2703480"/>
            <a:ext cx="1983101" cy="1438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196" y="5919899"/>
            <a:ext cx="480732" cy="149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51"/>
              </a:lnSpc>
            </a:pPr>
            <a:r>
              <a:rPr sz="1015" spc="13">
                <a:latin typeface="Arial" pitchFamily="34" charset="0"/>
                <a:cs typeface="Arial" pitchFamily="34" charset="0"/>
              </a:rPr>
              <a:t>Slide</a:t>
            </a:r>
            <a:r>
              <a:rPr sz="1015" spc="-75">
                <a:latin typeface="Arial" pitchFamily="34" charset="0"/>
                <a:cs typeface="Arial" pitchFamily="34" charset="0"/>
              </a:rPr>
              <a:t> </a:t>
            </a:r>
            <a:r>
              <a:rPr sz="1015" spc="18">
                <a:latin typeface="Arial" pitchFamily="34" charset="0"/>
                <a:cs typeface="Arial" pitchFamily="34" charset="0"/>
              </a:rPr>
              <a:t>20</a:t>
            </a:r>
            <a:endParaRPr sz="1015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716" y="5516880"/>
            <a:ext cx="7182410" cy="705410"/>
          </a:xfrm>
          <a:custGeom>
            <a:avLst/>
            <a:gdLst/>
            <a:ahLst/>
            <a:cxnLst/>
            <a:rect l="l" t="t" r="r" b="b"/>
            <a:pathLst>
              <a:path w="8140065" h="799465">
                <a:moveTo>
                  <a:pt x="8139819" y="0"/>
                </a:moveTo>
                <a:lnTo>
                  <a:pt x="0" y="0"/>
                </a:lnTo>
                <a:lnTo>
                  <a:pt x="0" y="799221"/>
                </a:lnTo>
                <a:lnTo>
                  <a:pt x="8139819" y="799221"/>
                </a:lnTo>
                <a:lnTo>
                  <a:pt x="81398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8129" y="809535"/>
            <a:ext cx="6584576" cy="29375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/>
              <a:t>Convolutional </a:t>
            </a:r>
            <a:r>
              <a:rPr spc="4"/>
              <a:t>Neural Networks (CNNs)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4452" y="1662146"/>
            <a:ext cx="2771215" cy="341779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4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Convolution</a:t>
            </a:r>
            <a:r>
              <a:rPr sz="2074" b="1" spc="-31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Operator</a:t>
            </a:r>
            <a:endParaRPr sz="2074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4452" y="2027911"/>
            <a:ext cx="937932" cy="820831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 marR="4482">
              <a:lnSpc>
                <a:spcPct val="152200"/>
              </a:lnSpc>
              <a:spcBef>
                <a:spcPts val="79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Di</a:t>
            </a:r>
            <a:r>
              <a:rPr sz="1721">
                <a:latin typeface="Arial" pitchFamily="34" charset="0"/>
                <a:cs typeface="Arial" pitchFamily="34" charset="0"/>
              </a:rPr>
              <a:t>ff</a:t>
            </a:r>
            <a:r>
              <a:rPr sz="1721" spc="9">
                <a:latin typeface="Arial" pitchFamily="34" charset="0"/>
                <a:cs typeface="Arial" pitchFamily="34" charset="0"/>
              </a:rPr>
              <a:t>erent  different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8568" y="2027911"/>
            <a:ext cx="823632" cy="820831"/>
          </a:xfrm>
          <a:prstGeom prst="rect">
            <a:avLst/>
          </a:prstGeom>
        </p:spPr>
        <p:txBody>
          <a:bodyPr vert="horz" wrap="square" lIns="0" tIns="14735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39221" algn="r">
              <a:lnSpc>
                <a:spcPct val="100000"/>
              </a:lnSpc>
              <a:spcBef>
                <a:spcPts val="1160"/>
              </a:spcBef>
            </a:pPr>
            <a:r>
              <a:rPr sz="1721">
                <a:latin typeface="Arial" pitchFamily="34" charset="0"/>
                <a:cs typeface="Arial" pitchFamily="34" charset="0"/>
              </a:rPr>
              <a:t>f</a:t>
            </a:r>
            <a:r>
              <a:rPr sz="1721" spc="4">
                <a:latin typeface="Arial" pitchFamily="34" charset="0"/>
                <a:cs typeface="Arial" pitchFamily="34" charset="0"/>
              </a:rPr>
              <a:t>il</a:t>
            </a:r>
            <a:r>
              <a:rPr sz="1721">
                <a:latin typeface="Arial" pitchFamily="34" charset="0"/>
                <a:cs typeface="Arial" pitchFamily="34" charset="0"/>
              </a:rPr>
              <a:t>t</a:t>
            </a:r>
            <a:r>
              <a:rPr sz="1721" spc="9">
                <a:latin typeface="Arial" pitchFamily="34" charset="0"/>
                <a:cs typeface="Arial" pitchFamily="34" charset="0"/>
              </a:rPr>
              <a:t>ers</a:t>
            </a:r>
            <a:endParaRPr sz="1721">
              <a:latin typeface="Arial" pitchFamily="34" charset="0"/>
              <a:cs typeface="Arial" pitchFamily="34" charset="0"/>
            </a:endParaRPr>
          </a:p>
          <a:p>
            <a:pPr marR="4482" algn="r">
              <a:lnSpc>
                <a:spcPct val="100000"/>
              </a:lnSpc>
              <a:spcBef>
                <a:spcPts val="1076"/>
              </a:spcBef>
            </a:pPr>
            <a:r>
              <a:rPr sz="1721" b="1" spc="9">
                <a:latin typeface="Arial" pitchFamily="34" charset="0"/>
                <a:cs typeface="Arial" pitchFamily="34" charset="0"/>
              </a:rPr>
              <a:t>Feature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2447" y="2027911"/>
            <a:ext cx="1522879" cy="820831"/>
          </a:xfrm>
          <a:prstGeom prst="rect">
            <a:avLst/>
          </a:prstGeom>
        </p:spPr>
        <p:txBody>
          <a:bodyPr vert="horz" wrap="square" lIns="0" tIns="14735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490">
              <a:lnSpc>
                <a:spcPct val="100000"/>
              </a:lnSpc>
              <a:spcBef>
                <a:spcPts val="1160"/>
              </a:spcBef>
              <a:tabLst>
                <a:tab pos="709893" algn="l"/>
              </a:tabLst>
            </a:pPr>
            <a:r>
              <a:rPr sz="1721" spc="4">
                <a:latin typeface="Arial" pitchFamily="34" charset="0"/>
                <a:cs typeface="Arial" pitchFamily="34" charset="0"/>
              </a:rPr>
              <a:t>will	</a:t>
            </a:r>
            <a:r>
              <a:rPr sz="1721" spc="9">
                <a:latin typeface="Arial" pitchFamily="34" charset="0"/>
                <a:cs typeface="Arial" pitchFamily="34" charset="0"/>
              </a:rPr>
              <a:t>produce</a:t>
            </a:r>
            <a:endParaRPr sz="1721">
              <a:latin typeface="Arial" pitchFamily="34" charset="0"/>
              <a:cs typeface="Arial" pitchFamily="34" charset="0"/>
            </a:endParaRPr>
          </a:p>
          <a:p>
            <a:pPr marL="11206">
              <a:lnSpc>
                <a:spcPct val="100000"/>
              </a:lnSpc>
              <a:spcBef>
                <a:spcPts val="1076"/>
              </a:spcBef>
              <a:tabLst>
                <a:tab pos="760879" algn="l"/>
                <a:tab pos="1202391" algn="l"/>
              </a:tabLst>
            </a:pPr>
            <a:r>
              <a:rPr sz="1721" b="1" spc="13">
                <a:latin typeface="Arial" pitchFamily="34" charset="0"/>
                <a:cs typeface="Arial" pitchFamily="34" charset="0"/>
              </a:rPr>
              <a:t>Ma</a:t>
            </a:r>
            <a:r>
              <a:rPr sz="1721" b="1" spc="9">
                <a:latin typeface="Arial" pitchFamily="34" charset="0"/>
                <a:cs typeface="Arial" pitchFamily="34" charset="0"/>
              </a:rPr>
              <a:t>p</a:t>
            </a:r>
            <a:r>
              <a:rPr sz="1721" b="1" spc="13">
                <a:latin typeface="Arial" pitchFamily="34" charset="0"/>
                <a:cs typeface="Arial" pitchFamily="34" charset="0"/>
              </a:rPr>
              <a:t>s</a:t>
            </a:r>
            <a:r>
              <a:rPr sz="1721" b="1">
                <a:latin typeface="Arial" pitchFamily="34" charset="0"/>
                <a:cs typeface="Arial" pitchFamily="34" charset="0"/>
              </a:rPr>
              <a:t>	</a:t>
            </a:r>
            <a:r>
              <a:rPr sz="1721">
                <a:latin typeface="Arial" pitchFamily="34" charset="0"/>
                <a:cs typeface="Arial" pitchFamily="34" charset="0"/>
              </a:rPr>
              <a:t>f</a:t>
            </a:r>
            <a:r>
              <a:rPr sz="1721" spc="9">
                <a:latin typeface="Arial" pitchFamily="34" charset="0"/>
                <a:cs typeface="Arial" pitchFamily="34" charset="0"/>
              </a:rPr>
              <a:t>or</a:t>
            </a:r>
            <a:r>
              <a:rPr sz="1721">
                <a:latin typeface="Arial" pitchFamily="34" charset="0"/>
                <a:cs typeface="Arial" pitchFamily="34" charset="0"/>
              </a:rPr>
              <a:t>	t</a:t>
            </a:r>
            <a:r>
              <a:rPr sz="1721" spc="13">
                <a:latin typeface="Arial" pitchFamily="34" charset="0"/>
                <a:cs typeface="Arial" pitchFamily="34" charset="0"/>
              </a:rPr>
              <a:t>he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4452" y="2958934"/>
            <a:ext cx="3189194" cy="288551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10"/>
              </a:spcBef>
            </a:pPr>
            <a:r>
              <a:rPr sz="1721" spc="13">
                <a:latin typeface="Arial" pitchFamily="34" charset="0"/>
                <a:cs typeface="Arial" pitchFamily="34" charset="0"/>
              </a:rPr>
              <a:t>same </a:t>
            </a:r>
            <a:r>
              <a:rPr sz="1721" spc="9">
                <a:latin typeface="Arial" pitchFamily="34" charset="0"/>
                <a:cs typeface="Arial" pitchFamily="34" charset="0"/>
              </a:rPr>
              <a:t>input image. For</a:t>
            </a:r>
            <a:r>
              <a:rPr sz="1721" spc="-26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example: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37569" y="4003963"/>
            <a:ext cx="1167574" cy="1150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44077" y="5249988"/>
            <a:ext cx="959224" cy="235324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15"/>
              </a:spcBef>
            </a:pPr>
            <a:r>
              <a:rPr sz="1368" spc="9">
                <a:latin typeface="Arial" pitchFamily="34" charset="0"/>
                <a:cs typeface="Arial" pitchFamily="34" charset="0"/>
              </a:rPr>
              <a:t>Input</a:t>
            </a:r>
            <a:r>
              <a:rPr sz="1368" spc="-49">
                <a:latin typeface="Arial" pitchFamily="34" charset="0"/>
                <a:cs typeface="Arial" pitchFamily="34" charset="0"/>
              </a:rPr>
              <a:t> </a:t>
            </a:r>
            <a:r>
              <a:rPr sz="1368" spc="13">
                <a:latin typeface="Arial" pitchFamily="34" charset="0"/>
                <a:cs typeface="Arial" pitchFamily="34" charset="0"/>
              </a:rPr>
              <a:t>Image</a:t>
            </a:r>
            <a:endParaRPr sz="1368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04828" y="1371600"/>
            <a:ext cx="3059082" cy="50264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196" y="5919899"/>
            <a:ext cx="480732" cy="149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51"/>
              </a:lnSpc>
            </a:pPr>
            <a:r>
              <a:rPr sz="1015" spc="13">
                <a:latin typeface="Arial" pitchFamily="34" charset="0"/>
                <a:cs typeface="Arial" pitchFamily="34" charset="0"/>
              </a:rPr>
              <a:t>Slide</a:t>
            </a:r>
            <a:r>
              <a:rPr sz="1015" spc="-75">
                <a:latin typeface="Arial" pitchFamily="34" charset="0"/>
                <a:cs typeface="Arial" pitchFamily="34" charset="0"/>
              </a:rPr>
              <a:t> </a:t>
            </a:r>
            <a:r>
              <a:rPr sz="1015" spc="18">
                <a:latin typeface="Arial" pitchFamily="34" charset="0"/>
                <a:cs typeface="Arial" pitchFamily="34" charset="0"/>
              </a:rPr>
              <a:t>23</a:t>
            </a:r>
            <a:endParaRPr sz="1015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129" y="809535"/>
            <a:ext cx="6584576" cy="29375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/>
              <a:t>Convolutional </a:t>
            </a:r>
            <a:r>
              <a:rPr spc="4"/>
              <a:t>Neural Networks (CNNs)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4452" y="1662147"/>
            <a:ext cx="6901704" cy="2028825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4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Convolutional</a:t>
            </a:r>
            <a:r>
              <a:rPr sz="2074" b="1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Layer</a:t>
            </a:r>
            <a:endParaRPr sz="2074">
              <a:latin typeface="Arial" pitchFamily="34" charset="0"/>
              <a:cs typeface="Arial" pitchFamily="34" charset="0"/>
            </a:endParaRPr>
          </a:p>
          <a:p>
            <a:pPr marL="11206" marR="4482">
              <a:lnSpc>
                <a:spcPct val="152200"/>
              </a:lnSpc>
              <a:spcBef>
                <a:spcPts val="366"/>
              </a:spcBef>
              <a:buSzPct val="94871"/>
              <a:buChar char="•"/>
              <a:tabLst>
                <a:tab pos="89647" algn="l"/>
              </a:tabLst>
            </a:pPr>
            <a:r>
              <a:rPr sz="1721" spc="4">
                <a:latin typeface="Arial" pitchFamily="34" charset="0"/>
                <a:cs typeface="Arial" pitchFamily="34" charset="0"/>
              </a:rPr>
              <a:t>In </a:t>
            </a:r>
            <a:r>
              <a:rPr sz="1721" spc="9">
                <a:latin typeface="Arial" pitchFamily="34" charset="0"/>
                <a:cs typeface="Arial" pitchFamily="34" charset="0"/>
              </a:rPr>
              <a:t>practice, </a:t>
            </a:r>
            <a:r>
              <a:rPr sz="1721" spc="13">
                <a:latin typeface="Arial" pitchFamily="34" charset="0"/>
                <a:cs typeface="Arial" pitchFamily="34" charset="0"/>
              </a:rPr>
              <a:t>a </a:t>
            </a:r>
            <a:r>
              <a:rPr sz="1721" spc="18">
                <a:latin typeface="Arial" pitchFamily="34" charset="0"/>
                <a:cs typeface="Arial" pitchFamily="34" charset="0"/>
              </a:rPr>
              <a:t>CNN </a:t>
            </a:r>
            <a:r>
              <a:rPr sz="1721" spc="9">
                <a:latin typeface="Arial" pitchFamily="34" charset="0"/>
                <a:cs typeface="Arial" pitchFamily="34" charset="0"/>
              </a:rPr>
              <a:t>learns the values of these </a:t>
            </a:r>
            <a:r>
              <a:rPr sz="1721" b="1" spc="4">
                <a:latin typeface="Arial" pitchFamily="34" charset="0"/>
                <a:cs typeface="Arial" pitchFamily="34" charset="0"/>
              </a:rPr>
              <a:t>filters </a:t>
            </a:r>
            <a:r>
              <a:rPr sz="1721" spc="13">
                <a:latin typeface="Arial" pitchFamily="34" charset="0"/>
                <a:cs typeface="Arial" pitchFamily="34" charset="0"/>
              </a:rPr>
              <a:t>on </a:t>
            </a:r>
            <a:r>
              <a:rPr sz="1721" spc="4">
                <a:latin typeface="Arial" pitchFamily="34" charset="0"/>
                <a:cs typeface="Arial" pitchFamily="34" charset="0"/>
              </a:rPr>
              <a:t>its </a:t>
            </a:r>
            <a:r>
              <a:rPr sz="1721" spc="13">
                <a:latin typeface="Arial" pitchFamily="34" charset="0"/>
                <a:cs typeface="Arial" pitchFamily="34" charset="0"/>
              </a:rPr>
              <a:t>own </a:t>
            </a:r>
            <a:r>
              <a:rPr sz="1721" spc="9">
                <a:latin typeface="Arial" pitchFamily="34" charset="0"/>
                <a:cs typeface="Arial" pitchFamily="34" charset="0"/>
              </a:rPr>
              <a:t>during  the </a:t>
            </a:r>
            <a:r>
              <a:rPr sz="1721" b="1" spc="9">
                <a:latin typeface="Arial" pitchFamily="34" charset="0"/>
                <a:cs typeface="Arial" pitchFamily="34" charset="0"/>
              </a:rPr>
              <a:t>training</a:t>
            </a:r>
            <a:r>
              <a:rPr sz="1721" b="1" spc="-4">
                <a:latin typeface="Arial" pitchFamily="34" charset="0"/>
                <a:cs typeface="Arial" pitchFamily="34" charset="0"/>
              </a:rPr>
              <a:t> </a:t>
            </a:r>
            <a:r>
              <a:rPr sz="1721" b="1" spc="9">
                <a:latin typeface="Arial" pitchFamily="34" charset="0"/>
                <a:cs typeface="Arial" pitchFamily="34" charset="0"/>
              </a:rPr>
              <a:t>process</a:t>
            </a:r>
            <a:endParaRPr sz="1721">
              <a:latin typeface="Arial" pitchFamily="34" charset="0"/>
              <a:cs typeface="Arial" pitchFamily="34" charset="0"/>
            </a:endParaRPr>
          </a:p>
          <a:p>
            <a:pPr marL="11206" marR="365872">
              <a:lnSpc>
                <a:spcPct val="152200"/>
              </a:lnSpc>
              <a:spcBef>
                <a:spcPts val="349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Although </a:t>
            </a:r>
            <a:r>
              <a:rPr sz="1721" spc="13">
                <a:latin typeface="Arial" pitchFamily="34" charset="0"/>
                <a:cs typeface="Arial" pitchFamily="34" charset="0"/>
              </a:rPr>
              <a:t>we </a:t>
            </a:r>
            <a:r>
              <a:rPr sz="1721" spc="4">
                <a:latin typeface="Arial" pitchFamily="34" charset="0"/>
                <a:cs typeface="Arial" pitchFamily="34" charset="0"/>
              </a:rPr>
              <a:t>still </a:t>
            </a:r>
            <a:r>
              <a:rPr sz="1721" spc="13">
                <a:latin typeface="Arial" pitchFamily="34" charset="0"/>
                <a:cs typeface="Arial" pitchFamily="34" charset="0"/>
              </a:rPr>
              <a:t>need </a:t>
            </a:r>
            <a:r>
              <a:rPr sz="1721" spc="4">
                <a:latin typeface="Arial" pitchFamily="34" charset="0"/>
                <a:cs typeface="Arial" pitchFamily="34" charset="0"/>
              </a:rPr>
              <a:t>to </a:t>
            </a:r>
            <a:r>
              <a:rPr sz="1721" spc="9">
                <a:latin typeface="Arial" pitchFamily="34" charset="0"/>
                <a:cs typeface="Arial" pitchFamily="34" charset="0"/>
              </a:rPr>
              <a:t>specify parameters such as </a:t>
            </a:r>
            <a:r>
              <a:rPr sz="1721" b="1" spc="9">
                <a:latin typeface="Arial" pitchFamily="34" charset="0"/>
                <a:cs typeface="Arial" pitchFamily="34" charset="0"/>
              </a:rPr>
              <a:t>number of  </a:t>
            </a:r>
            <a:r>
              <a:rPr sz="1721" b="1" spc="4">
                <a:latin typeface="Arial" pitchFamily="34" charset="0"/>
                <a:cs typeface="Arial" pitchFamily="34" charset="0"/>
              </a:rPr>
              <a:t>filters</a:t>
            </a:r>
            <a:r>
              <a:rPr sz="1721" spc="4">
                <a:latin typeface="Arial" pitchFamily="34" charset="0"/>
                <a:cs typeface="Arial" pitchFamily="34" charset="0"/>
              </a:rPr>
              <a:t>, </a:t>
            </a:r>
            <a:r>
              <a:rPr sz="1721" b="1" spc="4">
                <a:latin typeface="Arial" pitchFamily="34" charset="0"/>
                <a:cs typeface="Arial" pitchFamily="34" charset="0"/>
              </a:rPr>
              <a:t>filter </a:t>
            </a:r>
            <a:r>
              <a:rPr sz="1721" b="1" spc="9">
                <a:latin typeface="Arial" pitchFamily="34" charset="0"/>
                <a:cs typeface="Arial" pitchFamily="34" charset="0"/>
              </a:rPr>
              <a:t>size</a:t>
            </a:r>
            <a:r>
              <a:rPr sz="1721" spc="9">
                <a:latin typeface="Arial" pitchFamily="34" charset="0"/>
                <a:cs typeface="Arial" pitchFamily="34" charset="0"/>
              </a:rPr>
              <a:t>, </a:t>
            </a:r>
            <a:r>
              <a:rPr sz="1721" b="1" spc="9">
                <a:latin typeface="Arial" pitchFamily="34" charset="0"/>
                <a:cs typeface="Arial" pitchFamily="34" charset="0"/>
              </a:rPr>
              <a:t>padding, </a:t>
            </a:r>
            <a:r>
              <a:rPr sz="1721" spc="13">
                <a:latin typeface="Arial" pitchFamily="34" charset="0"/>
                <a:cs typeface="Arial" pitchFamily="34" charset="0"/>
              </a:rPr>
              <a:t>and </a:t>
            </a:r>
            <a:r>
              <a:rPr sz="1721" b="1" spc="9">
                <a:latin typeface="Arial" pitchFamily="34" charset="0"/>
                <a:cs typeface="Arial" pitchFamily="34" charset="0"/>
              </a:rPr>
              <a:t>stride </a:t>
            </a:r>
            <a:r>
              <a:rPr sz="1721" spc="9">
                <a:latin typeface="Arial" pitchFamily="34" charset="0"/>
                <a:cs typeface="Arial" pitchFamily="34" charset="0"/>
              </a:rPr>
              <a:t>before the training</a:t>
            </a:r>
            <a:r>
              <a:rPr sz="1721" spc="26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process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081" y="3761513"/>
            <a:ext cx="2164075" cy="2460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81716" y="3761513"/>
            <a:ext cx="7315197" cy="2460778"/>
            <a:chOff x="981717" y="3761513"/>
            <a:chExt cx="7315197" cy="2460778"/>
          </a:xfrm>
        </p:grpSpPr>
        <p:sp>
          <p:nvSpPr>
            <p:cNvPr id="7" name="object 7"/>
            <p:cNvSpPr/>
            <p:nvPr/>
          </p:nvSpPr>
          <p:spPr>
            <a:xfrm>
              <a:off x="981717" y="5516881"/>
              <a:ext cx="7182410" cy="705410"/>
            </a:xfrm>
            <a:custGeom>
              <a:avLst/>
              <a:gdLst/>
              <a:ahLst/>
              <a:cxnLst/>
              <a:rect l="l" t="t" r="r" b="b"/>
              <a:pathLst>
                <a:path w="8140065" h="799465">
                  <a:moveTo>
                    <a:pt x="8139819" y="0"/>
                  </a:moveTo>
                  <a:lnTo>
                    <a:pt x="0" y="0"/>
                  </a:lnTo>
                  <a:lnTo>
                    <a:pt x="0" y="799221"/>
                  </a:lnTo>
                  <a:lnTo>
                    <a:pt x="8139819" y="799221"/>
                  </a:lnTo>
                  <a:lnTo>
                    <a:pt x="8139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45303" y="3761513"/>
              <a:ext cx="2164080" cy="24605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6299" y="3761513"/>
              <a:ext cx="2550615" cy="24605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0" name="Rectangle 9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196" y="5919899"/>
            <a:ext cx="480732" cy="149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51"/>
              </a:lnSpc>
            </a:pPr>
            <a:r>
              <a:rPr sz="1015" spc="13">
                <a:latin typeface="Arial" pitchFamily="34" charset="0"/>
                <a:cs typeface="Arial" pitchFamily="34" charset="0"/>
              </a:rPr>
              <a:t>Slide</a:t>
            </a:r>
            <a:r>
              <a:rPr sz="1015" spc="-75">
                <a:latin typeface="Arial" pitchFamily="34" charset="0"/>
                <a:cs typeface="Arial" pitchFamily="34" charset="0"/>
              </a:rPr>
              <a:t> </a:t>
            </a:r>
            <a:r>
              <a:rPr sz="1015" spc="18">
                <a:latin typeface="Arial" pitchFamily="34" charset="0"/>
                <a:cs typeface="Arial" pitchFamily="34" charset="0"/>
              </a:rPr>
              <a:t>24</a:t>
            </a:r>
            <a:endParaRPr sz="1015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716" y="5516880"/>
            <a:ext cx="7182410" cy="705410"/>
          </a:xfrm>
          <a:custGeom>
            <a:avLst/>
            <a:gdLst/>
            <a:ahLst/>
            <a:cxnLst/>
            <a:rect l="l" t="t" r="r" b="b"/>
            <a:pathLst>
              <a:path w="8140065" h="799465">
                <a:moveTo>
                  <a:pt x="8139819" y="0"/>
                </a:moveTo>
                <a:lnTo>
                  <a:pt x="0" y="0"/>
                </a:lnTo>
                <a:lnTo>
                  <a:pt x="0" y="799221"/>
                </a:lnTo>
                <a:lnTo>
                  <a:pt x="8139819" y="799221"/>
                </a:lnTo>
                <a:lnTo>
                  <a:pt x="81398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8129" y="809535"/>
            <a:ext cx="6584576" cy="29375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/>
              <a:t>Convolutional </a:t>
            </a:r>
            <a:r>
              <a:rPr spc="4"/>
              <a:t>Neural Networks (CNNs)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4452" y="1662147"/>
            <a:ext cx="6816537" cy="118670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Activation Layer</a:t>
            </a:r>
            <a:r>
              <a:rPr sz="2074" b="1" spc="-4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(ReLU)</a:t>
            </a:r>
            <a:endParaRPr sz="2074">
              <a:latin typeface="Arial" pitchFamily="34" charset="0"/>
              <a:cs typeface="Arial" pitchFamily="34" charset="0"/>
            </a:endParaRPr>
          </a:p>
          <a:p>
            <a:pPr marL="11206" marR="4482">
              <a:lnSpc>
                <a:spcPct val="152200"/>
              </a:lnSpc>
              <a:spcBef>
                <a:spcPts val="366"/>
              </a:spcBef>
              <a:buSzPct val="94871"/>
              <a:buChar char="•"/>
              <a:tabLst>
                <a:tab pos="89647" algn="l"/>
              </a:tabLst>
            </a:pPr>
            <a:r>
              <a:rPr sz="1721" spc="13">
                <a:latin typeface="Arial" pitchFamily="34" charset="0"/>
                <a:cs typeface="Arial" pitchFamily="34" charset="0"/>
              </a:rPr>
              <a:t>An </a:t>
            </a:r>
            <a:r>
              <a:rPr sz="1721" spc="9">
                <a:latin typeface="Arial" pitchFamily="34" charset="0"/>
                <a:cs typeface="Arial" pitchFamily="34" charset="0"/>
              </a:rPr>
              <a:t>additional operation called Rectified Linear Unit </a:t>
            </a:r>
            <a:r>
              <a:rPr sz="1721" spc="13">
                <a:latin typeface="Arial" pitchFamily="34" charset="0"/>
                <a:cs typeface="Arial" pitchFamily="34" charset="0"/>
              </a:rPr>
              <a:t>(ReLU) has</a:t>
            </a:r>
            <a:r>
              <a:rPr sz="1721" spc="-44">
                <a:latin typeface="Arial" pitchFamily="34" charset="0"/>
                <a:cs typeface="Arial" pitchFamily="34" charset="0"/>
              </a:rPr>
              <a:t> </a:t>
            </a:r>
            <a:r>
              <a:rPr sz="1721" spc="13">
                <a:latin typeface="Arial" pitchFamily="34" charset="0"/>
                <a:cs typeface="Arial" pitchFamily="34" charset="0"/>
              </a:rPr>
              <a:t>been  used </a:t>
            </a:r>
            <a:r>
              <a:rPr sz="1721" spc="4">
                <a:latin typeface="Arial" pitchFamily="34" charset="0"/>
                <a:cs typeface="Arial" pitchFamily="34" charset="0"/>
              </a:rPr>
              <a:t>after </a:t>
            </a:r>
            <a:r>
              <a:rPr sz="1721" spc="9">
                <a:latin typeface="Arial" pitchFamily="34" charset="0"/>
                <a:cs typeface="Arial" pitchFamily="34" charset="0"/>
              </a:rPr>
              <a:t>every Convolution</a:t>
            </a:r>
            <a:r>
              <a:rPr sz="1721" spc="-13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operation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4452" y="4643633"/>
            <a:ext cx="6791324" cy="1264024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 marR="4482">
              <a:lnSpc>
                <a:spcPct val="152200"/>
              </a:lnSpc>
              <a:spcBef>
                <a:spcPts val="79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Basically, </a:t>
            </a:r>
            <a:r>
              <a:rPr sz="1721" spc="13">
                <a:latin typeface="Arial" pitchFamily="34" charset="0"/>
                <a:cs typeface="Arial" pitchFamily="34" charset="0"/>
              </a:rPr>
              <a:t>ReLU </a:t>
            </a:r>
            <a:r>
              <a:rPr sz="1721" spc="9">
                <a:latin typeface="Arial" pitchFamily="34" charset="0"/>
                <a:cs typeface="Arial" pitchFamily="34" charset="0"/>
              </a:rPr>
              <a:t>is </a:t>
            </a:r>
            <a:r>
              <a:rPr sz="1721" spc="13">
                <a:latin typeface="Arial" pitchFamily="34" charset="0"/>
                <a:cs typeface="Arial" pitchFamily="34" charset="0"/>
              </a:rPr>
              <a:t>an </a:t>
            </a:r>
            <a:r>
              <a:rPr sz="1721" spc="9">
                <a:latin typeface="Arial" pitchFamily="34" charset="0"/>
                <a:cs typeface="Arial" pitchFamily="34" charset="0"/>
              </a:rPr>
              <a:t>element wise operation (applied per pixel) </a:t>
            </a:r>
            <a:r>
              <a:rPr sz="1721" spc="13">
                <a:latin typeface="Arial" pitchFamily="34" charset="0"/>
                <a:cs typeface="Arial" pitchFamily="34" charset="0"/>
              </a:rPr>
              <a:t>and  </a:t>
            </a:r>
            <a:r>
              <a:rPr sz="1721" spc="9">
                <a:latin typeface="Arial" pitchFamily="34" charset="0"/>
                <a:cs typeface="Arial" pitchFamily="34" charset="0"/>
              </a:rPr>
              <a:t>replaces </a:t>
            </a:r>
            <a:r>
              <a:rPr sz="1721" spc="4">
                <a:latin typeface="Arial" pitchFamily="34" charset="0"/>
                <a:cs typeface="Arial" pitchFamily="34" charset="0"/>
              </a:rPr>
              <a:t>all </a:t>
            </a:r>
            <a:r>
              <a:rPr sz="1721" spc="9">
                <a:latin typeface="Arial" pitchFamily="34" charset="0"/>
                <a:cs typeface="Arial" pitchFamily="34" charset="0"/>
              </a:rPr>
              <a:t>negative pixel values in the feature </a:t>
            </a:r>
            <a:r>
              <a:rPr sz="1721" spc="13">
                <a:latin typeface="Arial" pitchFamily="34" charset="0"/>
                <a:cs typeface="Arial" pitchFamily="34" charset="0"/>
              </a:rPr>
              <a:t>map </a:t>
            </a:r>
            <a:r>
              <a:rPr sz="1721" spc="9">
                <a:latin typeface="Arial" pitchFamily="34" charset="0"/>
                <a:cs typeface="Arial" pitchFamily="34" charset="0"/>
              </a:rPr>
              <a:t>by</a:t>
            </a:r>
            <a:r>
              <a:rPr sz="1721" spc="-22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zero</a:t>
            </a:r>
            <a:endParaRPr sz="1721">
              <a:latin typeface="Arial" pitchFamily="34" charset="0"/>
              <a:cs typeface="Arial" pitchFamily="34" charset="0"/>
            </a:endParaRPr>
          </a:p>
          <a:p>
            <a:pPr marL="89087" indent="-78441">
              <a:lnSpc>
                <a:spcPct val="100000"/>
              </a:lnSpc>
              <a:spcBef>
                <a:spcPts val="1429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The purpose of </a:t>
            </a:r>
            <a:r>
              <a:rPr sz="1721" spc="13">
                <a:latin typeface="Arial" pitchFamily="34" charset="0"/>
                <a:cs typeface="Arial" pitchFamily="34" charset="0"/>
              </a:rPr>
              <a:t>ReLU </a:t>
            </a:r>
            <a:r>
              <a:rPr sz="1721" spc="9">
                <a:latin typeface="Arial" pitchFamily="34" charset="0"/>
                <a:cs typeface="Arial" pitchFamily="34" charset="0"/>
              </a:rPr>
              <a:t>is </a:t>
            </a:r>
            <a:r>
              <a:rPr sz="1721" spc="4">
                <a:latin typeface="Arial" pitchFamily="34" charset="0"/>
                <a:cs typeface="Arial" pitchFamily="34" charset="0"/>
              </a:rPr>
              <a:t>to </a:t>
            </a:r>
            <a:r>
              <a:rPr sz="1721" spc="9">
                <a:latin typeface="Arial" pitchFamily="34" charset="0"/>
                <a:cs typeface="Arial" pitchFamily="34" charset="0"/>
              </a:rPr>
              <a:t>introduce non-linearity </a:t>
            </a:r>
            <a:r>
              <a:rPr sz="1721" spc="4">
                <a:latin typeface="Arial" pitchFamily="34" charset="0"/>
                <a:cs typeface="Arial" pitchFamily="34" charset="0"/>
              </a:rPr>
              <a:t>to </a:t>
            </a:r>
            <a:r>
              <a:rPr sz="1721" spc="9">
                <a:latin typeface="Arial" pitchFamily="34" charset="0"/>
                <a:cs typeface="Arial" pitchFamily="34" charset="0"/>
              </a:rPr>
              <a:t>the</a:t>
            </a:r>
            <a:r>
              <a:rPr sz="1721" spc="-9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network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0230" y="2830483"/>
            <a:ext cx="5914509" cy="1850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196" y="5919899"/>
            <a:ext cx="480732" cy="149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51"/>
              </a:lnSpc>
            </a:pPr>
            <a:r>
              <a:rPr sz="1015" spc="13">
                <a:latin typeface="Arial" pitchFamily="34" charset="0"/>
                <a:cs typeface="Arial" pitchFamily="34" charset="0"/>
              </a:rPr>
              <a:t>Slide</a:t>
            </a:r>
            <a:r>
              <a:rPr sz="1015" spc="-75">
                <a:latin typeface="Arial" pitchFamily="34" charset="0"/>
                <a:cs typeface="Arial" pitchFamily="34" charset="0"/>
              </a:rPr>
              <a:t> </a:t>
            </a:r>
            <a:r>
              <a:rPr sz="1015" spc="18">
                <a:latin typeface="Arial" pitchFamily="34" charset="0"/>
                <a:cs typeface="Arial" pitchFamily="34" charset="0"/>
              </a:rPr>
              <a:t>26</a:t>
            </a:r>
            <a:endParaRPr sz="1015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716" y="5516880"/>
            <a:ext cx="7182410" cy="705410"/>
          </a:xfrm>
          <a:custGeom>
            <a:avLst/>
            <a:gdLst/>
            <a:ahLst/>
            <a:cxnLst/>
            <a:rect l="l" t="t" r="r" b="b"/>
            <a:pathLst>
              <a:path w="8140065" h="799465">
                <a:moveTo>
                  <a:pt x="8139819" y="0"/>
                </a:moveTo>
                <a:lnTo>
                  <a:pt x="0" y="0"/>
                </a:lnTo>
                <a:lnTo>
                  <a:pt x="0" y="799221"/>
                </a:lnTo>
                <a:lnTo>
                  <a:pt x="8139819" y="799221"/>
                </a:lnTo>
                <a:lnTo>
                  <a:pt x="81398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8129" y="809535"/>
            <a:ext cx="6584576" cy="29375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/>
              <a:t>Convolutional </a:t>
            </a:r>
            <a:r>
              <a:rPr spc="4"/>
              <a:t>Neural Networks (CNNs)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4452" y="1662147"/>
            <a:ext cx="6777317" cy="118670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4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Pooling</a:t>
            </a:r>
            <a:r>
              <a:rPr sz="2074" b="1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Layer</a:t>
            </a:r>
            <a:endParaRPr sz="2074">
              <a:latin typeface="Arial" pitchFamily="34" charset="0"/>
              <a:cs typeface="Arial" pitchFamily="34" charset="0"/>
            </a:endParaRPr>
          </a:p>
          <a:p>
            <a:pPr marL="89087" indent="-78441">
              <a:lnSpc>
                <a:spcPct val="100000"/>
              </a:lnSpc>
              <a:spcBef>
                <a:spcPts val="1447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Pooling layer </a:t>
            </a:r>
            <a:r>
              <a:rPr sz="1721" b="1" spc="9">
                <a:latin typeface="Arial" pitchFamily="34" charset="0"/>
                <a:cs typeface="Arial" pitchFamily="34" charset="0"/>
              </a:rPr>
              <a:t>downsamples </a:t>
            </a:r>
            <a:r>
              <a:rPr sz="1721" spc="9">
                <a:latin typeface="Arial" pitchFamily="34" charset="0"/>
                <a:cs typeface="Arial" pitchFamily="34" charset="0"/>
              </a:rPr>
              <a:t>the </a:t>
            </a:r>
            <a:r>
              <a:rPr sz="1721" spc="13">
                <a:latin typeface="Arial" pitchFamily="34" charset="0"/>
                <a:cs typeface="Arial" pitchFamily="34" charset="0"/>
              </a:rPr>
              <a:t>volume </a:t>
            </a:r>
            <a:r>
              <a:rPr sz="1721" spc="9">
                <a:latin typeface="Arial" pitchFamily="34" charset="0"/>
                <a:cs typeface="Arial" pitchFamily="34" charset="0"/>
              </a:rPr>
              <a:t>spatially, </a:t>
            </a:r>
            <a:r>
              <a:rPr sz="1721" b="1" spc="9">
                <a:latin typeface="Arial" pitchFamily="34" charset="0"/>
                <a:cs typeface="Arial" pitchFamily="34" charset="0"/>
              </a:rPr>
              <a:t>independently</a:t>
            </a:r>
            <a:r>
              <a:rPr sz="1721" b="1" spc="-35">
                <a:latin typeface="Arial" pitchFamily="34" charset="0"/>
                <a:cs typeface="Arial" pitchFamily="34" charset="0"/>
              </a:rPr>
              <a:t> </a:t>
            </a:r>
            <a:r>
              <a:rPr sz="1721" spc="4">
                <a:latin typeface="Arial" pitchFamily="34" charset="0"/>
                <a:cs typeface="Arial" pitchFamily="34" charset="0"/>
              </a:rPr>
              <a:t>in</a:t>
            </a:r>
            <a:endParaRPr sz="1721">
              <a:latin typeface="Arial" pitchFamily="34" charset="0"/>
              <a:cs typeface="Arial" pitchFamily="34" charset="0"/>
            </a:endParaRPr>
          </a:p>
          <a:p>
            <a:pPr marL="11206">
              <a:lnSpc>
                <a:spcPct val="100000"/>
              </a:lnSpc>
              <a:spcBef>
                <a:spcPts val="1076"/>
              </a:spcBef>
            </a:pPr>
            <a:r>
              <a:rPr sz="1721" b="1" spc="13">
                <a:latin typeface="Arial" pitchFamily="34" charset="0"/>
                <a:cs typeface="Arial" pitchFamily="34" charset="0"/>
              </a:rPr>
              <a:t>each </a:t>
            </a:r>
            <a:r>
              <a:rPr sz="1721" b="1" spc="9">
                <a:latin typeface="Arial" pitchFamily="34" charset="0"/>
                <a:cs typeface="Arial" pitchFamily="34" charset="0"/>
              </a:rPr>
              <a:t>depth </a:t>
            </a:r>
            <a:r>
              <a:rPr sz="1721" spc="9">
                <a:latin typeface="Arial" pitchFamily="34" charset="0"/>
                <a:cs typeface="Arial" pitchFamily="34" charset="0"/>
              </a:rPr>
              <a:t>slice of the</a:t>
            </a:r>
            <a:r>
              <a:rPr sz="1721" spc="-22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input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4452" y="5330828"/>
            <a:ext cx="7000315" cy="820831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 marR="4482">
              <a:lnSpc>
                <a:spcPct val="152200"/>
              </a:lnSpc>
              <a:spcBef>
                <a:spcPts val="79"/>
              </a:spcBef>
              <a:buSzPct val="94871"/>
              <a:buChar char="•"/>
              <a:tabLst>
                <a:tab pos="89647" algn="l"/>
              </a:tabLst>
            </a:pPr>
            <a:r>
              <a:rPr sz="1721" spc="9">
                <a:latin typeface="Arial" pitchFamily="34" charset="0"/>
                <a:cs typeface="Arial" pitchFamily="34" charset="0"/>
              </a:rPr>
              <a:t>The </a:t>
            </a:r>
            <a:r>
              <a:rPr sz="1721" spc="13">
                <a:latin typeface="Arial" pitchFamily="34" charset="0"/>
                <a:cs typeface="Arial" pitchFamily="34" charset="0"/>
              </a:rPr>
              <a:t>most common downsampling </a:t>
            </a:r>
            <a:r>
              <a:rPr sz="1721" spc="9">
                <a:latin typeface="Arial" pitchFamily="34" charset="0"/>
                <a:cs typeface="Arial" pitchFamily="34" charset="0"/>
              </a:rPr>
              <a:t>operation is </a:t>
            </a:r>
            <a:r>
              <a:rPr sz="1721" b="1" spc="9">
                <a:latin typeface="Arial" pitchFamily="34" charset="0"/>
                <a:cs typeface="Arial" pitchFamily="34" charset="0"/>
              </a:rPr>
              <a:t>max</a:t>
            </a:r>
            <a:r>
              <a:rPr sz="1721" spc="9">
                <a:latin typeface="Arial" pitchFamily="34" charset="0"/>
                <a:cs typeface="Arial" pitchFamily="34" charset="0"/>
              </a:rPr>
              <a:t>, giving rise </a:t>
            </a:r>
            <a:r>
              <a:rPr sz="1721" spc="4">
                <a:latin typeface="Arial" pitchFamily="34" charset="0"/>
                <a:cs typeface="Arial" pitchFamily="34" charset="0"/>
              </a:rPr>
              <a:t>to </a:t>
            </a:r>
            <a:r>
              <a:rPr sz="1721" b="1" spc="9">
                <a:latin typeface="Arial" pitchFamily="34" charset="0"/>
                <a:cs typeface="Arial" pitchFamily="34" charset="0"/>
              </a:rPr>
              <a:t>max  </a:t>
            </a:r>
            <a:r>
              <a:rPr sz="1721" b="1" spc="4">
                <a:latin typeface="Arial" pitchFamily="34" charset="0"/>
                <a:cs typeface="Arial" pitchFamily="34" charset="0"/>
              </a:rPr>
              <a:t>pooling</a:t>
            </a:r>
            <a:r>
              <a:rPr sz="1721" spc="4">
                <a:latin typeface="Arial" pitchFamily="34" charset="0"/>
                <a:cs typeface="Arial" pitchFamily="34" charset="0"/>
              </a:rPr>
              <a:t>, </a:t>
            </a:r>
            <a:r>
              <a:rPr sz="1721" spc="9">
                <a:latin typeface="Arial" pitchFamily="34" charset="0"/>
                <a:cs typeface="Arial" pitchFamily="34" charset="0"/>
              </a:rPr>
              <a:t>here </a:t>
            </a:r>
            <a:r>
              <a:rPr sz="1721" spc="13">
                <a:latin typeface="Arial" pitchFamily="34" charset="0"/>
                <a:cs typeface="Arial" pitchFamily="34" charset="0"/>
              </a:rPr>
              <a:t>shown </a:t>
            </a:r>
            <a:r>
              <a:rPr sz="1721" spc="9">
                <a:latin typeface="Arial" pitchFamily="34" charset="0"/>
                <a:cs typeface="Arial" pitchFamily="34" charset="0"/>
              </a:rPr>
              <a:t>with </a:t>
            </a:r>
            <a:r>
              <a:rPr sz="1721" spc="13">
                <a:latin typeface="Arial" pitchFamily="34" charset="0"/>
                <a:cs typeface="Arial" pitchFamily="34" charset="0"/>
              </a:rPr>
              <a:t>a </a:t>
            </a:r>
            <a:r>
              <a:rPr sz="1721" spc="9">
                <a:latin typeface="Arial" pitchFamily="34" charset="0"/>
                <a:cs typeface="Arial" pitchFamily="34" charset="0"/>
              </a:rPr>
              <a:t>stride of</a:t>
            </a:r>
            <a:r>
              <a:rPr sz="1721" spc="-31">
                <a:latin typeface="Arial" pitchFamily="34" charset="0"/>
                <a:cs typeface="Arial" pitchFamily="34" charset="0"/>
              </a:rPr>
              <a:t> </a:t>
            </a:r>
            <a:r>
              <a:rPr sz="1721" spc="13">
                <a:latin typeface="Arial" pitchFamily="34" charset="0"/>
                <a:cs typeface="Arial" pitchFamily="34" charset="0"/>
              </a:rPr>
              <a:t>2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14225" y="3041074"/>
            <a:ext cx="2790405" cy="21812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36547" y="3356957"/>
            <a:ext cx="3447677" cy="16182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222" y="5770419"/>
            <a:ext cx="6834468" cy="0"/>
          </a:xfrm>
          <a:custGeom>
            <a:avLst/>
            <a:gdLst/>
            <a:ahLst/>
            <a:cxnLst/>
            <a:rect l="l" t="t" r="r" b="b"/>
            <a:pathLst>
              <a:path w="7745730">
                <a:moveTo>
                  <a:pt x="0" y="0"/>
                </a:moveTo>
                <a:lnTo>
                  <a:pt x="7745712" y="0"/>
                </a:lnTo>
              </a:path>
            </a:pathLst>
          </a:custGeom>
          <a:ln w="9421">
            <a:solidFill>
              <a:srgbClr val="009FD9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129" y="809535"/>
            <a:ext cx="6584576" cy="29375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/>
              <a:t>Convolutional </a:t>
            </a:r>
            <a:r>
              <a:rPr spc="4"/>
              <a:t>Neural Networks (CNNs)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8314" y="1662147"/>
            <a:ext cx="6627719" cy="118670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4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Fully </a:t>
            </a: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Connected</a:t>
            </a:r>
            <a:r>
              <a:rPr sz="2074" b="1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Layer</a:t>
            </a:r>
            <a:endParaRPr sz="2074">
              <a:latin typeface="Arial" pitchFamily="34" charset="0"/>
              <a:cs typeface="Arial" pitchFamily="34" charset="0"/>
            </a:endParaRPr>
          </a:p>
          <a:p>
            <a:pPr marL="11206" marR="4482">
              <a:lnSpc>
                <a:spcPct val="152200"/>
              </a:lnSpc>
              <a:spcBef>
                <a:spcPts val="366"/>
              </a:spcBef>
              <a:buSzPct val="94871"/>
              <a:buChar char="•"/>
              <a:tabLst>
                <a:tab pos="89647" algn="l"/>
              </a:tabLst>
            </a:pPr>
            <a:r>
              <a:rPr sz="1721" spc="13">
                <a:latin typeface="Arial" pitchFamily="34" charset="0"/>
                <a:cs typeface="Arial" pitchFamily="34" charset="0"/>
              </a:rPr>
              <a:t>Neurons </a:t>
            </a:r>
            <a:r>
              <a:rPr sz="1721" spc="9">
                <a:latin typeface="Arial" pitchFamily="34" charset="0"/>
                <a:cs typeface="Arial" pitchFamily="34" charset="0"/>
              </a:rPr>
              <a:t>in </a:t>
            </a:r>
            <a:r>
              <a:rPr sz="1721" spc="13">
                <a:latin typeface="Arial" pitchFamily="34" charset="0"/>
                <a:cs typeface="Arial" pitchFamily="34" charset="0"/>
              </a:rPr>
              <a:t>a </a:t>
            </a:r>
            <a:r>
              <a:rPr sz="1721" spc="4">
                <a:latin typeface="Arial" pitchFamily="34" charset="0"/>
                <a:cs typeface="Arial" pitchFamily="34" charset="0"/>
              </a:rPr>
              <a:t>fully </a:t>
            </a:r>
            <a:r>
              <a:rPr sz="1721" spc="9">
                <a:latin typeface="Arial" pitchFamily="34" charset="0"/>
                <a:cs typeface="Arial" pitchFamily="34" charset="0"/>
              </a:rPr>
              <a:t>connected layer </a:t>
            </a:r>
            <a:r>
              <a:rPr sz="1721" spc="13">
                <a:latin typeface="Arial" pitchFamily="34" charset="0"/>
                <a:cs typeface="Arial" pitchFamily="34" charset="0"/>
              </a:rPr>
              <a:t>have </a:t>
            </a:r>
            <a:r>
              <a:rPr sz="1721" spc="4">
                <a:latin typeface="Arial" pitchFamily="34" charset="0"/>
                <a:cs typeface="Arial" pitchFamily="34" charset="0"/>
              </a:rPr>
              <a:t>full </a:t>
            </a:r>
            <a:r>
              <a:rPr sz="1721" spc="9">
                <a:latin typeface="Arial" pitchFamily="34" charset="0"/>
                <a:cs typeface="Arial" pitchFamily="34" charset="0"/>
              </a:rPr>
              <a:t>connections </a:t>
            </a:r>
            <a:r>
              <a:rPr sz="1721" spc="4">
                <a:latin typeface="Arial" pitchFamily="34" charset="0"/>
                <a:cs typeface="Arial" pitchFamily="34" charset="0"/>
              </a:rPr>
              <a:t>to all  </a:t>
            </a:r>
            <a:r>
              <a:rPr sz="1721" spc="9">
                <a:latin typeface="Arial" pitchFamily="34" charset="0"/>
                <a:cs typeface="Arial" pitchFamily="34" charset="0"/>
              </a:rPr>
              <a:t>activations in the previous layer, as </a:t>
            </a:r>
            <a:r>
              <a:rPr sz="1721" spc="13">
                <a:latin typeface="Arial" pitchFamily="34" charset="0"/>
                <a:cs typeface="Arial" pitchFamily="34" charset="0"/>
              </a:rPr>
              <a:t>seen </a:t>
            </a:r>
            <a:r>
              <a:rPr sz="1721" spc="9">
                <a:latin typeface="Arial" pitchFamily="34" charset="0"/>
                <a:cs typeface="Arial" pitchFamily="34" charset="0"/>
              </a:rPr>
              <a:t>in regular neural</a:t>
            </a:r>
            <a:r>
              <a:rPr sz="1721" spc="-13">
                <a:latin typeface="Arial" pitchFamily="34" charset="0"/>
                <a:cs typeface="Arial" pitchFamily="34" charset="0"/>
              </a:rPr>
              <a:t> </a:t>
            </a:r>
            <a:r>
              <a:rPr sz="1721" spc="9">
                <a:latin typeface="Arial" pitchFamily="34" charset="0"/>
                <a:cs typeface="Arial" pitchFamily="34" charset="0"/>
              </a:rPr>
              <a:t>networks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211" y="3218419"/>
            <a:ext cx="7615842" cy="2572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標題 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AB4346B-14CB-4261-A46D-825EA268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31" y="455239"/>
            <a:ext cx="7654738" cy="282388"/>
          </a:xfrm>
        </p:spPr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pic>
        <p:nvPicPr>
          <p:cNvPr id="32770" name="Picture 2" descr="http://s.hswstatic.com/gif/whiskers-sam.jpg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9ABAC33-61F9-4577-B71C-BE5266A29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5196028" y="287291"/>
            <a:ext cx="1719543" cy="1167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1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88EDFE6-C9AF-4B69-9343-C88A1E630A49}"/>
              </a:ext>
            </a:extLst>
          </p:cNvPr>
          <p:cNvSpPr/>
          <p:nvPr/>
        </p:nvSpPr>
        <p:spPr>
          <a:xfrm>
            <a:off x="5229985" y="1973607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499A339-DE57-4E23-803F-8DA9883D1D99}"/>
              </a:ext>
            </a:extLst>
          </p:cNvPr>
          <p:cNvSpPr/>
          <p:nvPr/>
        </p:nvSpPr>
        <p:spPr>
          <a:xfrm>
            <a:off x="5229985" y="3041267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3ED6626-6954-4F0A-97BE-3E93D3F47A97}"/>
              </a:ext>
            </a:extLst>
          </p:cNvPr>
          <p:cNvSpPr/>
          <p:nvPr/>
        </p:nvSpPr>
        <p:spPr>
          <a:xfrm>
            <a:off x="5229985" y="4078062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C7EC69F-B85E-4405-BAC7-02EB682FA769}"/>
              </a:ext>
            </a:extLst>
          </p:cNvPr>
          <p:cNvSpPr/>
          <p:nvPr/>
        </p:nvSpPr>
        <p:spPr>
          <a:xfrm>
            <a:off x="5229985" y="5080924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6BB5C0E-5DA3-42C5-869E-129AAC0500B7}"/>
              </a:ext>
            </a:extLst>
          </p:cNvPr>
          <p:cNvSpPr/>
          <p:nvPr/>
        </p:nvSpPr>
        <p:spPr>
          <a:xfrm>
            <a:off x="5830841" y="1509153"/>
            <a:ext cx="530038" cy="42988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1F4483F-938C-4CB9-BDAF-3A436BE142C2}"/>
              </a:ext>
            </a:extLst>
          </p:cNvPr>
          <p:cNvSpPr/>
          <p:nvPr/>
        </p:nvSpPr>
        <p:spPr>
          <a:xfrm>
            <a:off x="5830841" y="2587719"/>
            <a:ext cx="530038" cy="42988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345D06D-78D0-428D-8D3B-8F0B68F7BF9D}"/>
              </a:ext>
            </a:extLst>
          </p:cNvPr>
          <p:cNvSpPr/>
          <p:nvPr/>
        </p:nvSpPr>
        <p:spPr>
          <a:xfrm>
            <a:off x="5830841" y="364779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9DFAECF-6189-40CC-93BD-82A883EA51D7}"/>
              </a:ext>
            </a:extLst>
          </p:cNvPr>
          <p:cNvSpPr/>
          <p:nvPr/>
        </p:nvSpPr>
        <p:spPr>
          <a:xfrm>
            <a:off x="5830841" y="4652403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2787" name="文字方塊 2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80FA171-05E0-4BBA-875B-898A7E26D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835" y="3415134"/>
            <a:ext cx="1640961" cy="115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329"/>
              <a:t>Can repeat many times</a:t>
            </a:r>
            <a:endParaRPr lang="zh-TW" altLang="en-US" sz="2329"/>
          </a:p>
        </p:txBody>
      </p:sp>
      <p:sp>
        <p:nvSpPr>
          <p:cNvPr id="15" name="左大括弧 2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76B33EF-377A-4747-BC9A-A759FD1DFC13}"/>
              </a:ext>
            </a:extLst>
          </p:cNvPr>
          <p:cNvSpPr/>
          <p:nvPr/>
        </p:nvSpPr>
        <p:spPr>
          <a:xfrm flipH="1">
            <a:off x="6954090" y="1854294"/>
            <a:ext cx="325111" cy="392906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6" name="矩形 2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C81523D-DCB0-403E-AC4E-D83F0231EC9B}"/>
              </a:ext>
            </a:extLst>
          </p:cNvPr>
          <p:cNvSpPr/>
          <p:nvPr/>
        </p:nvSpPr>
        <p:spPr>
          <a:xfrm>
            <a:off x="5171375" y="1894355"/>
            <a:ext cx="1802747" cy="18443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7" name="文字方塊 2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17F27A9-E22E-4BA7-A6F8-7CF6FCCC7310}"/>
              </a:ext>
            </a:extLst>
          </p:cNvPr>
          <p:cNvSpPr txBox="1"/>
          <p:nvPr/>
        </p:nvSpPr>
        <p:spPr>
          <a:xfrm>
            <a:off x="1475296" y="3564540"/>
            <a:ext cx="2035501" cy="43993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>
              <a:defRPr/>
            </a:pPr>
            <a:r>
              <a:rPr lang="en-US" altLang="zh-TW" sz="2329"/>
              <a:t>A new image</a:t>
            </a:r>
            <a:endParaRPr lang="zh-TW" altLang="en-US" sz="2329"/>
          </a:p>
        </p:txBody>
      </p:sp>
      <p:sp>
        <p:nvSpPr>
          <p:cNvPr id="18" name="文字方塊 2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53D6A57-947B-443E-8D71-23045885B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244" y="5157788"/>
            <a:ext cx="4163266" cy="91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718"/>
              <a:t>The number of channels is the number of filters</a:t>
            </a:r>
            <a:endParaRPr lang="zh-TW" altLang="en-US" sz="2718"/>
          </a:p>
        </p:txBody>
      </p:sp>
      <p:sp>
        <p:nvSpPr>
          <p:cNvPr id="19" name="文字方塊 2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0146537-AD66-4FD6-9332-325443656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243" y="4227139"/>
            <a:ext cx="4124746" cy="91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718"/>
              <a:t>Smaller than the original image</a:t>
            </a:r>
            <a:endParaRPr lang="zh-TW" altLang="en-US" sz="2718"/>
          </a:p>
        </p:txBody>
      </p:sp>
      <p:cxnSp>
        <p:nvCxnSpPr>
          <p:cNvPr id="20" name="直線單箭頭接點 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6A3135F-7643-4B6C-8784-DC5028AB4ACB}"/>
              </a:ext>
            </a:extLst>
          </p:cNvPr>
          <p:cNvCxnSpPr/>
          <p:nvPr/>
        </p:nvCxnSpPr>
        <p:spPr>
          <a:xfrm flipH="1">
            <a:off x="3565853" y="3861968"/>
            <a:ext cx="220335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25F9BC1-6AE7-4F51-A08A-59F36DDD5FC5}"/>
              </a:ext>
            </a:extLst>
          </p:cNvPr>
          <p:cNvSpPr/>
          <p:nvPr/>
        </p:nvSpPr>
        <p:spPr>
          <a:xfrm>
            <a:off x="5171375" y="3985233"/>
            <a:ext cx="1802747" cy="18443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grpSp>
        <p:nvGrpSpPr>
          <p:cNvPr id="22" name="群組 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A61696C1-F47B-4A0F-95B2-3A20A9B278B6}"/>
              </a:ext>
            </a:extLst>
          </p:cNvPr>
          <p:cNvGrpSpPr/>
          <p:nvPr/>
        </p:nvGrpSpPr>
        <p:grpSpPr>
          <a:xfrm>
            <a:off x="1650628" y="1664774"/>
            <a:ext cx="1890573" cy="1719542"/>
            <a:chOff x="1500436" y="1410303"/>
            <a:chExt cx="1718749" cy="1563143"/>
          </a:xfrm>
        </p:grpSpPr>
        <p:sp>
          <p:nvSpPr>
            <p:cNvPr id="23" name="橢圓 29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4CF35EF-8CAD-4DA1-A016-97B2A93D1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451" y="1410303"/>
              <a:ext cx="634550" cy="635902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3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  <p:sp>
          <p:nvSpPr>
            <p:cNvPr id="24" name="橢圓 30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EF0ABC1-6CC9-40A4-B282-089BB5481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724" y="1410303"/>
              <a:ext cx="634550" cy="635902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0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  <p:sp>
          <p:nvSpPr>
            <p:cNvPr id="25" name="橢圓 31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F57D051-585E-47EC-9CDF-F18332AA3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709" y="2197478"/>
              <a:ext cx="635951" cy="635902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1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  <p:sp>
          <p:nvSpPr>
            <p:cNvPr id="26" name="橢圓 32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ACD23FC-CF0C-44BE-8471-BBE73EBD7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436" y="2197477"/>
              <a:ext cx="635951" cy="635902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3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  <p:sp>
          <p:nvSpPr>
            <p:cNvPr id="27" name="橢圓 33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20E8C24-BF09-47A6-A342-4EB4D51B3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144" y="1602194"/>
              <a:ext cx="635951" cy="634502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-1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  <p:sp>
          <p:nvSpPr>
            <p:cNvPr id="28" name="橢圓 34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A40E9819-0D35-4E0D-930F-0D042AE36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234" y="1581184"/>
              <a:ext cx="635951" cy="635902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1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  <p:sp>
          <p:nvSpPr>
            <p:cNvPr id="29" name="橢圓 35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7FCC78E-0ECD-4DD7-8546-0F3EE9AAF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619" y="2336143"/>
              <a:ext cx="634550" cy="634502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3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  <p:sp>
          <p:nvSpPr>
            <p:cNvPr id="30" name="橢圓 36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7AEEAEC-CFC2-4B71-ACF9-EE8A25F6B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1136" y="2337544"/>
              <a:ext cx="634549" cy="635902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341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682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0235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3647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17059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20471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23882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27294" algn="l" defTabSz="806824" rtl="0" eaLnBrk="1" latinLnBrk="0" hangingPunct="1">
                <a:defRPr sz="15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TW" sz="2329">
                  <a:solidFill>
                    <a:schemeClr val="dk1"/>
                  </a:solidFill>
                </a:rPr>
                <a:t>0</a:t>
              </a:r>
              <a:endParaRPr lang="zh-TW" altLang="en-US" sz="2329">
                <a:solidFill>
                  <a:schemeClr val="dk1"/>
                </a:solidFill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標題 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FAA2684-0475-45C0-BB24-AEFDCAC4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31" y="455239"/>
            <a:ext cx="7654738" cy="282388"/>
          </a:xfrm>
        </p:spPr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grpSp>
        <p:nvGrpSpPr>
          <p:cNvPr id="33794" name="群組 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122E95F-A19C-4467-BCFE-C46D8E546315}"/>
              </a:ext>
            </a:extLst>
          </p:cNvPr>
          <p:cNvGrpSpPr/>
          <p:nvPr/>
        </p:nvGrpSpPr>
        <p:grpSpPr>
          <a:xfrm>
            <a:off x="861733" y="2308833"/>
            <a:ext cx="2821221" cy="3106271"/>
            <a:chOff x="-1592364" y="3719164"/>
            <a:chExt cx="2564619" cy="2824833"/>
          </a:xfrm>
        </p:grpSpPr>
        <p:pic>
          <p:nvPicPr>
            <p:cNvPr id="33825" name="圖片 4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9D3C24C-25C5-4698-ACD5-AF02FBC02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 rot="5400000" flipH="1">
              <a:off x="-1689679" y="4380792"/>
              <a:ext cx="2824833" cy="1501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文字方塊 5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3C96A1D-1608-4F50-97CC-924F8B54B2E8}"/>
                </a:ext>
              </a:extLst>
            </p:cNvPr>
            <p:cNvSpPr txBox="1"/>
            <p:nvPr/>
          </p:nvSpPr>
          <p:spPr>
            <a:xfrm>
              <a:off x="-1592364" y="4993052"/>
              <a:ext cx="2564619" cy="61740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>
              <a:defPPr>
                <a:defRPr lang="en-US"/>
              </a:defPPr>
              <a:lvl1pPr marL="0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1pPr>
              <a:lvl2pPr marL="403412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2pPr>
              <a:lvl3pPr marL="806824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3pPr>
              <a:lvl4pPr marL="1210235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4pPr>
              <a:lvl5pPr marL="1613647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5pPr>
              <a:lvl6pPr marL="2017059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6pPr>
              <a:lvl7pPr marL="2420471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7pPr>
              <a:lvl8pPr marL="2823882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8pPr>
              <a:lvl9pPr marL="3227294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9pPr>
            </a:lstStyle>
            <a:p>
              <a:pPr algn="ctr">
                <a:defRPr/>
              </a:pPr>
              <a:r>
                <a:rPr lang="en-US" altLang="zh-TW" sz="1941">
                  <a:solidFill>
                    <a:srgbClr val="000000"/>
                  </a:solidFill>
                </a:rPr>
                <a:t>Fully Connected Feedforward network</a:t>
              </a:r>
              <a:endParaRPr lang="zh-TW" altLang="en-US" sz="1941">
                <a:solidFill>
                  <a:srgbClr val="000000"/>
                </a:solidFill>
              </a:endParaRPr>
            </a:p>
          </p:txBody>
        </p:sp>
      </p:grpSp>
      <p:pic>
        <p:nvPicPr>
          <p:cNvPr id="33795" name="Picture 2" descr="http://s.hswstatic.com/gif/whiskers-sam.jpg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4852D9D-35B2-4D0C-8360-485D9D710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5196028" y="287291"/>
            <a:ext cx="1719543" cy="1167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文字方塊 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E7EB459-C491-45F0-833B-4EB54037E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822" y="1757223"/>
            <a:ext cx="1986102" cy="43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zh-TW" sz="2329"/>
              <a:t>cat dog ……</a:t>
            </a:r>
            <a:endParaRPr lang="zh-TW" altLang="en-US" sz="2329"/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B99341D-6A90-490C-8937-91A4C7C446D4}"/>
              </a:ext>
            </a:extLst>
          </p:cNvPr>
          <p:cNvSpPr/>
          <p:nvPr/>
        </p:nvSpPr>
        <p:spPr>
          <a:xfrm>
            <a:off x="5229985" y="1973607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1" name="矩形 1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371AF3D1-D713-4223-9AAE-A0C821386252}"/>
              </a:ext>
            </a:extLst>
          </p:cNvPr>
          <p:cNvSpPr/>
          <p:nvPr/>
        </p:nvSpPr>
        <p:spPr>
          <a:xfrm>
            <a:off x="5229985" y="3041267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2" name="矩形 1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B893CC1-8E34-4B18-AB48-EDABD915D0C8}"/>
              </a:ext>
            </a:extLst>
          </p:cNvPr>
          <p:cNvSpPr/>
          <p:nvPr/>
        </p:nvSpPr>
        <p:spPr>
          <a:xfrm>
            <a:off x="5229985" y="4078062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3" name="矩形 1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D4A656F-2453-484F-94BC-04779FEF91D1}"/>
              </a:ext>
            </a:extLst>
          </p:cNvPr>
          <p:cNvSpPr/>
          <p:nvPr/>
        </p:nvSpPr>
        <p:spPr>
          <a:xfrm>
            <a:off x="5229985" y="5080924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4" name="文字方塊 1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CF90DD1-FDD6-4239-908C-CC699304D3FF}"/>
              </a:ext>
            </a:extLst>
          </p:cNvPr>
          <p:cNvSpPr txBox="1"/>
          <p:nvPr/>
        </p:nvSpPr>
        <p:spPr>
          <a:xfrm>
            <a:off x="3360918" y="5978412"/>
            <a:ext cx="1511197" cy="43993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2329">
                <a:solidFill>
                  <a:srgbClr val="000000"/>
                </a:solidFill>
              </a:rPr>
              <a:t>Flattened</a:t>
            </a:r>
            <a:endParaRPr lang="zh-TW" altLang="en-US" sz="2329">
              <a:solidFill>
                <a:srgbClr val="000000"/>
              </a:solidFill>
            </a:endParaRPr>
          </a:p>
        </p:txBody>
      </p:sp>
      <p:sp>
        <p:nvSpPr>
          <p:cNvPr id="15" name="向下箭號 1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ADE2BC1D-1387-4977-BC92-39728EEFB307}"/>
              </a:ext>
            </a:extLst>
          </p:cNvPr>
          <p:cNvSpPr/>
          <p:nvPr/>
        </p:nvSpPr>
        <p:spPr>
          <a:xfrm>
            <a:off x="5830841" y="1509153"/>
            <a:ext cx="530038" cy="42988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6" name="向下箭號 1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A0D5733-E8B1-4CBB-8CB1-5872A490ADD3}"/>
              </a:ext>
            </a:extLst>
          </p:cNvPr>
          <p:cNvSpPr/>
          <p:nvPr/>
        </p:nvSpPr>
        <p:spPr>
          <a:xfrm>
            <a:off x="5830841" y="2587719"/>
            <a:ext cx="530038" cy="42988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7" name="向下箭號 1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BFDCD78-1F11-467A-A285-CAAD9C60A382}"/>
              </a:ext>
            </a:extLst>
          </p:cNvPr>
          <p:cNvSpPr/>
          <p:nvPr/>
        </p:nvSpPr>
        <p:spPr>
          <a:xfrm>
            <a:off x="5830841" y="364779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8" name="向下箭號 1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745718E-6B90-42BA-86A0-8468A1D4A504}"/>
              </a:ext>
            </a:extLst>
          </p:cNvPr>
          <p:cNvSpPr/>
          <p:nvPr/>
        </p:nvSpPr>
        <p:spPr>
          <a:xfrm>
            <a:off x="5830841" y="4652403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9" name="右彎箭號 1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CB3D1F2-B62C-430B-A216-E5338D511F6C}"/>
              </a:ext>
            </a:extLst>
          </p:cNvPr>
          <p:cNvSpPr/>
          <p:nvPr/>
        </p:nvSpPr>
        <p:spPr>
          <a:xfrm rot="10800000">
            <a:off x="4872458" y="5684744"/>
            <a:ext cx="1337422" cy="730344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>
              <a:solidFill>
                <a:schemeClr val="tx1"/>
              </a:solidFill>
            </a:endParaRPr>
          </a:p>
        </p:txBody>
      </p:sp>
      <p:sp>
        <p:nvSpPr>
          <p:cNvPr id="20" name="右彎箭號 2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DD42C7C-BBA7-4F4F-A774-9768CD51A6F3}"/>
              </a:ext>
            </a:extLst>
          </p:cNvPr>
          <p:cNvSpPr/>
          <p:nvPr/>
        </p:nvSpPr>
        <p:spPr>
          <a:xfrm rot="16200000">
            <a:off x="2225348" y="5284135"/>
            <a:ext cx="939894" cy="1201831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>
              <a:solidFill>
                <a:schemeClr val="tx1"/>
              </a:solidFill>
            </a:endParaRPr>
          </a:p>
        </p:txBody>
      </p:sp>
      <p:sp>
        <p:nvSpPr>
          <p:cNvPr id="21" name="矩形 2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1B8ED1E-FAD4-4E94-B053-14D7EEE1E74E}"/>
              </a:ext>
            </a:extLst>
          </p:cNvPr>
          <p:cNvSpPr/>
          <p:nvPr/>
        </p:nvSpPr>
        <p:spPr>
          <a:xfrm>
            <a:off x="744631" y="2587718"/>
            <a:ext cx="4240306" cy="39521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22" name="文字方塊 2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B13443C-12B0-40BB-AF34-F7DAC0B74AFB}"/>
              </a:ext>
            </a:extLst>
          </p:cNvPr>
          <p:cNvSpPr txBox="1"/>
          <p:nvPr/>
        </p:nvSpPr>
        <p:spPr>
          <a:xfrm>
            <a:off x="6642848" y="3650876"/>
            <a:ext cx="2035501" cy="43993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>
              <a:defRPr/>
            </a:pPr>
            <a:r>
              <a:rPr lang="en-US" altLang="zh-TW" sz="2329"/>
              <a:t>A new image</a:t>
            </a:r>
            <a:endParaRPr lang="zh-TW" altLang="en-US" sz="2329"/>
          </a:p>
        </p:txBody>
      </p:sp>
      <p:sp>
        <p:nvSpPr>
          <p:cNvPr id="23" name="文字方塊 2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D00FAC0-59A8-47EC-A43B-6DF53DA6A0BE}"/>
              </a:ext>
            </a:extLst>
          </p:cNvPr>
          <p:cNvSpPr txBox="1"/>
          <p:nvPr/>
        </p:nvSpPr>
        <p:spPr>
          <a:xfrm>
            <a:off x="6420971" y="5869641"/>
            <a:ext cx="2035501" cy="43993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>
              <a:defRPr/>
            </a:pPr>
            <a:r>
              <a:rPr lang="en-US" altLang="zh-TW" sz="2329"/>
              <a:t>A new image</a:t>
            </a:r>
            <a:endParaRPr lang="zh-TW" altLang="en-US" sz="2329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C74F8D2-62EF-447B-B1E4-D3FE580DDC48}"/>
              </a:ext>
            </a:extLst>
          </p:cNvPr>
          <p:cNvSpPr txBox="1"/>
          <p:nvPr/>
        </p:nvSpPr>
        <p:spPr>
          <a:xfrm>
            <a:off x="3134603" y="238436"/>
            <a:ext cx="5377423" cy="67891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>
              <a:defRPr/>
            </a:pPr>
            <a:r>
              <a:rPr lang="en-US" altLang="zh-TW" sz="1941">
                <a:solidFill>
                  <a:srgbClr val="000000"/>
                </a:solidFill>
              </a:rPr>
              <a:t>Only modified the </a:t>
            </a:r>
            <a:r>
              <a:rPr lang="en-US" altLang="zh-TW" sz="1941" b="1" i="1">
                <a:solidFill>
                  <a:srgbClr val="000000"/>
                </a:solidFill>
              </a:rPr>
              <a:t>network structure </a:t>
            </a:r>
            <a:r>
              <a:rPr lang="en-US" altLang="zh-TW" sz="1941">
                <a:solidFill>
                  <a:srgbClr val="000000"/>
                </a:solidFill>
              </a:rPr>
              <a:t>and </a:t>
            </a:r>
            <a:r>
              <a:rPr lang="en-US" altLang="zh-TW" sz="1941" b="1" i="1">
                <a:solidFill>
                  <a:srgbClr val="000000"/>
                </a:solidFill>
              </a:rPr>
              <a:t>input format (vector -&gt; 3-D tensor)</a:t>
            </a:r>
            <a:endParaRPr lang="zh-TW" altLang="en-US" sz="1941" b="1" i="1">
              <a:solidFill>
                <a:srgbClr val="000000"/>
              </a:solidFill>
            </a:endParaRPr>
          </a:p>
        </p:txBody>
      </p:sp>
      <p:sp>
        <p:nvSpPr>
          <p:cNvPr id="35844" name="矩形 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4F13596-EDD1-4DCD-A879-21A143798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83" y="358169"/>
            <a:ext cx="2389229" cy="49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718" b="1" i="1" u="sng"/>
              <a:t>CNN in Keras</a:t>
            </a:r>
            <a:endParaRPr lang="zh-TW" altLang="en-US" sz="2718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6B126B9-2E7B-4B84-B2E2-A32C7545E410}"/>
              </a:ext>
            </a:extLst>
          </p:cNvPr>
          <p:cNvSpPr/>
          <p:nvPr/>
        </p:nvSpPr>
        <p:spPr>
          <a:xfrm>
            <a:off x="6257435" y="1919790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A9C0A80C-95C9-4709-B1DF-C8DBC4298605}"/>
              </a:ext>
            </a:extLst>
          </p:cNvPr>
          <p:cNvSpPr/>
          <p:nvPr/>
        </p:nvSpPr>
        <p:spPr>
          <a:xfrm>
            <a:off x="6257435" y="2987448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F16A662-1719-4B25-A800-7B473C23ED4A}"/>
              </a:ext>
            </a:extLst>
          </p:cNvPr>
          <p:cNvSpPr/>
          <p:nvPr/>
        </p:nvSpPr>
        <p:spPr>
          <a:xfrm>
            <a:off x="6257435" y="4024244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E7616CF-DA51-4EA9-880B-8576E0FC0897}"/>
              </a:ext>
            </a:extLst>
          </p:cNvPr>
          <p:cNvSpPr/>
          <p:nvPr/>
        </p:nvSpPr>
        <p:spPr>
          <a:xfrm>
            <a:off x="6257435" y="5027106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A30036D-DDF9-451B-848B-D7AD415EAB5C}"/>
              </a:ext>
            </a:extLst>
          </p:cNvPr>
          <p:cNvSpPr/>
          <p:nvPr/>
        </p:nvSpPr>
        <p:spPr>
          <a:xfrm>
            <a:off x="6858560" y="145676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719AE17-AAF9-44EC-9FE8-1B4148ADD9F7}"/>
              </a:ext>
            </a:extLst>
          </p:cNvPr>
          <p:cNvSpPr/>
          <p:nvPr/>
        </p:nvSpPr>
        <p:spPr>
          <a:xfrm>
            <a:off x="6858560" y="2533790"/>
            <a:ext cx="530038" cy="4298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C8B367A-84D5-4ECC-888B-E886B4B95443}"/>
              </a:ext>
            </a:extLst>
          </p:cNvPr>
          <p:cNvSpPr/>
          <p:nvPr/>
        </p:nvSpPr>
        <p:spPr>
          <a:xfrm>
            <a:off x="6858560" y="3593867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02D0FE4-79F1-456B-88EE-EBFD6FD60138}"/>
              </a:ext>
            </a:extLst>
          </p:cNvPr>
          <p:cNvSpPr/>
          <p:nvPr/>
        </p:nvSpPr>
        <p:spPr>
          <a:xfrm>
            <a:off x="6858560" y="459847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5861" name="文字方塊 4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57DFE1B-DAA0-4940-B0E3-914F80AB8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1045369"/>
            <a:ext cx="1986103" cy="43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zh-TW" sz="2329"/>
              <a:t>input</a:t>
            </a:r>
            <a:endParaRPr lang="zh-TW" altLang="en-US" sz="2329"/>
          </a:p>
        </p:txBody>
      </p:sp>
      <p:pic>
        <p:nvPicPr>
          <p:cNvPr id="15" name="圖片 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4511F4C-F617-4946-836C-35AEDFD50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693786" y="1509152"/>
            <a:ext cx="4724121" cy="53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4FBB425-C2D8-4943-8558-1FB7459AB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468812" y="4660107"/>
            <a:ext cx="4049246" cy="25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線接點 4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6967836-0767-4D9E-B4D5-44D80D061F58}"/>
              </a:ext>
            </a:extLst>
          </p:cNvPr>
          <p:cNvCxnSpPr/>
          <p:nvPr/>
        </p:nvCxnSpPr>
        <p:spPr>
          <a:xfrm>
            <a:off x="2271574" y="1723325"/>
            <a:ext cx="165945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4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8C02D1B7-7431-4BFF-BA60-F647C476F5BA}"/>
              </a:ext>
            </a:extLst>
          </p:cNvPr>
          <p:cNvCxnSpPr/>
          <p:nvPr/>
        </p:nvCxnSpPr>
        <p:spPr>
          <a:xfrm>
            <a:off x="4142115" y="1723325"/>
            <a:ext cx="32511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4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857CB8DE-664A-495D-B96F-1B57EA862BB1}"/>
              </a:ext>
            </a:extLst>
          </p:cNvPr>
          <p:cNvCxnSpPr/>
          <p:nvPr/>
        </p:nvCxnSpPr>
        <p:spPr>
          <a:xfrm>
            <a:off x="4559674" y="1723325"/>
            <a:ext cx="16332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5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1ADE138-F5D8-4643-9251-0E8342A7BE89}"/>
              </a:ext>
            </a:extLst>
          </p:cNvPr>
          <p:cNvCxnSpPr/>
          <p:nvPr/>
        </p:nvCxnSpPr>
        <p:spPr>
          <a:xfrm>
            <a:off x="4809284" y="1724865"/>
            <a:ext cx="16178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5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8651173B-50AC-4180-B92B-F138BDE283A0}"/>
              </a:ext>
            </a:extLst>
          </p:cNvPr>
          <p:cNvGraphicFramePr>
            <a:graphicFrameLocks noGrp="1"/>
          </p:cNvGraphicFramePr>
          <p:nvPr/>
        </p:nvGraphicFramePr>
        <p:xfrm>
          <a:off x="837080" y="2239496"/>
          <a:ext cx="1342044" cy="10801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348">
                  <a:extLst>
                    <a:ext uri="{9D8B030D-6E8A-4147-A177-3AD203B41FA5}">
                      <a16:col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20000"/>
                    </a:ext>
                  </a:extLst>
                </a:gridCol>
                <a:gridCol w="447348">
                  <a:extLst>
                    <a:ext uri="{9D8B030D-6E8A-4147-A177-3AD203B41FA5}">
                      <a16:col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20001"/>
                    </a:ext>
                  </a:extLst>
                </a:gridCol>
                <a:gridCol w="447348">
                  <a:extLst>
                    <a:ext uri="{9D8B030D-6E8A-4147-A177-3AD203B41FA5}">
                      <a16:col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20002"/>
                    </a:ext>
                  </a:extLst>
                </a:gridCol>
              </a:tblGrid>
              <a:tr h="3600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000">
                        <a:solidFill>
                          <a:srgbClr val="0000FF"/>
                        </a:solidFill>
                      </a:endParaRPr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10000"/>
                  </a:ext>
                </a:extLst>
              </a:tr>
              <a:tr h="3600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000">
                        <a:solidFill>
                          <a:srgbClr val="0000FF"/>
                        </a:solidFill>
                      </a:endParaRPr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10001"/>
                  </a:ext>
                </a:extLst>
              </a:tr>
              <a:tr h="3600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000">
                        <a:solidFill>
                          <a:srgbClr val="0000FF"/>
                        </a:solidFill>
                      </a:endParaRPr>
                    </a:p>
                  </a:txBody>
                  <a:tcPr marL="88758" marR="88758" marT="44388" marB="4438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10002"/>
                  </a:ext>
                </a:extLst>
              </a:tr>
            </a:tbl>
          </a:graphicData>
        </a:graphic>
      </p:graphicFrame>
      <p:graphicFrame>
        <p:nvGraphicFramePr>
          <p:cNvPr id="22" name="表格 5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AB1A1A0B-5504-4A83-AB81-14424C2B048C}"/>
              </a:ext>
            </a:extLst>
          </p:cNvPr>
          <p:cNvGraphicFramePr>
            <a:graphicFrameLocks noGrp="1"/>
          </p:cNvGraphicFramePr>
          <p:nvPr/>
        </p:nvGraphicFramePr>
        <p:xfrm>
          <a:off x="1582831" y="2399741"/>
          <a:ext cx="1357455" cy="10785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2485">
                  <a:extLst>
                    <a:ext uri="{9D8B030D-6E8A-4147-A177-3AD203B41FA5}">
                      <a16:col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20000"/>
                    </a:ext>
                  </a:extLst>
                </a:gridCol>
                <a:gridCol w="452485">
                  <a:extLst>
                    <a:ext uri="{9D8B030D-6E8A-4147-A177-3AD203B41FA5}">
                      <a16:col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20001"/>
                    </a:ext>
                  </a:extLst>
                </a:gridCol>
                <a:gridCol w="452485">
                  <a:extLst>
                    <a:ext uri="{9D8B030D-6E8A-4147-A177-3AD203B41FA5}">
                      <a16:col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20002"/>
                    </a:ext>
                  </a:extLst>
                </a:gridCol>
              </a:tblGrid>
              <a:tr h="359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000">
                        <a:solidFill>
                          <a:srgbClr val="0000FF"/>
                        </a:solidFill>
                      </a:endParaRPr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10000"/>
                  </a:ext>
                </a:extLst>
              </a:tr>
              <a:tr h="359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000">
                        <a:solidFill>
                          <a:srgbClr val="0000FF"/>
                        </a:solidFill>
                      </a:endParaRPr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10001"/>
                  </a:ext>
                </a:extLst>
              </a:tr>
              <a:tr h="359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000">
                        <a:solidFill>
                          <a:srgbClr val="0000FF"/>
                        </a:solidFill>
                      </a:endParaRPr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65"/>
                        <a:t>-1</a:t>
                      </a:r>
                      <a:endParaRPr lang="zh-TW" altLang="en-US" sz="2000"/>
                    </a:p>
                  </a:txBody>
                  <a:tcPr marL="88742" marR="88742" marT="44325" marB="4432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val="10002"/>
                  </a:ext>
                </a:extLst>
              </a:tr>
            </a:tbl>
          </a:graphicData>
        </a:graphic>
      </p:graphicFrame>
      <p:sp>
        <p:nvSpPr>
          <p:cNvPr id="23" name="文字方塊 5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A0C06C6-8C1B-4E69-91D6-A112262DB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056" y="2481403"/>
            <a:ext cx="1748817" cy="115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329"/>
              <a:t>There are </a:t>
            </a:r>
            <a:r>
              <a:rPr lang="en-US" altLang="zh-TW" sz="2329">
                <a:solidFill>
                  <a:srgbClr val="FF0000"/>
                </a:solidFill>
              </a:rPr>
              <a:t>25</a:t>
            </a:r>
            <a:r>
              <a:rPr lang="en-US" altLang="zh-TW" sz="2329"/>
              <a:t> </a:t>
            </a:r>
            <a:r>
              <a:rPr lang="en-US" altLang="zh-TW" sz="2329">
                <a:solidFill>
                  <a:srgbClr val="FF0000"/>
                </a:solidFill>
              </a:rPr>
              <a:t>3x3</a:t>
            </a:r>
            <a:r>
              <a:rPr lang="en-US" altLang="zh-TW" sz="2329"/>
              <a:t> filters.</a:t>
            </a:r>
            <a:endParaRPr lang="zh-TW" altLang="en-US" sz="2329"/>
          </a:p>
        </p:txBody>
      </p:sp>
      <p:sp>
        <p:nvSpPr>
          <p:cNvPr id="24" name="文字方塊 5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35F181E-E87B-475E-926A-1C16399FD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5722" y="2549199"/>
            <a:ext cx="671793" cy="91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718"/>
              <a:t>……</a:t>
            </a:r>
            <a:endParaRPr lang="zh-TW" altLang="en-US" sz="2718"/>
          </a:p>
        </p:txBody>
      </p:sp>
      <p:sp>
        <p:nvSpPr>
          <p:cNvPr id="25" name="文字方塊 5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D995050-4E88-48CC-B14E-8F7DC9DC8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598" y="3487551"/>
            <a:ext cx="3835073" cy="38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1941"/>
              <a:t>Input_shape = ( 28 , 28 , 1)</a:t>
            </a:r>
            <a:endParaRPr lang="zh-TW" altLang="en-US" sz="1941"/>
          </a:p>
        </p:txBody>
      </p:sp>
      <p:sp>
        <p:nvSpPr>
          <p:cNvPr id="26" name="文字方塊 5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899772E-058C-49E8-9685-DAFB2152E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4907" y="4094630"/>
            <a:ext cx="2568529" cy="350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1747"/>
              <a:t>1: black/white, 3: RGB</a:t>
            </a:r>
            <a:endParaRPr lang="zh-TW" altLang="en-US" sz="1747"/>
          </a:p>
        </p:txBody>
      </p:sp>
      <p:sp>
        <p:nvSpPr>
          <p:cNvPr id="27" name="文字方塊 6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368EACD0-662A-4200-B18A-773EF3B3D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936" y="4020670"/>
            <a:ext cx="1964531" cy="350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1747"/>
              <a:t>28 x 28 pixels</a:t>
            </a:r>
            <a:endParaRPr lang="zh-TW" altLang="en-US" sz="1747"/>
          </a:p>
        </p:txBody>
      </p:sp>
      <p:sp>
        <p:nvSpPr>
          <p:cNvPr id="28" name="橢圓 6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E17A757-08BE-4FE3-B39B-1B1172861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454" y="5068420"/>
            <a:ext cx="611701" cy="611702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3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29" name="橢圓 6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4394F8E-B104-4E16-B52C-9920955A6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491" y="5068420"/>
            <a:ext cx="611701" cy="611702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-1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30" name="橢圓 6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39A6489-41B2-466E-BB02-098CD2B6E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290" y="5767948"/>
            <a:ext cx="611701" cy="611702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-3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31" name="橢圓 6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55D7218-49DC-4E38-A12E-3FB6CE214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86" y="5767948"/>
            <a:ext cx="611702" cy="611702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1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32" name="矩形 6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E418480-411F-48EB-9F62-26C080CEE67E}"/>
              </a:ext>
            </a:extLst>
          </p:cNvPr>
          <p:cNvSpPr/>
          <p:nvPr/>
        </p:nvSpPr>
        <p:spPr>
          <a:xfrm>
            <a:off x="1738454" y="5043768"/>
            <a:ext cx="1292738" cy="1335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3" name="橢圓 6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E5F2F9D-8433-4C06-A35B-12DF89D9C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758" y="5080747"/>
            <a:ext cx="611702" cy="611702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3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34" name="矩形 7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7EB7BC4-BF75-47FF-8EAF-BD12F47DD12E}"/>
              </a:ext>
            </a:extLst>
          </p:cNvPr>
          <p:cNvSpPr/>
          <p:nvPr/>
        </p:nvSpPr>
        <p:spPr>
          <a:xfrm>
            <a:off x="3958758" y="5056095"/>
            <a:ext cx="1292739" cy="1335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5" name="箭號: 向右 7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0031B51-9D57-4626-BB73-E31A5721CEE5}"/>
              </a:ext>
            </a:extLst>
          </p:cNvPr>
          <p:cNvSpPr/>
          <p:nvPr/>
        </p:nvSpPr>
        <p:spPr>
          <a:xfrm>
            <a:off x="3126721" y="5519879"/>
            <a:ext cx="759619" cy="46378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6" name="矩形 7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AE38CE5-58D0-455B-8C6D-D506931E5C90}"/>
              </a:ext>
            </a:extLst>
          </p:cNvPr>
          <p:cNvSpPr/>
          <p:nvPr/>
        </p:nvSpPr>
        <p:spPr>
          <a:xfrm>
            <a:off x="498102" y="1322715"/>
            <a:ext cx="5207934" cy="31185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7" name="矩形 7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7BA25CE-9DDF-4241-89B9-5A9CA41F2404}"/>
              </a:ext>
            </a:extLst>
          </p:cNvPr>
          <p:cNvSpPr/>
          <p:nvPr/>
        </p:nvSpPr>
        <p:spPr>
          <a:xfrm>
            <a:off x="1320894" y="4564577"/>
            <a:ext cx="4392846" cy="199380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cxnSp>
        <p:nvCxnSpPr>
          <p:cNvPr id="38" name="直線單箭頭接點 7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83E7605B-09F5-4618-9CD0-41AE188D724A}"/>
              </a:ext>
            </a:extLst>
          </p:cNvPr>
          <p:cNvCxnSpPr/>
          <p:nvPr/>
        </p:nvCxnSpPr>
        <p:spPr>
          <a:xfrm flipH="1">
            <a:off x="5713740" y="2190190"/>
            <a:ext cx="543905" cy="79659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7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3F2D3CE-D365-4294-8FBE-9B90C4353FB3}"/>
              </a:ext>
            </a:extLst>
          </p:cNvPr>
          <p:cNvCxnSpPr>
            <a:endCxn id="37" idx="3"/>
          </p:cNvCxnSpPr>
          <p:nvPr/>
        </p:nvCxnSpPr>
        <p:spPr>
          <a:xfrm flipH="1">
            <a:off x="5176006" y="2603679"/>
            <a:ext cx="543905" cy="230350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8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69880AA-FAC0-4648-950C-861F96787038}"/>
              </a:ext>
            </a:extLst>
          </p:cNvPr>
          <p:cNvCxnSpPr/>
          <p:nvPr/>
        </p:nvCxnSpPr>
        <p:spPr>
          <a:xfrm>
            <a:off x="4128247" y="3872753"/>
            <a:ext cx="2665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8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801BF8E7-852F-4375-BC17-0E6CF64FBE62}"/>
              </a:ext>
            </a:extLst>
          </p:cNvPr>
          <p:cNvCxnSpPr/>
          <p:nvPr/>
        </p:nvCxnSpPr>
        <p:spPr>
          <a:xfrm>
            <a:off x="3166783" y="3872753"/>
            <a:ext cx="8197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8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CE92A6D-6784-4ED5-A774-559B46D82B11}"/>
              </a:ext>
            </a:extLst>
          </p:cNvPr>
          <p:cNvCxnSpPr/>
          <p:nvPr/>
        </p:nvCxnSpPr>
        <p:spPr>
          <a:xfrm flipH="1">
            <a:off x="3980330" y="3872753"/>
            <a:ext cx="283509" cy="24036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8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A10BACE-866B-4903-8C3A-595117C54FAF}"/>
              </a:ext>
            </a:extLst>
          </p:cNvPr>
          <p:cNvCxnSpPr/>
          <p:nvPr/>
        </p:nvCxnSpPr>
        <p:spPr>
          <a:xfrm flipH="1">
            <a:off x="2353235" y="3872753"/>
            <a:ext cx="1204913" cy="20492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圖片 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7F8D165-BCB6-412A-B862-0A8ECE9D2F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733801" y="1758763"/>
            <a:ext cx="1237270" cy="271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直線接點 5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CFCA57A-C739-43CE-9424-5FB70AFA7941}"/>
              </a:ext>
            </a:extLst>
          </p:cNvPr>
          <p:cNvCxnSpPr/>
          <p:nvPr/>
        </p:nvCxnSpPr>
        <p:spPr>
          <a:xfrm>
            <a:off x="2120574" y="1952906"/>
            <a:ext cx="2699497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246F98B-FE99-4643-A229-CDAD991598E5}"/>
              </a:ext>
            </a:extLst>
          </p:cNvPr>
          <p:cNvSpPr txBox="1"/>
          <p:nvPr/>
        </p:nvSpPr>
        <p:spPr>
          <a:xfrm>
            <a:off x="3134603" y="238436"/>
            <a:ext cx="5377423" cy="67891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>
              <a:defRPr/>
            </a:pPr>
            <a:r>
              <a:rPr lang="en-US" altLang="zh-TW" sz="1941">
                <a:solidFill>
                  <a:srgbClr val="000000"/>
                </a:solidFill>
              </a:rPr>
              <a:t>Only modified the </a:t>
            </a:r>
            <a:r>
              <a:rPr lang="en-US" altLang="zh-TW" sz="1941" b="1" i="1">
                <a:solidFill>
                  <a:srgbClr val="000000"/>
                </a:solidFill>
              </a:rPr>
              <a:t>network structure </a:t>
            </a:r>
            <a:r>
              <a:rPr lang="en-US" altLang="zh-TW" sz="1941">
                <a:solidFill>
                  <a:srgbClr val="000000"/>
                </a:solidFill>
              </a:rPr>
              <a:t>and </a:t>
            </a:r>
            <a:r>
              <a:rPr lang="en-US" altLang="zh-TW" sz="1941" b="1" i="1">
                <a:solidFill>
                  <a:srgbClr val="000000"/>
                </a:solidFill>
              </a:rPr>
              <a:t>input format (vector -&gt; 3-D array)</a:t>
            </a:r>
            <a:endParaRPr lang="zh-TW" altLang="en-US" sz="1941" b="1" i="1">
              <a:solidFill>
                <a:srgbClr val="000000"/>
              </a:solidFill>
            </a:endParaRPr>
          </a:p>
        </p:txBody>
      </p:sp>
      <p:sp>
        <p:nvSpPr>
          <p:cNvPr id="36868" name="矩形 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C1C35BA-5E2C-46C2-80D3-45ACE3FDD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83" y="358169"/>
            <a:ext cx="2389229" cy="49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718" b="1" i="1" u="sng"/>
              <a:t>CNN in Keras</a:t>
            </a:r>
            <a:endParaRPr lang="zh-TW" altLang="en-US" sz="2718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8D0FB26-2546-4C9E-88B6-328657E45754}"/>
              </a:ext>
            </a:extLst>
          </p:cNvPr>
          <p:cNvSpPr/>
          <p:nvPr/>
        </p:nvSpPr>
        <p:spPr>
          <a:xfrm>
            <a:off x="6257435" y="1919790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C52102B-CDFD-44E9-BBD6-AC5A57CD6750}"/>
              </a:ext>
            </a:extLst>
          </p:cNvPr>
          <p:cNvSpPr/>
          <p:nvPr/>
        </p:nvSpPr>
        <p:spPr>
          <a:xfrm>
            <a:off x="6257435" y="2987448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C24FE16-C9DF-4509-9561-52CD8EA80102}"/>
              </a:ext>
            </a:extLst>
          </p:cNvPr>
          <p:cNvSpPr/>
          <p:nvPr/>
        </p:nvSpPr>
        <p:spPr>
          <a:xfrm>
            <a:off x="6257435" y="4024244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DE168E8-5DE6-4451-8073-306140C6502E}"/>
              </a:ext>
            </a:extLst>
          </p:cNvPr>
          <p:cNvSpPr/>
          <p:nvPr/>
        </p:nvSpPr>
        <p:spPr>
          <a:xfrm>
            <a:off x="6257435" y="5027106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B9B7164-6079-4D2D-93A2-67D74C2B660B}"/>
              </a:ext>
            </a:extLst>
          </p:cNvPr>
          <p:cNvSpPr/>
          <p:nvPr/>
        </p:nvSpPr>
        <p:spPr>
          <a:xfrm>
            <a:off x="6858560" y="145676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7F3E8B9-7343-42E6-8EEC-AB4A9737B75F}"/>
              </a:ext>
            </a:extLst>
          </p:cNvPr>
          <p:cNvSpPr/>
          <p:nvPr/>
        </p:nvSpPr>
        <p:spPr>
          <a:xfrm>
            <a:off x="6858560" y="2533790"/>
            <a:ext cx="530038" cy="4298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E1F98B3-40FD-456B-83C2-08563B9CD5B0}"/>
              </a:ext>
            </a:extLst>
          </p:cNvPr>
          <p:cNvSpPr/>
          <p:nvPr/>
        </p:nvSpPr>
        <p:spPr>
          <a:xfrm>
            <a:off x="6858560" y="3593867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D8090CC-0274-45F3-87FB-B9E34ABC5587}"/>
              </a:ext>
            </a:extLst>
          </p:cNvPr>
          <p:cNvSpPr/>
          <p:nvPr/>
        </p:nvSpPr>
        <p:spPr>
          <a:xfrm>
            <a:off x="6858560" y="459847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6885" name="文字方塊 4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8297499C-5B55-43FB-8E86-22C8F1819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1045369"/>
            <a:ext cx="1986103" cy="38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zh-TW" sz="1941"/>
              <a:t>Input</a:t>
            </a:r>
            <a:endParaRPr lang="zh-TW" altLang="en-US" sz="1941"/>
          </a:p>
        </p:txBody>
      </p:sp>
      <p:pic>
        <p:nvPicPr>
          <p:cNvPr id="15" name="圖片 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01434C6-AEEE-4AE4-AE23-2017B5EA4F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818590" y="1920549"/>
            <a:ext cx="4724121" cy="53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B9B2AAD-8709-408A-93DC-47615641C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493465" y="3128543"/>
            <a:ext cx="4049246" cy="25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4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194269E-85D1-4DD6-B62E-0793FC05C5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253098" y="4174751"/>
            <a:ext cx="4289612" cy="29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4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30CD549-4BE7-49D6-9794-5F05CE311A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447240" y="5185522"/>
            <a:ext cx="4095470" cy="249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2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F5CB45AD-ED7E-416C-8FCD-8DC47D8E7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9452" y="1395132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1 x 28 x 28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20" name="文字方塊 2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3400EFA6-9BAA-44E3-82D5-09E8F4B4C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371" y="2541494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25 x 26 x 26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21" name="文字方塊 2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66A1D5B-A793-44F4-9ED4-754B6371D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9452" y="3510664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25 x 13 x 13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22" name="文字方塊 2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88DC189-A5ED-4134-A7AF-FBB133143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9452" y="4561496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50 x 11 x 11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23" name="文字方塊 2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67E1EEB-4863-489E-AEBF-C50623269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9452" y="5559940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50 x 5 x 5</a:t>
            </a:r>
            <a:endParaRPr lang="zh-TW" altLang="en-US" sz="1941">
              <a:solidFill>
                <a:schemeClr val="dk1"/>
              </a:solidFill>
            </a:endParaRPr>
          </a:p>
        </p:txBody>
      </p:sp>
      <p:cxnSp>
        <p:nvCxnSpPr>
          <p:cNvPr id="24" name="直線單箭頭接點 3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B5A8FEF-FD3C-4E14-9594-4ACD88F1E308}"/>
              </a:ext>
            </a:extLst>
          </p:cNvPr>
          <p:cNvCxnSpPr>
            <a:endCxn id="15" idx="3"/>
          </p:cNvCxnSpPr>
          <p:nvPr/>
        </p:nvCxnSpPr>
        <p:spPr>
          <a:xfrm flipH="1" flipV="1">
            <a:off x="5025098" y="1931162"/>
            <a:ext cx="714935" cy="154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3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0D2B44B-5EC0-4EF7-B3A2-A71B346F8FD5}"/>
              </a:ext>
            </a:extLst>
          </p:cNvPr>
          <p:cNvCxnSpPr/>
          <p:nvPr/>
        </p:nvCxnSpPr>
        <p:spPr>
          <a:xfrm flipH="1" flipV="1">
            <a:off x="5542710" y="3254890"/>
            <a:ext cx="714935" cy="308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3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DC850A3-E3B6-4EBC-9C51-190B42485B0D}"/>
              </a:ext>
            </a:extLst>
          </p:cNvPr>
          <p:cNvCxnSpPr/>
          <p:nvPr/>
        </p:nvCxnSpPr>
        <p:spPr>
          <a:xfrm flipH="1" flipV="1">
            <a:off x="5542710" y="4325750"/>
            <a:ext cx="714935" cy="154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3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3E19CCC-2E60-4D3E-86D0-781B3F31BB7A}"/>
              </a:ext>
            </a:extLst>
          </p:cNvPr>
          <p:cNvCxnSpPr/>
          <p:nvPr/>
        </p:nvCxnSpPr>
        <p:spPr>
          <a:xfrm flipH="1" flipV="1">
            <a:off x="5550414" y="5342684"/>
            <a:ext cx="714935" cy="154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CAFB617-1535-4199-AF04-B63468132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08" y="2342731"/>
            <a:ext cx="3064669" cy="67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1941"/>
              <a:t>How many parameters for each filter?</a:t>
            </a:r>
            <a:endParaRPr lang="zh-TW" altLang="en-US" sz="1941"/>
          </a:p>
        </p:txBody>
      </p:sp>
      <p:sp>
        <p:nvSpPr>
          <p:cNvPr id="29" name="文字方塊 2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C89F3F7-6DA5-4132-9119-EC3FFE5BC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95" y="4378139"/>
            <a:ext cx="3066210" cy="67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1941"/>
              <a:t>How many parameters</a:t>
            </a:r>
          </a:p>
          <a:p>
            <a:pPr eaLnBrk="1" hangingPunct="1"/>
            <a:r>
              <a:rPr lang="en-US" altLang="zh-TW" sz="1941"/>
              <a:t>for each filter?</a:t>
            </a:r>
            <a:endParaRPr lang="zh-TW" altLang="en-US" sz="2329"/>
          </a:p>
        </p:txBody>
      </p:sp>
      <p:sp>
        <p:nvSpPr>
          <p:cNvPr id="30" name="文字方塊 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A8DE1608-560B-4110-8096-F22820BB765E}"/>
              </a:ext>
            </a:extLst>
          </p:cNvPr>
          <p:cNvSpPr txBox="1"/>
          <p:nvPr/>
        </p:nvSpPr>
        <p:spPr>
          <a:xfrm>
            <a:off x="3214661" y="2534208"/>
            <a:ext cx="473463" cy="38019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/>
              <a:t>9</a:t>
            </a:r>
            <a:endParaRPr lang="zh-TW" altLang="en-US" sz="1941"/>
          </a:p>
        </p:txBody>
      </p:sp>
      <p:sp>
        <p:nvSpPr>
          <p:cNvPr id="31" name="文字方塊 4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48DFFED-CA96-428E-937A-06236CE0012E}"/>
              </a:ext>
            </a:extLst>
          </p:cNvPr>
          <p:cNvSpPr txBox="1"/>
          <p:nvPr/>
        </p:nvSpPr>
        <p:spPr>
          <a:xfrm>
            <a:off x="2870948" y="4464424"/>
            <a:ext cx="923855" cy="67891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225=</a:t>
            </a:r>
          </a:p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25x9</a:t>
            </a:r>
            <a:endParaRPr lang="zh-TW" altLang="en-US" sz="1941">
              <a:solidFill>
                <a:srgbClr val="000000"/>
              </a:solidFill>
            </a:endParaRPr>
          </a:p>
        </p:txBody>
      </p:sp>
      <p:pic>
        <p:nvPicPr>
          <p:cNvPr id="32" name="圖片 4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DB8A399-0C93-4137-999B-7559C83EE3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857065" y="2170159"/>
            <a:ext cx="1237270" cy="271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8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8A70487-A119-43F6-8C05-D628D612F5A2}"/>
              </a:ext>
            </a:extLst>
          </p:cNvPr>
          <p:cNvSpPr txBox="1"/>
          <p:nvPr/>
        </p:nvSpPr>
        <p:spPr>
          <a:xfrm>
            <a:off x="3134603" y="238436"/>
            <a:ext cx="5377423" cy="67891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>
              <a:defRPr/>
            </a:pPr>
            <a:r>
              <a:rPr lang="en-US" altLang="zh-TW" sz="1941">
                <a:solidFill>
                  <a:srgbClr val="000000"/>
                </a:solidFill>
              </a:rPr>
              <a:t>Only modified the </a:t>
            </a:r>
            <a:r>
              <a:rPr lang="en-US" altLang="zh-TW" sz="1941" b="1" i="1">
                <a:solidFill>
                  <a:srgbClr val="000000"/>
                </a:solidFill>
              </a:rPr>
              <a:t>network structure </a:t>
            </a:r>
            <a:r>
              <a:rPr lang="en-US" altLang="zh-TW" sz="1941">
                <a:solidFill>
                  <a:srgbClr val="000000"/>
                </a:solidFill>
              </a:rPr>
              <a:t>and </a:t>
            </a:r>
            <a:r>
              <a:rPr lang="en-US" altLang="zh-TW" sz="1941" b="1" i="1">
                <a:solidFill>
                  <a:srgbClr val="000000"/>
                </a:solidFill>
              </a:rPr>
              <a:t>input format (vector -&gt; 3-D array)</a:t>
            </a:r>
            <a:endParaRPr lang="zh-TW" altLang="en-US" sz="1941" b="1" i="1">
              <a:solidFill>
                <a:srgbClr val="000000"/>
              </a:solidFill>
            </a:endParaRPr>
          </a:p>
        </p:txBody>
      </p:sp>
      <p:sp>
        <p:nvSpPr>
          <p:cNvPr id="37892" name="矩形 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373F6A32-0FB4-4226-B451-341046A9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83" y="358169"/>
            <a:ext cx="2389229" cy="49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zh-TW" sz="2718" b="1" i="1" u="sng"/>
              <a:t>CNN in Keras</a:t>
            </a:r>
            <a:endParaRPr lang="zh-TW" altLang="en-US" sz="2718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BB8B1EA4-4214-40D6-8F1A-DF1721616E53}"/>
              </a:ext>
            </a:extLst>
          </p:cNvPr>
          <p:cNvSpPr/>
          <p:nvPr/>
        </p:nvSpPr>
        <p:spPr>
          <a:xfrm>
            <a:off x="6257435" y="1919790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854DB91-C9C0-4CB2-B2D6-AA298BE68A6C}"/>
              </a:ext>
            </a:extLst>
          </p:cNvPr>
          <p:cNvSpPr/>
          <p:nvPr/>
        </p:nvSpPr>
        <p:spPr>
          <a:xfrm>
            <a:off x="6257435" y="2987448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AE15605-5BA5-4864-9935-752100151DE2}"/>
              </a:ext>
            </a:extLst>
          </p:cNvPr>
          <p:cNvSpPr/>
          <p:nvPr/>
        </p:nvSpPr>
        <p:spPr>
          <a:xfrm>
            <a:off x="6257435" y="4024244"/>
            <a:ext cx="1685644" cy="540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Convolution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1F24D48-97B2-48C2-AE3B-5147BCBA6BAD}"/>
              </a:ext>
            </a:extLst>
          </p:cNvPr>
          <p:cNvSpPr/>
          <p:nvPr/>
        </p:nvSpPr>
        <p:spPr>
          <a:xfrm>
            <a:off x="6257435" y="5027106"/>
            <a:ext cx="1685644" cy="5401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Max Pooling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8DEA61D5-3690-42E5-A67D-65845967CFF4}"/>
              </a:ext>
            </a:extLst>
          </p:cNvPr>
          <p:cNvSpPr/>
          <p:nvPr/>
        </p:nvSpPr>
        <p:spPr>
          <a:xfrm>
            <a:off x="6858560" y="145676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126B41BB-03DA-4C46-AF26-2F298744DCF2}"/>
              </a:ext>
            </a:extLst>
          </p:cNvPr>
          <p:cNvSpPr/>
          <p:nvPr/>
        </p:nvSpPr>
        <p:spPr>
          <a:xfrm>
            <a:off x="6858560" y="2533790"/>
            <a:ext cx="530038" cy="4298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5278BDB-2876-468E-BF6E-A3A44874BB0C}"/>
              </a:ext>
            </a:extLst>
          </p:cNvPr>
          <p:cNvSpPr/>
          <p:nvPr/>
        </p:nvSpPr>
        <p:spPr>
          <a:xfrm>
            <a:off x="6858560" y="3593867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01C5AD81-1CC3-4622-8D5A-9B07795834EE}"/>
              </a:ext>
            </a:extLst>
          </p:cNvPr>
          <p:cNvSpPr/>
          <p:nvPr/>
        </p:nvSpPr>
        <p:spPr>
          <a:xfrm>
            <a:off x="6858560" y="4598475"/>
            <a:ext cx="530038" cy="42834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/>
          </a:p>
        </p:txBody>
      </p:sp>
      <p:sp>
        <p:nvSpPr>
          <p:cNvPr id="37909" name="文字方塊 4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95B01F0-D45E-4E95-BA5D-07F17FEED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094" y="988359"/>
            <a:ext cx="1986103" cy="43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zh-TW" sz="2329"/>
              <a:t>Input</a:t>
            </a:r>
            <a:endParaRPr lang="zh-TW" altLang="en-US" sz="2329"/>
          </a:p>
        </p:txBody>
      </p:sp>
      <p:sp>
        <p:nvSpPr>
          <p:cNvPr id="15" name="文字方塊 2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750D0F7-2841-42A4-94CF-39EEE3BAA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008" y="1425948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1 x 28 x 28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16" name="文字方塊 2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D05851E2-8B1C-4F05-992C-F235302D8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008" y="2507597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25 x 26 x 26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7" name="文字方塊 24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589B559-509A-4B35-AA62-EA4982D42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008" y="3552265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25 x 13 x 13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8" name="文字方塊 25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9140391D-E48D-4DD8-A58D-B711C37E7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008" y="4578444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50 x 11 x 11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19" name="文字方塊 2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2F64173E-E366-4E25-B87A-CC37E67D2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008" y="5490603"/>
            <a:ext cx="162555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50 x 5 x 5</a:t>
            </a:r>
            <a:endParaRPr lang="zh-TW" altLang="en-US" sz="1941">
              <a:solidFill>
                <a:schemeClr val="dk1"/>
              </a:solidFill>
            </a:endParaRPr>
          </a:p>
        </p:txBody>
      </p:sp>
      <p:sp>
        <p:nvSpPr>
          <p:cNvPr id="20" name="文字方塊 3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EB85624-B860-49D9-86DC-61EBD05CB18B}"/>
              </a:ext>
            </a:extLst>
          </p:cNvPr>
          <p:cNvSpPr txBox="1"/>
          <p:nvPr/>
        </p:nvSpPr>
        <p:spPr>
          <a:xfrm>
            <a:off x="3305961" y="5780015"/>
            <a:ext cx="1511197" cy="38019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rgbClr val="000000"/>
                </a:solidFill>
              </a:rPr>
              <a:t>Flattened</a:t>
            </a:r>
            <a:endParaRPr lang="zh-TW" altLang="en-US" sz="1941">
              <a:solidFill>
                <a:srgbClr val="000000"/>
              </a:solidFill>
            </a:endParaRPr>
          </a:p>
        </p:txBody>
      </p:sp>
      <p:sp>
        <p:nvSpPr>
          <p:cNvPr id="21" name="右彎箭號 1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4BB75122-DFDB-43A0-AAD3-1D26CBA672F6}"/>
              </a:ext>
            </a:extLst>
          </p:cNvPr>
          <p:cNvSpPr/>
          <p:nvPr/>
        </p:nvSpPr>
        <p:spPr>
          <a:xfrm rot="10800000">
            <a:off x="4855509" y="5586133"/>
            <a:ext cx="2380550" cy="613242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>
              <a:solidFill>
                <a:schemeClr val="tx1"/>
              </a:solidFill>
            </a:endParaRPr>
          </a:p>
        </p:txBody>
      </p:sp>
      <p:sp>
        <p:nvSpPr>
          <p:cNvPr id="22" name="右彎箭號 21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87A8F03-9CEC-4E36-BDB7-8720638C8E87}"/>
              </a:ext>
            </a:extLst>
          </p:cNvPr>
          <p:cNvSpPr/>
          <p:nvPr/>
        </p:nvSpPr>
        <p:spPr>
          <a:xfrm rot="16200000">
            <a:off x="2223037" y="5076896"/>
            <a:ext cx="705691" cy="1357453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0341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80682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210235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613647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017059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420471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2823882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227294" marR="0" indent="0" algn="l" defTabSz="8068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588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>
              <a:defRPr/>
            </a:pPr>
            <a:endParaRPr lang="zh-TW" altLang="en-US" sz="1747">
              <a:solidFill>
                <a:schemeClr val="tx1"/>
              </a:solidFill>
            </a:endParaRPr>
          </a:p>
        </p:txBody>
      </p:sp>
      <p:pic>
        <p:nvPicPr>
          <p:cNvPr id="23" name="圖片 2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7661835D-1493-40ED-B066-13CF8B737B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2679887" y="6244058"/>
            <a:ext cx="2764212" cy="25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39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5C5E9068-5F1B-4B7E-B645-0835D6171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8460" y="5422807"/>
            <a:ext cx="976873" cy="380194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941">
                <a:solidFill>
                  <a:schemeClr val="dk1"/>
                </a:solidFill>
              </a:rPr>
              <a:t>1250</a:t>
            </a:r>
            <a:endParaRPr lang="zh-TW" altLang="en-US" sz="1941">
              <a:solidFill>
                <a:schemeClr val="dk1"/>
              </a:solidFill>
            </a:endParaRPr>
          </a:p>
        </p:txBody>
      </p:sp>
      <p:grpSp>
        <p:nvGrpSpPr>
          <p:cNvPr id="25" name="群組 40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36085F87-5758-4DD7-86BE-66CC4F1703F3}"/>
              </a:ext>
            </a:extLst>
          </p:cNvPr>
          <p:cNvGrpSpPr/>
          <p:nvPr/>
        </p:nvGrpSpPr>
        <p:grpSpPr>
          <a:xfrm>
            <a:off x="633693" y="2244119"/>
            <a:ext cx="2821221" cy="3107811"/>
            <a:chOff x="-1534072" y="3727146"/>
            <a:chExt cx="2564619" cy="2824833"/>
          </a:xfrm>
        </p:grpSpPr>
        <p:pic>
          <p:nvPicPr>
            <p:cNvPr id="37925" name="圖片 44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CD223DDD-45DA-4A1B-8582-3CA12EB50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 rot="5400000" flipH="1">
              <a:off x="-1658433" y="4388774"/>
              <a:ext cx="2824833" cy="1501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文字方塊 45">
              <a:extLst>
                <a:ext uri="{FF2B5EF4-FFF2-40B4-BE49-F238E27FC236}">
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A99FD386-6948-492A-B2DF-75A5B6D05DF7}"/>
                </a:ext>
              </a:extLst>
            </p:cNvPr>
            <p:cNvSpPr txBox="1"/>
            <p:nvPr/>
          </p:nvSpPr>
          <p:spPr>
            <a:xfrm>
              <a:off x="-1534072" y="4410656"/>
              <a:ext cx="2564619" cy="6171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>
              <a:defPPr>
                <a:defRPr lang="en-US"/>
              </a:defPPr>
              <a:lvl1pPr marL="0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1pPr>
              <a:lvl2pPr marL="403412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2pPr>
              <a:lvl3pPr marL="806824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3pPr>
              <a:lvl4pPr marL="1210235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4pPr>
              <a:lvl5pPr marL="1613647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5pPr>
              <a:lvl6pPr marL="2017059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6pPr>
              <a:lvl7pPr marL="2420471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7pPr>
              <a:lvl8pPr marL="2823882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8pPr>
              <a:lvl9pPr marL="3227294" marR="0" indent="0" algn="l" defTabSz="80682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588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9pPr>
            </a:lstStyle>
            <a:p>
              <a:pPr algn="ctr">
                <a:defRPr/>
              </a:pPr>
              <a:r>
                <a:rPr lang="en-US" altLang="zh-TW" sz="1941">
                  <a:solidFill>
                    <a:srgbClr val="000000"/>
                  </a:solidFill>
                </a:rPr>
                <a:t>Fully connected feedforward network</a:t>
              </a:r>
              <a:endParaRPr lang="zh-TW" altLang="en-US" sz="1941">
                <a:solidFill>
                  <a:srgbClr val="000000"/>
                </a:solidFill>
              </a:endParaRPr>
            </a:p>
          </p:txBody>
        </p:sp>
      </p:grpSp>
      <p:sp>
        <p:nvSpPr>
          <p:cNvPr id="28" name="文字方塊 46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E6BDB95D-2BC2-46EF-B951-6BEF5E8FC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416" y="1874324"/>
            <a:ext cx="1986102" cy="43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1pPr>
            <a:lvl2pPr marL="655544" indent="-252132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2pPr>
            <a:lvl3pPr marL="1008529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3pPr>
            <a:lvl4pPr marL="1411941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4pPr>
            <a:lvl5pPr marL="1815353" indent="-201706" algn="l" defTabSz="806824" rtl="0" eaLnBrk="0" latinLnBrk="0" hangingPunct="0"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5pPr>
            <a:lvl6pPr marL="2218765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6pPr>
            <a:lvl7pPr marL="2622177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7pPr>
            <a:lvl8pPr marL="3025588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8pPr>
            <a:lvl9pPr marL="3429000" indent="-201706" algn="l" defTabSz="806824" rtl="0" eaLnBrk="0" fontAlgn="base" latinLnBrk="0" hangingPunct="0">
              <a:spcBef>
                <a:spcPct val="0"/>
              </a:spcBef>
              <a:spcAft>
                <a:spcPct val="0"/>
              </a:spcAft>
              <a:defRPr sz="2118" kern="1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zh-TW" sz="2329"/>
              <a:t>Output</a:t>
            </a:r>
            <a:endParaRPr lang="zh-TW" altLang="en-US" sz="2329"/>
          </a:p>
        </p:txBody>
      </p:sp>
      <p:pic>
        <p:nvPicPr>
          <p:cNvPr id="29" name="圖片 3">
            <a:extLst>
              <a:ext uri="{FF2B5EF4-FFF2-40B4-BE49-F238E27FC236}">
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 id="{6B963A55-91BF-4ADB-80E1-D3971865F3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448796" y="3917437"/>
            <a:ext cx="4419040" cy="998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ectangle 29"/>
          <p:cNvSpPr/>
          <p:nvPr/>
        </p:nvSpPr>
        <p:spPr>
          <a:xfrm>
            <a:off x="10058400" y="0"/>
            <a:ext cx="2133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222" y="5770419"/>
            <a:ext cx="6834468" cy="0"/>
          </a:xfrm>
          <a:custGeom>
            <a:avLst/>
            <a:gdLst/>
            <a:ahLst/>
            <a:cxnLst/>
            <a:rect l="l" t="t" r="r" b="b"/>
            <a:pathLst>
              <a:path w="7745730">
                <a:moveTo>
                  <a:pt x="0" y="0"/>
                </a:moveTo>
                <a:lnTo>
                  <a:pt x="7745712" y="0"/>
                </a:lnTo>
              </a:path>
            </a:pathLst>
          </a:custGeom>
          <a:ln w="9421">
            <a:solidFill>
              <a:srgbClr val="009FD9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58129" y="809535"/>
            <a:ext cx="6584576" cy="44823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1"/>
              </a:spcBef>
            </a:pPr>
            <a:r>
              <a:rPr sz="2779" b="1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Convolutional </a:t>
            </a:r>
            <a:r>
              <a:rPr sz="2779" b="1" spc="4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Neural Networks (CNNs)</a:t>
            </a:r>
            <a:endParaRPr sz="2779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452" y="1662146"/>
            <a:ext cx="6282578" cy="341779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ct val="100000"/>
              </a:lnSpc>
              <a:spcBef>
                <a:spcPts val="106"/>
              </a:spcBef>
            </a:pPr>
            <a:r>
              <a:rPr sz="2074" b="1" spc="9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Example: </a:t>
            </a:r>
            <a:r>
              <a:rPr sz="1721" spc="9">
                <a:latin typeface="Arial" pitchFamily="34" charset="0"/>
                <a:cs typeface="Arial" pitchFamily="34" charset="0"/>
              </a:rPr>
              <a:t>Input </a:t>
            </a:r>
            <a:r>
              <a:rPr sz="1721" spc="13">
                <a:latin typeface="Arial" pitchFamily="34" charset="0"/>
                <a:cs typeface="Arial" pitchFamily="34" charset="0"/>
              </a:rPr>
              <a:t>&gt;&gt; </a:t>
            </a:r>
            <a:r>
              <a:rPr sz="1721" spc="4">
                <a:latin typeface="Arial" pitchFamily="34" charset="0"/>
                <a:cs typeface="Arial" pitchFamily="34" charset="0"/>
              </a:rPr>
              <a:t>[ [ </a:t>
            </a:r>
            <a:r>
              <a:rPr sz="1721" spc="13">
                <a:latin typeface="Arial" pitchFamily="34" charset="0"/>
                <a:cs typeface="Arial" pitchFamily="34" charset="0"/>
              </a:rPr>
              <a:t>Conv &gt;&gt; ReLU </a:t>
            </a:r>
            <a:r>
              <a:rPr sz="1721" spc="4">
                <a:latin typeface="Arial" pitchFamily="34" charset="0"/>
                <a:cs typeface="Arial" pitchFamily="34" charset="0"/>
              </a:rPr>
              <a:t>] </a:t>
            </a:r>
            <a:r>
              <a:rPr sz="1721" spc="9">
                <a:latin typeface="Arial" pitchFamily="34" charset="0"/>
                <a:cs typeface="Arial" pitchFamily="34" charset="0"/>
              </a:rPr>
              <a:t>* </a:t>
            </a:r>
            <a:r>
              <a:rPr sz="1721" spc="13">
                <a:latin typeface="Arial" pitchFamily="34" charset="0"/>
                <a:cs typeface="Arial" pitchFamily="34" charset="0"/>
              </a:rPr>
              <a:t>2 &gt;&gt; </a:t>
            </a:r>
            <a:r>
              <a:rPr sz="1721" spc="9">
                <a:latin typeface="Arial" pitchFamily="34" charset="0"/>
                <a:cs typeface="Arial" pitchFamily="34" charset="0"/>
              </a:rPr>
              <a:t>Pool </a:t>
            </a:r>
            <a:r>
              <a:rPr sz="1721" spc="4">
                <a:latin typeface="Arial" pitchFamily="34" charset="0"/>
                <a:cs typeface="Arial" pitchFamily="34" charset="0"/>
              </a:rPr>
              <a:t>] </a:t>
            </a:r>
            <a:r>
              <a:rPr sz="1721" spc="9">
                <a:latin typeface="Arial" pitchFamily="34" charset="0"/>
                <a:cs typeface="Arial" pitchFamily="34" charset="0"/>
              </a:rPr>
              <a:t>* </a:t>
            </a:r>
            <a:r>
              <a:rPr sz="1721" spc="13">
                <a:latin typeface="Arial" pitchFamily="34" charset="0"/>
                <a:cs typeface="Arial" pitchFamily="34" charset="0"/>
              </a:rPr>
              <a:t>3 &gt;&gt;</a:t>
            </a:r>
            <a:r>
              <a:rPr sz="1721" spc="-93">
                <a:latin typeface="Arial" pitchFamily="34" charset="0"/>
                <a:cs typeface="Arial" pitchFamily="34" charset="0"/>
              </a:rPr>
              <a:t> </a:t>
            </a:r>
            <a:r>
              <a:rPr sz="1721" spc="13">
                <a:latin typeface="Arial" pitchFamily="34" charset="0"/>
                <a:cs typeface="Arial" pitchFamily="34" charset="0"/>
              </a:rPr>
              <a:t>FC</a:t>
            </a:r>
            <a:endParaRPr sz="172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1484" y="2107277"/>
            <a:ext cx="7511930" cy="3596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1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2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235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647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059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471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3882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294" algn="l" defTabSz="806824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604DBD1F-48C4-4B5B-894C-233037EA3A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600"/>
              <a:t>Introduction to RNN and LSTM</a:t>
            </a:r>
          </a:p>
        </p:txBody>
      </p:sp>
    </p:spTree>
    <p:extLst>
      <p:ext uri="{BB962C8B-B14F-4D97-AF65-F5344CB8AC3E}">
        <p14:creationId xmlns:p14="http://schemas.microsoft.com/office/powerpoint/2010/main" xmlns="" val="273091590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4CC594A-A820-450F-B363-C19201FCFEC6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4294967295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9FAB3DA-E9ED-4574-ABCC-378BC0FF1BB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3B8D6B0-55D6-48DC-86D8-FD95D5F118AB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DBB2090A-B51A-4EA4-A1EA-6FEF72D69E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42017" y="1916428"/>
            <a:ext cx="6798082" cy="30251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Traditional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Input 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Hidden Layers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Output 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Activation </a:t>
            </a:r>
          </a:p>
        </p:txBody>
      </p:sp>
    </p:spTree>
    <p:extLst>
      <p:ext uri="{BB962C8B-B14F-4D97-AF65-F5344CB8AC3E}">
        <p14:creationId xmlns:p14="http://schemas.microsoft.com/office/powerpoint/2010/main" xmlns="" val="77535371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/>
              <a:t> The output depends on</a:t>
            </a:r>
          </a:p>
          <a:p>
            <a:pPr lvl="1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2800"/>
              <a:t> Current Input</a:t>
            </a:r>
          </a:p>
          <a:p>
            <a:pPr lvl="1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2800"/>
              <a:t> Previous Output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000"/>
              <a:t> Traditional neural network cannot capture such relationship</a:t>
            </a:r>
          </a:p>
        </p:txBody>
      </p:sp>
    </p:spTree>
    <p:extLst>
      <p:ext uri="{BB962C8B-B14F-4D97-AF65-F5344CB8AC3E}">
        <p14:creationId xmlns:p14="http://schemas.microsoft.com/office/powerpoint/2010/main" xmlns="" val="237341420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E4490D0-3672-446A-AC12-B4830333BDDD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39CB82C2-DF65-4EC1-8280-F201D50F570B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cxnSp>
        <p:nvCxnSpPr>
          <p:cNvPr id="14" name="Straight Connector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7E1D4427-852B-4B37-8E76-0E9F1810BA2A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8D0DE514-8876-4D18-A995-61A5C1F813F1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9DA791C-FFCF-422E-8775-BDA6C0E5ECF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691FE77C-9D17-4D6E-A12A-190A2AB766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999" y="663846"/>
            <a:ext cx="10925102" cy="357797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CF8855-3530-4F46-A4CB-3B6686EEE4BD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Recurrent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5943600"/>
            <a:ext cx="10058400" cy="5435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500" cap="all" spc="200">
                <a:solidFill>
                  <a:srgbClr val="FFFFFF"/>
                </a:solidFill>
                <a:latin typeface="+mj-lt"/>
              </a:rPr>
              <a:t> Use the previous output as the input of current network </a:t>
            </a:r>
          </a:p>
        </p:txBody>
      </p:sp>
    </p:spTree>
    <p:extLst>
      <p:ext uri="{BB962C8B-B14F-4D97-AF65-F5344CB8AC3E}">
        <p14:creationId xmlns:p14="http://schemas.microsoft.com/office/powerpoint/2010/main" xmlns="" val="300738277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B2B8762-61F0-4F1B-9364-D633EE9D6AF5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E97675C8-1328-460C-9EBF-6B446B67EAD3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14EE78B-AF71-4195-A01B-F1165D9233BF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2AD83CFE-1CA3-4832-A4B9-C48CD1347C03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C98641C-7F74-435D-996F-A4387A3C3C26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6B591ABF-2247-4A22-BBC7-8C610D4482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457" y="1019363"/>
            <a:ext cx="5131653" cy="284417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F530C0F6-C8DF-4539-B30C-8105DB618C2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33D66ACD-EF60-4736-97FB-5050F4008D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24891" y="1008969"/>
            <a:ext cx="5118182" cy="286495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AE51241-AA8B-4B82-9C59-6738DB85674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Different Configurations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163158791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FC4170B5-6E99-49CB-8097-2D33BEF7B7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4766"/>
          <a:stretch>
            <a:fillRect/>
          </a:stretch>
        </p:blipFill>
        <p:spPr>
          <a:xfrm>
            <a:off x="3438524" y="3343275"/>
            <a:ext cx="4772025" cy="2390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of 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/>
              <a:t> The Concept of RNN is great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/>
              <a:t> Having a practical problem for training RNN</a:t>
            </a:r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E098428B-4EFD-4554-877C-DCEF1280A9A6}"/>
              </a:ext>
            </a:extLst>
          </p:cNvPr>
          <p:cNvGrpSpPr/>
          <p:nvPr/>
        </p:nvGrpSpPr>
        <p:grpSpPr>
          <a:xfrm>
            <a:off x="3324223" y="3208231"/>
            <a:ext cx="5000627" cy="2525819"/>
            <a:chOff x="3324223" y="3208231"/>
            <a:chExt cx="5000627" cy="2525819"/>
          </a:xfrm>
        </p:grpSpPr>
        <p:sp>
          <p:nvSpPr>
            <p:cNvPr id="6" name="Oval 5">
              <a:extLst>
                <a:ext uri="{FF2B5EF4-FFF2-40B4-BE49-F238E27FC236}">
  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1ECD7DA2-504A-4991-AA8D-9DC2DC510217}"/>
                </a:ext>
              </a:extLst>
            </p:cNvPr>
            <p:cNvSpPr/>
            <p:nvPr/>
          </p:nvSpPr>
          <p:spPr>
            <a:xfrm>
              <a:off x="7343775" y="3208231"/>
              <a:ext cx="981075" cy="70654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1pPr>
              <a:lvl2pPr marL="4572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2pPr>
              <a:lvl3pPr marL="9144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3pPr>
              <a:lvl4pPr marL="13716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4pPr>
              <a:lvl5pPr marL="18288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5pPr>
              <a:lvl6pPr marL="22860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6pPr>
              <a:lvl7pPr marL="27432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7pPr>
              <a:lvl8pPr marL="32004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8pPr>
              <a:lvl9pPr marL="36576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2F033BBD-7200-4700-82C8-4CB84807F1FB}"/>
                </a:ext>
              </a:extLst>
            </p:cNvPr>
            <p:cNvSpPr/>
            <p:nvPr/>
          </p:nvSpPr>
          <p:spPr>
            <a:xfrm>
              <a:off x="3324223" y="5027506"/>
              <a:ext cx="981075" cy="70654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1pPr>
              <a:lvl2pPr marL="4572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2pPr>
              <a:lvl3pPr marL="9144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3pPr>
              <a:lvl4pPr marL="13716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4pPr>
              <a:lvl5pPr marL="18288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5pPr>
              <a:lvl6pPr marL="22860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6pPr>
              <a:lvl7pPr marL="27432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7pPr>
              <a:lvl8pPr marL="32004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8pPr>
              <a:lvl9pPr marL="36576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9" name="Connector: Curved 8">
              <a:extLst>
                <a:ext uri="{FF2B5EF4-FFF2-40B4-BE49-F238E27FC236}">
  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374AF9F8-6A58-47A9-8C35-D1B4660943D4}"/>
                </a:ext>
              </a:extLst>
            </p:cNvPr>
            <p:cNvCxnSpPr/>
            <p:nvPr/>
          </p:nvCxnSpPr>
          <p:spPr>
            <a:xfrm flipV="1">
              <a:off x="4419599" y="3686175"/>
              <a:ext cx="2838450" cy="1694603"/>
            </a:xfrm>
            <a:prstGeom prst="curvedConnector3">
              <a:avLst>
                <a:gd name="adj1" fmla="val 48657"/>
              </a:avLst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809935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id="{0D06EBE8-7FC3-4456-A872-E8FD795036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3200"/>
                  <a:t> The dependency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:r>
                  <a:rPr lang="en-US" sz="320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:r>
                  <a:rPr lang="en-US" sz="3200"/>
                  <a:t> can be described by</a:t>
                </a:r>
              </a:p>
              <a:p>
                <a:pPr marL="0" indent="0">
                  <a:buNone/>
                </a:pPr>
                <a:endParaRPr lang="en-US" sz="3200"/>
              </a:p>
              <a:p>
                <a:pPr marL="0" indent="0">
                  <a:buNone/>
                </a:pPr>
                <a:endParaRPr lang="en-US" sz="320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3200"/>
                  <a:t> It can be factorized into </a:t>
                </a: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xmlns:a14="http://schemas.microsoft.com/office/drawing/2010/main" id="{0D06EBE8-7FC3-4456-A872-E8FD79503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2242"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Vanishing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id="{1172FFFF-02CD-44EE-AAF8-8D066A96E9A7}"/>
                  </a:ext>
                </a:extLst>
              </p:cNvPr>
              <p:cNvSpPr txBox="1"/>
              <p:nvPr/>
            </p:nvSpPr>
            <p:spPr>
              <a:xfrm>
                <a:off x="5680854" y="2600995"/>
                <a:ext cx="830292" cy="9847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xmlns:a14="http://schemas.microsoft.com/office/drawing/2010/main" id="{1172FFFF-02CD-44EE-AAF8-8D066A96E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854" y="2600995"/>
                <a:ext cx="830292" cy="984757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id="{5C57EDF8-46D5-4BD1-9E49-1F052316C705}"/>
                  </a:ext>
                </a:extLst>
              </p:cNvPr>
              <p:cNvSpPr txBox="1"/>
              <p:nvPr/>
            </p:nvSpPr>
            <p:spPr>
              <a:xfrm>
                <a:off x="3591372" y="4525045"/>
                <a:ext cx="5009256" cy="8776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⋅⋅⋅</m:t>
                    </m:r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sz="32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xmlns:a14="http://schemas.microsoft.com/office/drawing/2010/main" id="{5C57EDF8-46D5-4BD1-9E49-1F052316C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372" y="4525045"/>
                <a:ext cx="5009256" cy="877613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83906314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The Values of Derivative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/>
              <a:t> Depending on the activation functions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D7F4A137-7CB5-41D2-964C-162A0C1061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93209" y="2687533"/>
            <a:ext cx="4811221" cy="328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0296886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/>
              <a:t> The partial derivative is close to zero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/>
              <a:t> The output is not related to far pervious inputs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/>
              <a:t> Long dependency is vanishing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833526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/>
              <a:t> Change activation functions</a:t>
            </a:r>
          </a:p>
          <a:p>
            <a:pPr lvl="1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000"/>
              <a:t> The problem can be alleviated somewhat but not eliminated</a:t>
            </a:r>
          </a:p>
          <a:p>
            <a:pPr lvl="1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000"/>
              <a:t> May affect the learning performance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/>
              <a:t> LSTM</a:t>
            </a:r>
          </a:p>
        </p:txBody>
      </p:sp>
    </p:spTree>
    <p:extLst>
      <p:ext uri="{BB962C8B-B14F-4D97-AF65-F5344CB8AC3E}">
        <p14:creationId xmlns:p14="http://schemas.microsoft.com/office/powerpoint/2010/main" xmlns="" val="130757342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B2B8762-61F0-4F1B-9364-D633EE9D6AF5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E97675C8-1328-460C-9EBF-6B446B67EAD3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14EE78B-AF71-4195-A01B-F1165D9233BF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2AD83CFE-1CA3-4832-A4B9-C48CD1347C03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C98641C-7F74-435D-996F-A4387A3C3C26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C01F2484-80E8-4311-9057-3E0FAC6E05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457" y="1479264"/>
            <a:ext cx="5131653" cy="19243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F530C0F6-C8DF-4539-B30C-8105DB618C2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66C0C1C8-8599-47AC-96E6-61763980A2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24891" y="1481790"/>
            <a:ext cx="5118182" cy="191931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AE51241-AA8B-4B82-9C59-6738DB85674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Long Short-Term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5943600"/>
            <a:ext cx="10058400" cy="5435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500" cap="all" spc="200">
                <a:solidFill>
                  <a:srgbClr val="FFFFFF"/>
                </a:solidFill>
                <a:latin typeface="+mj-lt"/>
              </a:rPr>
              <a:t> Key insights: build a direct path from previous inputs to the current output </a:t>
            </a:r>
          </a:p>
        </p:txBody>
      </p:sp>
    </p:spTree>
    <p:extLst>
      <p:ext uri="{BB962C8B-B14F-4D97-AF65-F5344CB8AC3E}">
        <p14:creationId xmlns:p14="http://schemas.microsoft.com/office/powerpoint/2010/main" xmlns="" val="399060154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4CC594A-A820-450F-B363-C19201FCFEC6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4294967295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9FAB3DA-E9ED-4574-ABCC-378BC0FF1BB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3B8D6B0-55D6-48DC-86D8-FD95D5F118AB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LSTM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Hidden states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Input gates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Forget gates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Output gates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638144DE-095D-4C47-A6C5-8639AD1D8622}"/>
              </a:ext>
            </a:extLst>
          </p:cNvPr>
          <p:cNvGrpSpPr/>
          <p:nvPr/>
        </p:nvGrpSpPr>
        <p:grpSpPr>
          <a:xfrm>
            <a:off x="5398007" y="285750"/>
            <a:ext cx="5584317" cy="6086475"/>
            <a:chOff x="5398007" y="285750"/>
            <a:chExt cx="5584317" cy="6086475"/>
          </a:xfrm>
        </p:grpSpPr>
        <p:pic>
          <p:nvPicPr>
            <p:cNvPr id="5" name="Picture 4">
              <a:extLst>
                <a:ext uri="{FF2B5EF4-FFF2-40B4-BE49-F238E27FC236}">
  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CD0B51EB-7C46-473C-ABAB-F960A9B9C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33370" r="33131"/>
            <a:stretch>
              <a:fillRect/>
            </a:stretch>
          </p:blipFill>
          <p:spPr>
            <a:xfrm>
              <a:off x="5398007" y="285750"/>
              <a:ext cx="5584317" cy="608647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66256D39-A64A-49D1-AD68-0DB6663CFF79}"/>
                </a:ext>
              </a:extLst>
            </p:cNvPr>
            <p:cNvSpPr/>
            <p:nvPr/>
          </p:nvSpPr>
          <p:spPr>
            <a:xfrm>
              <a:off x="9991724" y="5486400"/>
              <a:ext cx="990600" cy="885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1pPr>
              <a:lvl2pPr marL="4572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2pPr>
              <a:lvl3pPr marL="9144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3pPr>
              <a:lvl4pPr marL="13716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4pPr>
              <a:lvl5pPr marL="18288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5pPr>
              <a:lvl6pPr marL="22860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6pPr>
              <a:lvl7pPr marL="27432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7pPr>
              <a:lvl8pPr marL="32004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8pPr>
              <a:lvl9pPr marL="3657600" marR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chemeClr val="lt1"/>
                  </a:solidFill>
                  <a:uLnTx/>
                  <a:uFillTx/>
                  <a:latin typeface="Calibri"/>
                  <a:ea typeface="Arial" pitchFamily="34" charset="0"/>
                  <a:cs typeface="Arial" pitchFamily="34" charset="0"/>
                  <a:sym typeface="Wingding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14046406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990D0034-F768-41E7-85D4-F38C4DE8577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4294967295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C4F7E42D-8B5A-4FC8-81CD-9E60171F7FA8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8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8C04651D-B9F4-4935-A02D-364153FBDF54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90B0039-85C2-4537-B694-02892077E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0172" r="32047" b="1"/>
          <a:stretch>
            <a:fillRect/>
          </a:stretch>
        </p:blipFill>
        <p:spPr>
          <a:xfrm>
            <a:off x="4742017" y="640080"/>
            <a:ext cx="6798082" cy="5577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Hidden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Carry previous information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</a:rPr>
              <a:t> Build a direct path </a:t>
            </a:r>
          </a:p>
        </p:txBody>
      </p:sp>
    </p:spTree>
    <p:extLst>
      <p:ext uri="{BB962C8B-B14F-4D97-AF65-F5344CB8AC3E}">
        <p14:creationId xmlns:p14="http://schemas.microsoft.com/office/powerpoint/2010/main" xmlns="" val="159294190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2ABB703-2B0E-4C3B-B4A2-F3973548E561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799045A-43FE-4357-97D5-19E8175F14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2199" y="645106"/>
            <a:ext cx="4293612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9C21570E-E159-49A6-9891-FA397B7A92D3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E95DA498-D9A2-4DA9-B9DA-B3776E08CF7E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82A73093-4B9D-420D-B17E-52293703A1D4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Gates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id="{0D06EBE8-7FC3-4456-A872-E8FD795036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/>
                  <a:t> A neural network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240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/>
                  <a:t> Output range [0, 1]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/>
                  <a:t> Pointwise multiplication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/>
                  <a:t> Filtering function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 xmlns:a14="http://schemas.microsoft.com/office/drawing/2010/main" id="{0D06EBE8-7FC3-4456-A872-E8FD79503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3" cstate="print"/>
                <a:stretch>
                  <a:fillRect l="-344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36177803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E4490D0-3672-446A-AC12-B4830333BDDD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39CB82C2-DF65-4EC1-8280-F201D50F570B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cxnSp>
        <p:nvCxnSpPr>
          <p:cNvPr id="14" name="Straight Connector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7E1D4427-852B-4B37-8E76-0E9F1810BA2A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A1B47C8-47A0-4A88-8830-6DEA3B5DE392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4294967295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48AD490-8E93-4821-8633-056B18D9A1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0000"/>
          <a:stretch>
            <a:fillRect/>
          </a:stretch>
        </p:blipFill>
        <p:spPr>
          <a:xfrm>
            <a:off x="658533" y="1671689"/>
            <a:ext cx="6275667" cy="389091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984BBFDD-E720-4805-A9C8-129FBBF6DD7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AC4BE46-4A77-42FE-9D15-065CDB2F847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smtClean="0">
                <a:solidFill>
                  <a:srgbClr val="FFFFFF"/>
                </a:solidFill>
              </a:rPr>
              <a:t>Forget gate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578084"/>
            <a:ext cx="3659246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>
                <a:solidFill>
                  <a:srgbClr val="FFFFFF"/>
                </a:solidFill>
                <a:latin typeface="+mj-lt"/>
              </a:rPr>
              <a:t>What is kept from previous states</a:t>
            </a:r>
          </a:p>
        </p:txBody>
      </p:sp>
    </p:spTree>
    <p:extLst>
      <p:ext uri="{BB962C8B-B14F-4D97-AF65-F5344CB8AC3E}">
        <p14:creationId xmlns:p14="http://schemas.microsoft.com/office/powerpoint/2010/main" xmlns="" val="158036352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E4490D0-3672-446A-AC12-B4830333BDDD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39CB82C2-DF65-4EC1-8280-F201D50F570B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cxnSp>
        <p:nvCxnSpPr>
          <p:cNvPr id="14" name="Straight Connector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7E1D4427-852B-4B37-8E76-0E9F1810BA2A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A1B47C8-47A0-4A88-8830-6DEA3B5DE392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4294967295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E4D7A998-145E-4172-89EE-C7342446A4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0000"/>
          <a:stretch>
            <a:fillRect/>
          </a:stretch>
        </p:blipFill>
        <p:spPr>
          <a:xfrm>
            <a:off x="633999" y="1483544"/>
            <a:ext cx="6275667" cy="389091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984BBFDD-E720-4805-A9C8-129FBBF6DD7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AC4BE46-4A77-42FE-9D15-065CDB2F847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smtClean="0">
                <a:solidFill>
                  <a:srgbClr val="FFFFFF"/>
                </a:solidFill>
              </a:rPr>
              <a:t>Input  </a:t>
            </a:r>
            <a:r>
              <a:rPr lang="en-US" sz="4400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578084"/>
            <a:ext cx="3659246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>
                <a:solidFill>
                  <a:srgbClr val="FFFFFF"/>
                </a:solidFill>
                <a:latin typeface="+mj-lt"/>
              </a:rPr>
              <a:t>What is added to the hidden state</a:t>
            </a:r>
          </a:p>
        </p:txBody>
      </p:sp>
    </p:spTree>
    <p:extLst>
      <p:ext uri="{BB962C8B-B14F-4D97-AF65-F5344CB8AC3E}">
        <p14:creationId xmlns:p14="http://schemas.microsoft.com/office/powerpoint/2010/main" xmlns="" val="107509905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E4490D0-3672-446A-AC12-B4830333BDDD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39CB82C2-DF65-4EC1-8280-F201D50F570B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cxnSp>
        <p:nvCxnSpPr>
          <p:cNvPr id="14" name="Straight Connector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7E1D4427-852B-4B37-8E76-0E9F1810BA2A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A1B47C8-47A0-4A88-8830-6DEA3B5DE392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4294967295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BC1EB6F-03DD-46A5-8D12-784277E120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0000"/>
          <a:stretch>
            <a:fillRect/>
          </a:stretch>
        </p:blipFill>
        <p:spPr>
          <a:xfrm>
            <a:off x="633999" y="1483544"/>
            <a:ext cx="6275667" cy="389091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984BBFDD-E720-4805-A9C8-129FBBF6DD7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AC4BE46-4A77-42FE-9D15-065CDB2F847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Output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D06EBE8-7FC3-4456-A872-E8FD7950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578084"/>
            <a:ext cx="3659246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>
                <a:solidFill>
                  <a:srgbClr val="FFFFFF"/>
                </a:solidFill>
                <a:latin typeface="+mj-lt"/>
              </a:rPr>
              <a:t>What is reported as output</a:t>
            </a:r>
          </a:p>
        </p:txBody>
      </p:sp>
    </p:spTree>
    <p:extLst>
      <p:ext uri="{BB962C8B-B14F-4D97-AF65-F5344CB8AC3E}">
        <p14:creationId xmlns:p14="http://schemas.microsoft.com/office/powerpoint/2010/main" xmlns="" val="419641507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B2B8762-61F0-4F1B-9364-D633EE9D6AF5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E97675C8-1328-460C-9EBF-6B446B67EAD3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14EE78B-AF71-4195-A01B-F1165D9233BF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2AD83CFE-1CA3-4832-A4B9-C48CD1347C03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C98641C-7F74-435D-996F-A4387A3C3C26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04853627-2AAC-43E1-A89A-AC63A10469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1295"/>
          <a:stretch>
            <a:fillRect/>
          </a:stretch>
        </p:blipFill>
        <p:spPr>
          <a:xfrm>
            <a:off x="635457" y="808337"/>
            <a:ext cx="5131653" cy="326622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F530C0F6-C8DF-4539-B30C-8105DB618C20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547E23AE-895A-4DD5-B80A-C73CC2E36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1295"/>
          <a:stretch>
            <a:fillRect/>
          </a:stretch>
        </p:blipFill>
        <p:spPr>
          <a:xfrm>
            <a:off x="6424891" y="812624"/>
            <a:ext cx="5118182" cy="325764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BAE51241-AA8B-4B82-9C59-6738DB85674C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LSTM Variants</a:t>
            </a:r>
          </a:p>
        </p:txBody>
      </p:sp>
    </p:spTree>
    <p:extLst>
      <p:ext uri="{BB962C8B-B14F-4D97-AF65-F5344CB8AC3E}">
        <p14:creationId xmlns:p14="http://schemas.microsoft.com/office/powerpoint/2010/main" xmlns="" val="330229676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F9E80720-23E6-4B89-B77E-04A7689F1BA8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CD1D3CA1-3EB6-41F3-A419-8424B56BE63A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18" name="Rectangle 13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4D87F7B2-AA36-4B58-BC2C-1BBA135E8B6B}"/>
              </a:ext>
              <a:ext uri="{C183D7F6-B498-43B3-948B-1728B52AA6E4}">
                <adec:decorative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Calibri"/>
                <a:ea typeface="Arial" pitchFamily="34" charset="0"/>
                <a:cs typeface="Arial" pitchFamily="34" charset="0"/>
                <a:sym typeface="Wingdings"/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A5B844A6-49F2-4190-8001-04B6B6C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a16="http://schemas.microsoft.com/office/drawing/2014/main" id="{66F26DAA-8D64-45A2-BCA0-135C7CF1FD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061748832"/>
              </p:ext>
            </p:extLst>
          </p:nvPr>
        </p:nvGraphicFramePr>
        <p:xfrm>
          <a:off x="643466" y="643467"/>
          <a:ext cx="10900477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79942287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3.1.7"/>
  <p:tag name="AS_OS" val="Microsoft Windows NT 10.0.14393.0"/>
  <p:tag name="AS_RELEASE_DATE" val="2021.04.14"/>
  <p:tag name="AS_TITLE" val="Aspose.Slides for .NET Standard 2.0"/>
  <p:tag name="AS_VERSION" val="21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Arial" pitchFamily="34" charset="0"/>
        <a:cs typeface="Arial" pitchFamily="34" charset="0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 pitchFamily="34" charset="0"/>
        <a:cs typeface="Arial" pitchFamily="34" charset="0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Arial" pitchFamily="34" charset="0"/>
        <a:cs typeface="Arial" pitchFamily="34" charset="0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 pitchFamily="34" charset="0"/>
        <a:cs typeface="Arial" pitchFamily="34" charset="0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 pitchFamily="34" charset="0"/>
        <a:cs typeface="Arial" pitchFamily="34" charset="0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Arial" pitchFamily="34" charset="0"/>
        <a:cs typeface="Arial" pitchFamily="34" charset="0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1574</Words>
  <Application>Microsoft Office PowerPoint</Application>
  <PresentationFormat>Custom</PresentationFormat>
  <Paragraphs>272</Paragraphs>
  <Slides>43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Office Theme</vt:lpstr>
      <vt:lpstr>Office Theme</vt:lpstr>
      <vt:lpstr>Retrospect</vt:lpstr>
      <vt:lpstr>Slide 1</vt:lpstr>
      <vt:lpstr>Slide 2</vt:lpstr>
      <vt:lpstr>Why     we    use  Activation  functions</vt:lpstr>
      <vt:lpstr>why can’t we do it without activating the input signal</vt:lpstr>
      <vt:lpstr>The Layers of a Neural Network</vt:lpstr>
      <vt:lpstr>Cost Function</vt:lpstr>
      <vt:lpstr>Gradient Descent</vt:lpstr>
      <vt:lpstr>Slide 8</vt:lpstr>
      <vt:lpstr>Backward Propagation</vt:lpstr>
      <vt:lpstr>Slide 10</vt:lpstr>
      <vt:lpstr>Slide 11</vt:lpstr>
      <vt:lpstr>Convolutional Neural Networks (CNNs)</vt:lpstr>
      <vt:lpstr>Convolutional Neural Networks (CNNs)</vt:lpstr>
      <vt:lpstr>Convolutional Neural Networks (CNNs)</vt:lpstr>
      <vt:lpstr>Convolutional Neural Networks (CNNs)</vt:lpstr>
      <vt:lpstr>Convolutional Neural Networks (CNNs)</vt:lpstr>
      <vt:lpstr>Convolutional Neural Networks (CNNs)</vt:lpstr>
      <vt:lpstr>Convolutional Neural Networks (CNNs)</vt:lpstr>
      <vt:lpstr>The whole CNN</vt:lpstr>
      <vt:lpstr>The whole CNN</vt:lpstr>
      <vt:lpstr>Slide 21</vt:lpstr>
      <vt:lpstr>Slide 22</vt:lpstr>
      <vt:lpstr>Slide 23</vt:lpstr>
      <vt:lpstr>Slide 24</vt:lpstr>
      <vt:lpstr>Introduction to RNN and LSTM</vt:lpstr>
      <vt:lpstr>Traditional Neural Network</vt:lpstr>
      <vt:lpstr>Sequence Problems</vt:lpstr>
      <vt:lpstr>Recurrent Neural Network</vt:lpstr>
      <vt:lpstr>Different Configurations</vt:lpstr>
      <vt:lpstr>Problem of RNN</vt:lpstr>
      <vt:lpstr>Gradient Vanishing</vt:lpstr>
      <vt:lpstr>The Values of Derivative</vt:lpstr>
      <vt:lpstr>What’s the results</vt:lpstr>
      <vt:lpstr>Solutions</vt:lpstr>
      <vt:lpstr>Long Short-Term Memory</vt:lpstr>
      <vt:lpstr>LSTM Breakdown</vt:lpstr>
      <vt:lpstr>Hidden States</vt:lpstr>
      <vt:lpstr>Gates</vt:lpstr>
      <vt:lpstr>Forget gate</vt:lpstr>
      <vt:lpstr>Input  Gate</vt:lpstr>
      <vt:lpstr>Output Gates</vt:lpstr>
      <vt:lpstr>LSTM Variants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8</cp:revision>
  <cp:lastPrinted>2021-08-28T06:32:49Z</cp:lastPrinted>
  <dcterms:created xsi:type="dcterms:W3CDTF">2021-08-28T06:32:49Z</dcterms:created>
  <dcterms:modified xsi:type="dcterms:W3CDTF">2025-10-07T03:50:44Z</dcterms:modified>
</cp:coreProperties>
</file>